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9" r:id="rId3"/>
    <p:sldId id="383" r:id="rId4"/>
    <p:sldId id="385" r:id="rId5"/>
    <p:sldId id="386" r:id="rId6"/>
    <p:sldId id="377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pinecone.pptx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inecone.io/docs/amazon-bedrock#create-the-knowledge-base" TargetMode="External"/><Relationship Id="rId13" Type="http://schemas.openxmlformats.org/officeDocument/2006/relationships/hyperlink" Target="https://www.pinecone.io/blog/amazon-bedrock-integratio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pinecone.io/docs/amazon-bedrock#set-up-your-data-source" TargetMode="External"/><Relationship Id="rId12" Type="http://schemas.openxmlformats.org/officeDocument/2006/relationships/hyperlink" Target="https://docs.pinecone.io/docs/amazon-bedrock#testing-the-bedrock-agent" TargetMode="External"/><Relationship Id="rId2" Type="http://schemas.openxmlformats.org/officeDocument/2006/relationships/hyperlink" Target="https://docs.pinecone.io/docs/amazon-bedrock#setting-up-your-knowledge-base-for-amazon-bedrock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pinecone.io/docs/amazon-bedrock#setting-up-secrets" TargetMode="External"/><Relationship Id="rId11" Type="http://schemas.openxmlformats.org/officeDocument/2006/relationships/hyperlink" Target="https://docs.pinecone.io/docs/amazon-bedrock#creating-an-alias-for-your-agent" TargetMode="External"/><Relationship Id="rId5" Type="http://schemas.openxmlformats.org/officeDocument/2006/relationships/hyperlink" Target="https://docs.pinecone.io/docs/amazon-bedrock#creating-a-pinecone-index" TargetMode="External"/><Relationship Id="rId15" Type="http://schemas.openxmlformats.org/officeDocument/2006/relationships/hyperlink" Target="pinecone/bedrock.pptx" TargetMode="External"/><Relationship Id="rId10" Type="http://schemas.openxmlformats.org/officeDocument/2006/relationships/hyperlink" Target="https://docs.pinecone.io/docs/amazon-bedrock#setting-up-an-agent" TargetMode="External"/><Relationship Id="rId4" Type="http://schemas.openxmlformats.org/officeDocument/2006/relationships/slide" Target="slide2.xml"/><Relationship Id="rId9" Type="http://schemas.openxmlformats.org/officeDocument/2006/relationships/hyperlink" Target="https://docs.pinecone.io/docs/amazon-bedrock#connect-pinecone-to-the-knowledge-base" TargetMode="External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inecone.io/" TargetMode="External"/><Relationship Id="rId7" Type="http://schemas.openxmlformats.org/officeDocument/2006/relationships/hyperlink" Target="architecture.pptx" TargetMode="External"/><Relationship Id="rId2" Type="http://schemas.openxmlformats.org/officeDocument/2006/relationships/hyperlink" Target="https://docs.pinecone.io/docs/quickstart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hyperlink" Target="https://docs.pinecone.io/docs/amazon-bedrock#creating-a-pinecone-inde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4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9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svg"/><Relationship Id="rId14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3407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bedrock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C211FC9-03A2-CFD8-377E-3564E2F88877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67A19B12-ADF2-92CB-5AFA-1F5B4F74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9876C4DB-C154-F5B2-EF1C-930A67EDC15A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5730E5A-85CB-0F9C-2406-8FF220D8F692}"/>
              </a:ext>
            </a:extLst>
          </p:cNvPr>
          <p:cNvGrpSpPr/>
          <p:nvPr/>
        </p:nvGrpSpPr>
        <p:grpSpPr>
          <a:xfrm>
            <a:off x="10525308" y="421276"/>
            <a:ext cx="1257522" cy="283293"/>
            <a:chOff x="5611636" y="5954426"/>
            <a:chExt cx="1257523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460A6977-4D59-0753-F7FC-F890A5FCE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2EB5385A-C5D6-A5C9-A1CB-E87269BAEC50}"/>
                </a:ext>
              </a:extLst>
            </p:cNvPr>
            <p:cNvSpPr/>
            <p:nvPr/>
          </p:nvSpPr>
          <p:spPr>
            <a:xfrm>
              <a:off x="6107411" y="5954426"/>
              <a:ext cx="76174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pinecone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5EA00-6FF0-5EC2-493B-D6B353ED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2038DAA-5A8A-1FE4-FE27-39A3EB460F75}"/>
              </a:ext>
            </a:extLst>
          </p:cNvPr>
          <p:cNvSpPr/>
          <p:nvPr/>
        </p:nvSpPr>
        <p:spPr>
          <a:xfrm>
            <a:off x="1510382" y="834601"/>
            <a:ext cx="251307" cy="689214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A46D04-7134-2214-237A-655C6F0750C6}"/>
              </a:ext>
            </a:extLst>
          </p:cNvPr>
          <p:cNvSpPr/>
          <p:nvPr/>
        </p:nvSpPr>
        <p:spPr>
          <a:xfrm>
            <a:off x="986058" y="2205342"/>
            <a:ext cx="251307" cy="3081938"/>
          </a:xfrm>
          <a:prstGeom prst="roundRect">
            <a:avLst/>
          </a:prstGeom>
          <a:solidFill>
            <a:sysClr val="windowText" lastClr="000000"/>
          </a:solidFill>
          <a:ln w="25400" cap="flat" cmpd="sng" algn="ctr">
            <a:solidFill>
              <a:srgbClr val="70AD47">
                <a:lumMod val="75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C106F1-5ABA-B1D6-F948-E723F3E5D3BF}"/>
              </a:ext>
            </a:extLst>
          </p:cNvPr>
          <p:cNvSpPr/>
          <p:nvPr/>
        </p:nvSpPr>
        <p:spPr>
          <a:xfrm>
            <a:off x="104588" y="82826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5B839-C262-85B7-723A-5D5D3F17D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453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sources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92B239-00B0-9DA2-38C7-FEA02232763D}"/>
              </a:ext>
            </a:extLst>
          </p:cNvPr>
          <p:cNvGrpSpPr/>
          <p:nvPr/>
        </p:nvGrpSpPr>
        <p:grpSpPr>
          <a:xfrm>
            <a:off x="1713338" y="813355"/>
            <a:ext cx="3740783" cy="289586"/>
            <a:chOff x="5881666" y="1590687"/>
            <a:chExt cx="3740783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620974D5-B22A-E605-ED30-9A6497A7DD3C}"/>
                </a:ext>
              </a:extLst>
            </p:cNvPr>
            <p:cNvSpPr/>
            <p:nvPr/>
          </p:nvSpPr>
          <p:spPr>
            <a:xfrm>
              <a:off x="6081095" y="1603274"/>
              <a:ext cx="3541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2"/>
                </a:rPr>
                <a:t>setting-up-your-knowledge-base-for-amazon-bedrock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D1615E89-A85A-0382-B7ED-8763E0A3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0" name="Arrow: Right 5">
            <a:extLst>
              <a:ext uri="{FF2B5EF4-FFF2-40B4-BE49-F238E27FC236}">
                <a16:creationId xmlns:a16="http://schemas.microsoft.com/office/drawing/2014/main" id="{FC7A5E0F-59E5-847E-7E61-958E5F2998CF}"/>
              </a:ext>
            </a:extLst>
          </p:cNvPr>
          <p:cNvSpPr/>
          <p:nvPr/>
        </p:nvSpPr>
        <p:spPr>
          <a:xfrm>
            <a:off x="276293" y="857442"/>
            <a:ext cx="136909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aws tutorial</a:t>
            </a: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579D4C7-1F39-482B-652A-D599AFB4F785}"/>
              </a:ext>
            </a:extLst>
          </p:cNvPr>
          <p:cNvSpPr/>
          <p:nvPr/>
        </p:nvSpPr>
        <p:spPr>
          <a:xfrm>
            <a:off x="2725736" y="1579476"/>
            <a:ext cx="1321443" cy="257369"/>
          </a:xfrm>
          <a:prstGeom prst="wedgeRectCallout">
            <a:avLst>
              <a:gd name="adj1" fmla="val -28291"/>
              <a:gd name="adj2" fmla="val -9391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does not use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4" action="ppaction://hlinksldjump"/>
              </a:rPr>
              <a:t>IaC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CE06D3C7-2422-F6B0-BAE8-8492058FA3C2}"/>
              </a:ext>
            </a:extLst>
          </p:cNvPr>
          <p:cNvSpPr/>
          <p:nvPr/>
        </p:nvSpPr>
        <p:spPr>
          <a:xfrm>
            <a:off x="1149426" y="2311509"/>
            <a:ext cx="1888906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5"/>
              </a:rPr>
              <a:t>creating a pinecone index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" name="Arrow: Right 5">
            <a:extLst>
              <a:ext uri="{FF2B5EF4-FFF2-40B4-BE49-F238E27FC236}">
                <a16:creationId xmlns:a16="http://schemas.microsoft.com/office/drawing/2014/main" id="{DE4D1B5D-4E00-6C4D-05CE-1E7B34B98224}"/>
              </a:ext>
            </a:extLst>
          </p:cNvPr>
          <p:cNvSpPr/>
          <p:nvPr/>
        </p:nvSpPr>
        <p:spPr>
          <a:xfrm>
            <a:off x="256927" y="2268703"/>
            <a:ext cx="76155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steps</a:t>
            </a: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8A4845F9-30A0-9426-DF7F-1689C1724345}"/>
              </a:ext>
            </a:extLst>
          </p:cNvPr>
          <p:cNvSpPr/>
          <p:nvPr/>
        </p:nvSpPr>
        <p:spPr>
          <a:xfrm>
            <a:off x="1149426" y="2675045"/>
            <a:ext cx="1419226" cy="25736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6"/>
              </a:rPr>
              <a:t>setting-up-secrets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A4BFE56F-1F0C-355C-390F-3D8578408188}"/>
              </a:ext>
            </a:extLst>
          </p:cNvPr>
          <p:cNvSpPr/>
          <p:nvPr/>
        </p:nvSpPr>
        <p:spPr>
          <a:xfrm>
            <a:off x="1124272" y="3630046"/>
            <a:ext cx="2902004" cy="1180699"/>
          </a:xfrm>
          <a:prstGeom prst="wedgeRectCallout">
            <a:avLst>
              <a:gd name="adj1" fmla="val -27766"/>
              <a:gd name="adj2" fmla="val -25977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7"/>
              </a:rPr>
              <a:t>set up your data source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8"/>
              </a:rPr>
              <a:t>create-the-knowledge-base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9"/>
              </a:rPr>
              <a:t>connect-pinecone-to-the-knowledge-base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0"/>
              </a:rPr>
              <a:t>setting-up-an-agent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1"/>
              </a:rPr>
              <a:t>creating-an-alias-for-your-agent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  <a:p>
            <a:pPr marL="228600" marR="0" lvl="0" indent="-22860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hlinkClick r:id="rId12"/>
              </a:rPr>
              <a:t>testing-the-bedrock-agent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3CAC7B-BCEC-3933-70C1-F2A48B63835F}"/>
              </a:ext>
            </a:extLst>
          </p:cNvPr>
          <p:cNvGrpSpPr/>
          <p:nvPr/>
        </p:nvGrpSpPr>
        <p:grpSpPr>
          <a:xfrm>
            <a:off x="1713338" y="1099141"/>
            <a:ext cx="2557767" cy="289586"/>
            <a:chOff x="5881666" y="1590687"/>
            <a:chExt cx="2557767" cy="289586"/>
          </a:xfrm>
        </p:grpSpPr>
        <p:sp>
          <p:nvSpPr>
            <p:cNvPr id="7" name="Retângulo 5">
              <a:extLst>
                <a:ext uri="{FF2B5EF4-FFF2-40B4-BE49-F238E27FC236}">
                  <a16:creationId xmlns:a16="http://schemas.microsoft.com/office/drawing/2014/main" id="{DDC39B26-8BC2-970E-E537-D470EE8B2B2E}"/>
                </a:ext>
              </a:extLst>
            </p:cNvPr>
            <p:cNvSpPr/>
            <p:nvPr/>
          </p:nvSpPr>
          <p:spPr>
            <a:xfrm>
              <a:off x="6081095" y="1603274"/>
              <a:ext cx="235833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13"/>
                </a:rPr>
                <a:t>blog/amazon-bedrock-integration/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826407C-5BF2-9E6F-72EF-7E6C7319E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AC8C6F0-92E6-AD04-5AA6-FA11D6B55A9F}"/>
              </a:ext>
            </a:extLst>
          </p:cNvPr>
          <p:cNvGrpSpPr/>
          <p:nvPr/>
        </p:nvGrpSpPr>
        <p:grpSpPr>
          <a:xfrm>
            <a:off x="208434" y="217677"/>
            <a:ext cx="1188592" cy="283293"/>
            <a:chOff x="5611636" y="5954426"/>
            <a:chExt cx="1188593" cy="283293"/>
          </a:xfrm>
        </p:grpSpPr>
        <p:pic>
          <p:nvPicPr>
            <p:cNvPr id="37" name="Picture 36" descr="Icon&#10;&#10;Description automatically generated">
              <a:extLst>
                <a:ext uri="{FF2B5EF4-FFF2-40B4-BE49-F238E27FC236}">
                  <a16:creationId xmlns:a16="http://schemas.microsoft.com/office/drawing/2014/main" id="{ABC62B9E-EE99-A4B2-3C0D-BFB143270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8" name="Retângulo 5">
              <a:extLst>
                <a:ext uri="{FF2B5EF4-FFF2-40B4-BE49-F238E27FC236}">
                  <a16:creationId xmlns:a16="http://schemas.microsoft.com/office/drawing/2014/main" id="{E5880071-920D-E1E0-4DCC-E48E39BFC405}"/>
                </a:ext>
              </a:extLst>
            </p:cNvPr>
            <p:cNvSpPr/>
            <p:nvPr/>
          </p:nvSpPr>
          <p:spPr>
            <a:xfrm>
              <a:off x="6107411" y="5954426"/>
              <a:ext cx="69281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15" action="ppaction://hlinkpres?slideindex=1&amp;slidetitle="/>
                </a:rPr>
                <a:t>bedrock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4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D9E33-E930-B90E-2F4C-4B0BAAE1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FA9F-8EE4-FF85-9D43-0874F905C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8886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pinecone - register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63332-61C4-0B2C-E331-E9CB1E7A0FB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1324C09-595F-D566-3D8D-ADEE087BA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721" y="401714"/>
            <a:ext cx="6067687" cy="738664"/>
          </a:xfrm>
          <a:prstGeom prst="rect">
            <a:avLst/>
          </a:prstGeom>
          <a:solidFill>
            <a:schemeClr val="tx1"/>
          </a:solidFill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PT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  Creating a Pinecone index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pt-PT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The knowledge base we’ll build is going to rely on a Pinecone index.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pt-PT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After signing up to Pinecone, follow the </a:t>
            </a:r>
            <a:r>
              <a:rPr kumimoji="0" lang="en-US" altLang="pt-PT" sz="12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 start guide</a:t>
            </a:r>
            <a:r>
              <a:rPr kumimoji="0" lang="en-US" altLang="pt-PT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to create your Pinecone index,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pt-PT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and retrieve your index’s endpoint and Api Key from the </a:t>
            </a:r>
            <a:r>
              <a:rPr kumimoji="0" lang="en-US" altLang="pt-PT" sz="12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Pinecone console</a:t>
            </a:r>
            <a:r>
              <a:rPr kumimoji="0" lang="en-US" altLang="pt-PT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19" name="Arrow: Right 5">
            <a:extLst>
              <a:ext uri="{FF2B5EF4-FFF2-40B4-BE49-F238E27FC236}">
                <a16:creationId xmlns:a16="http://schemas.microsoft.com/office/drawing/2014/main" id="{61BFBEBF-206D-610F-F62D-BA4BA53A22FC}"/>
              </a:ext>
            </a:extLst>
          </p:cNvPr>
          <p:cNvSpPr/>
          <p:nvPr/>
        </p:nvSpPr>
        <p:spPr>
          <a:xfrm>
            <a:off x="202541" y="397769"/>
            <a:ext cx="655755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1CCD80-323C-BB8B-D79F-D58F549F8DA4}"/>
              </a:ext>
            </a:extLst>
          </p:cNvPr>
          <p:cNvGrpSpPr/>
          <p:nvPr/>
        </p:nvGrpSpPr>
        <p:grpSpPr>
          <a:xfrm>
            <a:off x="5945613" y="1233475"/>
            <a:ext cx="892247" cy="289586"/>
            <a:chOff x="5881666" y="1590687"/>
            <a:chExt cx="892247" cy="289586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E80B861E-8327-1A65-AA67-E39AB1C269F8}"/>
                </a:ext>
              </a:extLst>
            </p:cNvPr>
            <p:cNvSpPr/>
            <p:nvPr/>
          </p:nvSpPr>
          <p:spPr>
            <a:xfrm>
              <a:off x="6081095" y="1603274"/>
              <a:ext cx="69281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/>
                </a:rPr>
                <a:t>bedrock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62949798-C8BD-0D5B-B82E-4E8828232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5" name="Arrow: Right 5">
            <a:extLst>
              <a:ext uri="{FF2B5EF4-FFF2-40B4-BE49-F238E27FC236}">
                <a16:creationId xmlns:a16="http://schemas.microsoft.com/office/drawing/2014/main" id="{494068BD-D177-3920-25AF-13CC75CE40E5}"/>
              </a:ext>
            </a:extLst>
          </p:cNvPr>
          <p:cNvSpPr/>
          <p:nvPr/>
        </p:nvSpPr>
        <p:spPr>
          <a:xfrm>
            <a:off x="202541" y="2135129"/>
            <a:ext cx="67499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how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DECF51-EB71-F1BC-AAEE-1F39ED89D2D8}"/>
              </a:ext>
            </a:extLst>
          </p:cNvPr>
          <p:cNvGrpSpPr/>
          <p:nvPr/>
        </p:nvGrpSpPr>
        <p:grpSpPr>
          <a:xfrm>
            <a:off x="854721" y="2128835"/>
            <a:ext cx="1452384" cy="283293"/>
            <a:chOff x="5611636" y="5954426"/>
            <a:chExt cx="1452385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E1A968B8-2740-2EF7-D577-FFA301DEF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BC481BAC-4B47-236C-ED92-BC930EA202E5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7" action="ppaction://hlinkpres?slideindex=1&amp;slidetitle="/>
                </a:rPr>
                <a:t>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3013890D-62A9-ACAC-5649-59EE82F0D985}"/>
              </a:ext>
            </a:extLst>
          </p:cNvPr>
          <p:cNvSpPr txBox="1">
            <a:spLocks/>
          </p:cNvSpPr>
          <p:nvPr/>
        </p:nvSpPr>
        <p:spPr>
          <a:xfrm>
            <a:off x="2284459" y="2151639"/>
            <a:ext cx="776175" cy="2585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pt-PT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defRPr>
            </a:lvl1pPr>
          </a:lstStyle>
          <a:p>
            <a:r>
              <a:rPr lang="en-US" sz="1200">
                <a:sym typeface="Wingdings" panose="05000000000000000000" pitchFamily="2" charset="2"/>
              </a:rPr>
              <a:t>2. </a:t>
            </a:r>
            <a:r>
              <a:rPr lang="en-US" sz="1200"/>
              <a:t>sign up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694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B100D-BF3E-5D3F-D6F7-296315B6D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C9E4-620C-5878-F619-A117808F2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1224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secret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447242-F5A2-6A6D-B03B-0357A143C0A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6161BC45-27FB-622F-5ED3-B9BBC9CF9C1B}"/>
              </a:ext>
            </a:extLst>
          </p:cNvPr>
          <p:cNvSpPr/>
          <p:nvPr/>
        </p:nvSpPr>
        <p:spPr>
          <a:xfrm>
            <a:off x="920974" y="4430567"/>
            <a:ext cx="6185210" cy="257369"/>
          </a:xfrm>
          <a:prstGeom prst="wedgeRectCallout">
            <a:avLst>
              <a:gd name="adj1" fmla="val 16718"/>
              <a:gd name="adj2" fmla="val 3519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dirty="0">
                <a:solidFill>
                  <a:prstClr val="white"/>
                </a:solidFill>
                <a:latin typeface="Calibri Light" panose="020F0302020204030204"/>
              </a:rPr>
              <a:t>arn:aws:secretsmanager:us-east-1:211125414460:secret:1010836-secret-pinecone-demo-Gm50tG</a:t>
            </a: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0E75036E-B465-E614-0A59-4E3CD88C975F}"/>
              </a:ext>
            </a:extLst>
          </p:cNvPr>
          <p:cNvSpPr/>
          <p:nvPr/>
        </p:nvSpPr>
        <p:spPr>
          <a:xfrm>
            <a:off x="311919" y="26565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08DC508D-4650-66A6-13D7-5A66255C9B63}"/>
              </a:ext>
            </a:extLst>
          </p:cNvPr>
          <p:cNvSpPr/>
          <p:nvPr/>
        </p:nvSpPr>
        <p:spPr>
          <a:xfrm>
            <a:off x="267837" y="4410937"/>
            <a:ext cx="582017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arn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1F749EB-4A00-0707-2311-FB75F74A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55" y="265657"/>
            <a:ext cx="2710285" cy="389023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379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69910</TotalTime>
  <Words>166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bedrock</vt:lpstr>
      <vt:lpstr>1.1 sources</vt:lpstr>
      <vt:lpstr>2. pinecone - register</vt:lpstr>
      <vt:lpstr>2. secret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1140</cp:revision>
  <dcterms:created xsi:type="dcterms:W3CDTF">2019-03-25T09:18:39Z</dcterms:created>
  <dcterms:modified xsi:type="dcterms:W3CDTF">2024-03-11T02:39:28Z</dcterms:modified>
</cp:coreProperties>
</file>