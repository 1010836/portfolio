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385" r:id="rId3"/>
    <p:sldId id="387" r:id="rId4"/>
    <p:sldId id="391" r:id="rId5"/>
    <p:sldId id="393" r:id="rId6"/>
    <p:sldId id="394" r:id="rId7"/>
    <p:sldId id="395" r:id="rId8"/>
    <p:sldId id="396" r:id="rId9"/>
    <p:sldId id="377" r:id="rId10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outlineView">
  <p:normalViewPr showOutlineIcons="0" horzBarState="maximized">
    <p:restoredLeft sz="34580" autoAdjust="0"/>
    <p:restoredTop sz="86410" autoAdjust="0"/>
  </p:normalViewPr>
  <p:slideViewPr>
    <p:cSldViewPr snapToGrid="0">
      <p:cViewPr varScale="1">
        <p:scale>
          <a:sx n="125" d="100"/>
          <a:sy n="125" d="100"/>
        </p:scale>
        <p:origin x="96" y="8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261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3D7D23-95FE-4191-B08D-3CBB1E1CEEFE}" type="datetimeFigureOut">
              <a:rPr lang="pt-PT" smtClean="0"/>
              <a:t>18/03/2024</a:t>
            </a:fld>
            <a:endParaRPr lang="pt-PT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0636E-53A0-461E-B4DA-47B90EBA88BA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635777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D97C-8255-4BAC-9D42-1F6A6651E287}" type="datetime1">
              <a:rPr lang="pt-PT" smtClean="0"/>
              <a:t>18/03/2024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81197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36660-F7C2-4C37-BD61-E2E985519A54}" type="datetime1">
              <a:rPr lang="pt-PT" smtClean="0"/>
              <a:t>18/03/2024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15900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C553A-1723-4842-A3DB-E76BD21F5C6D}" type="datetime1">
              <a:rPr lang="pt-PT" smtClean="0"/>
              <a:t>18/03/2024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875602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B351E-3840-4886-B007-BC84D7C14686}" type="datetime1">
              <a:rPr lang="pt-PT" smtClean="0"/>
              <a:t>18/03/2024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238646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86839-F4ED-436E-9AC9-AC7A0A0CD179}" type="datetime1">
              <a:rPr lang="pt-PT" smtClean="0"/>
              <a:t>18/03/2024</a:t>
            </a:fld>
            <a:endParaRPr lang="pt-PT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63095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82247-1A7C-4F98-8F33-5E4D07EFBF12}" type="datetime1">
              <a:rPr lang="pt-PT" smtClean="0"/>
              <a:t>18/03/2024</a:t>
            </a:fld>
            <a:endParaRPr lang="pt-PT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180028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320DE-3391-4A27-9653-F2BD505B9A08}" type="datetime1">
              <a:rPr lang="pt-PT" smtClean="0"/>
              <a:t>18/03/2024</a:t>
            </a:fld>
            <a:endParaRPr lang="pt-PT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579088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250C8-88B2-4209-BD56-05813AC521DC}" type="datetime1">
              <a:rPr lang="pt-PT" smtClean="0"/>
              <a:t>18/03/2024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12869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47055-2F12-42A4-9432-334276564B1D}" type="datetime1">
              <a:rPr lang="pt-PT" smtClean="0"/>
              <a:t>18/03/2024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011216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8996-E467-4FE1-B165-4002860D0AC7}" type="datetime1">
              <a:rPr lang="pt-PT" smtClean="0"/>
              <a:t>18/03/2024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445231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4532E-E792-4BF5-B399-9E5E16070233}" type="datetime1">
              <a:rPr lang="pt-PT" smtClean="0"/>
              <a:t>18/03/2024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107981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4D900-928E-403C-BF53-CAAB2E2C4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18B940-75D1-4C46-9CFE-6474763922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A2CD6-5FB1-46E7-BBF2-06C11EFE0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18/03/2024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AF7F0-99C0-4949-9F3A-098A33A79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BC4E3-3A90-4903-AA2B-BEE787AB0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66262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A0CBE-4D75-4070-9727-D6568849B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48656-59AB-4DDA-BA5E-906CE3CE4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0D26C-F7F1-4295-850E-F65B6A182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18/03/2024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31830-C80B-4D82-9540-948794ACE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3081E-0503-4818-8F70-5B7EF7115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283780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C5B21-4830-48A5-862B-ABDF25C5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46B740-92E9-4F69-A3BC-3370B88AD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D8454-4F6E-410A-9B06-56F8E8B98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18/03/2024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50F26-960E-41B7-A0CF-5FD4D9392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60EE7-FD8B-4114-B0D7-C530EA445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762260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1C6DB-0704-453E-AA7A-EDB8E503E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81CFE-81A7-43F6-9DE8-5001C3319A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B6F9B9-C2D3-4E58-BF2D-86CBBBCF7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2E05F8-F9B8-4595-9172-117938DFF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18/03/2024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8670A2-41C2-4D8A-B93D-8F4D34BB2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016F9-4DB7-42E2-8D0A-65B7CD30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947758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96546-7AA6-4539-810A-0AC166A58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A938C-8040-48C6-8939-B3F0A9E7D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C760B8-4D37-4E87-8073-042AF52A4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D81F80-B628-4BD3-B94F-CCC211B693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9E79D3-9A2B-4BCE-AF53-894A2D5B8A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FA42F1-1652-4482-A407-F5D97A884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18/03/2024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43F25A-7E30-4A66-9495-AA5714A2C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CE7AC5-D765-47F7-89A4-DA8F32904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504636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B22E3-31A6-4D0E-AA4C-B0AA18235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2934A3-5AE1-40D8-8067-9E1D252E9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18/03/2024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FEFDC3-F146-471F-82E0-FB6C2D901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E55F47-05F6-49F9-BE0C-B927C558E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198014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DA7C86-FE30-4F3E-A72C-139359D01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18/03/2024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2663B0-D551-4DBD-BFF2-A571F75E9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62710-B633-46B8-B335-87D5DE318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031262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46708-3CEB-435E-8498-6562E3777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97C09-A03A-43E5-9A11-7273458D3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52C248-11E6-4154-A326-1B8F7D2EE6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FDC9D5-C4A3-4FDE-9E36-375F2B348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18/03/2024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92A057-54CB-4E24-80E7-736BFC2E1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39B1B1-0646-4C4C-92B7-B3E145870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222383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9F7D4-D633-427F-9E9A-6B5549734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D3F0D6-3084-4516-AED5-37221D1D77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047CDB-4B6C-48AA-A9BA-59A1994D8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B84827-B00B-446A-B5F1-D65E98FDD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18/03/2024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721318-5825-42BF-9ACA-060A59DCB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A1AE2-4E68-4683-B3D6-D2D421FF7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704687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18B47-6B5B-4C41-A6E1-3490CE204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8EDB63-0281-4D84-A4C5-17B0CFFB29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29AA0-B865-40C8-A653-6197F492B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18/03/2024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8ED7A-C5C7-4968-BFBA-53DA7EDE0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9E3A9-78F3-4296-A92C-D732DADD0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250174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5582FE-E45E-4458-AC02-44F4A62E36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92EF0A-6E63-4D2C-B998-E3CF727CC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DC659-7D8F-4CAA-ACB0-ED17AC7A0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18/03/2024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14C8E-083A-481C-A107-4A809F2AB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10F76-989E-49D9-B4AD-276E51C7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23644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883CD8-EC5B-4369-8F97-BE1E84F10887}" type="datetime1">
              <a:rPr lang="pt-PT" smtClean="0"/>
              <a:t>18/03/2024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133174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2791A7-C9A5-46D8-9C81-1E4A5947E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E0097-E8D6-43DE-AF41-81E590C1A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8699B-64E4-49C2-80D7-484D6DAA32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4AF87E-A15D-4480-B791-15D75F8AF848}" type="datetimeFigureOut">
              <a:rPr lang="pt-PT" smtClean="0"/>
              <a:t>18/03/2024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15122-A6FE-41E7-BB00-91A147638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013BE-7A46-476B-B9E5-FD0F38D9F2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39573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../architecture.pptx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hyperlink" Target="../../aws/cli.pptx#-1,1,1. cli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inecone-io/aws-reference-architecture-pulumi?tab=readme-ov-file#prerequisites:~:text=your%20GitHub%20account.-,Configure%20Pulumi,-Set%20AWS%20Profile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slide" Target="slide8.xml"/><Relationship Id="rId5" Type="http://schemas.openxmlformats.org/officeDocument/2006/relationships/hyperlink" Target="https://youtu.be/ySznARngHts?si=Vh78MZfxeF1EU57F&amp;t=494" TargetMode="Externa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inecone-io/aws-reference-architecture-pulumi?tab=readme-ov-file#prerequisites:~:text=Set%20Configuration%20Variables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youtu.be/ySznARngHts?si=Vh78MZfxeF1EU57F&amp;t=494" TargetMode="Externa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inecone-io/aws-reference-architecture-pulumi?tab=readme-ov-file#prerequisites:~:text=Set%20Configuration%20Variables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youtu.be/ySznARngHts?si=Vh78MZfxeF1EU57F&amp;t=494" TargetMode="Externa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inecone-io/aws-reference-architecture-pulumi?tab=readme-ov-file#prerequisites:~:text=pulumi%20config%20set%20%2D%2Dsecret%20PINECONE_API_KEY%20%22%24PINECONE_API_KEY%22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youtu.be/ySznARngHts?si=Vh78MZfxeF1EU57F&amp;t=494" TargetMode="Externa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inecone-io/aws-reference-architecture-pulumi?tab=readme-ov-file#prerequisites:~:text=pulumi%20config%20set%20PINECONE_INDEX%20%22%24PINECONE_INDEX%22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youtu.be/ySznARngHts?si=Vh78MZfxeF1EU57F&amp;t=494" TargetMode="Externa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4.png"/><Relationship Id="rId3" Type="http://schemas.openxmlformats.org/officeDocument/2006/relationships/hyperlink" Target="https://entityframework-plus.net/" TargetMode="External"/><Relationship Id="rId7" Type="http://schemas.openxmlformats.org/officeDocument/2006/relationships/hyperlink" Target="A1_reference/functionalities.pptx" TargetMode="External"/><Relationship Id="rId12" Type="http://schemas.openxmlformats.org/officeDocument/2006/relationships/image" Target="../media/image13.png"/><Relationship Id="rId2" Type="http://schemas.openxmlformats.org/officeDocument/2006/relationships/image" Target="../media/image9.png"/><Relationship Id="rId16" Type="http://schemas.openxmlformats.org/officeDocument/2006/relationships/hyperlink" Target="../_actions/zig_help.ba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A2_introduction.pptx" TargetMode="External"/><Relationship Id="rId11" Type="http://schemas.openxmlformats.org/officeDocument/2006/relationships/hyperlink" Target="file:///D:\A1_research\C2_c0dice\B1_jmeter\A1_install" TargetMode="External"/><Relationship Id="rId5" Type="http://schemas.openxmlformats.org/officeDocument/2006/relationships/image" Target="../media/image1.png"/><Relationship Id="rId15" Type="http://schemas.openxmlformats.org/officeDocument/2006/relationships/image" Target="../media/image15.png"/><Relationship Id="rId10" Type="http://schemas.openxmlformats.org/officeDocument/2006/relationships/hyperlink" Target="file:///C:\Windows\explorer.exe%20F:\ides\AZ_vStudio2017" TargetMode="External"/><Relationship Id="rId4" Type="http://schemas.openxmlformats.org/officeDocument/2006/relationships/image" Target="../media/image10.png"/><Relationship Id="rId9" Type="http://schemas.openxmlformats.org/officeDocument/2006/relationships/image" Target="../media/image12.svg"/><Relationship Id="rId14" Type="http://schemas.openxmlformats.org/officeDocument/2006/relationships/slide" Target="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31F26E-7E93-3654-C6B1-5BB3FA7DB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7FA92-372E-2F21-0D33-E0E961014C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680827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1. setup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CF04520-5B68-B3C1-5657-AF43A7525FD3}"/>
              </a:ext>
            </a:extLst>
          </p:cNvPr>
          <p:cNvGrpSpPr/>
          <p:nvPr/>
        </p:nvGrpSpPr>
        <p:grpSpPr>
          <a:xfrm>
            <a:off x="10668103" y="111750"/>
            <a:ext cx="1452384" cy="283293"/>
            <a:chOff x="5611636" y="5954426"/>
            <a:chExt cx="1452385" cy="283293"/>
          </a:xfrm>
        </p:grpSpPr>
        <p:pic>
          <p:nvPicPr>
            <p:cNvPr id="9" name="Picture 8" descr="Icon&#10;&#10;Description automatically generated">
              <a:extLst>
                <a:ext uri="{FF2B5EF4-FFF2-40B4-BE49-F238E27FC236}">
                  <a16:creationId xmlns:a16="http://schemas.microsoft.com/office/drawing/2014/main" id="{2E434F60-1650-EE9B-EC6B-2E88619A2E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10" name="Retângulo 5">
              <a:extLst>
                <a:ext uri="{FF2B5EF4-FFF2-40B4-BE49-F238E27FC236}">
                  <a16:creationId xmlns:a16="http://schemas.microsoft.com/office/drawing/2014/main" id="{1ED5C14A-E6A2-2428-FE13-B10E062B76F0}"/>
                </a:ext>
              </a:extLst>
            </p:cNvPr>
            <p:cNvSpPr/>
            <p:nvPr/>
          </p:nvSpPr>
          <p:spPr>
            <a:xfrm>
              <a:off x="6107411" y="5954426"/>
              <a:ext cx="95661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 action="ppaction://hlinkpres?slideindex=1&amp;slidetitle="/>
                </a:rPr>
                <a:t>architecture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878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D2F5BE-FE5F-4D26-5952-5EE3BB17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D1DFF-26FE-AE14-E427-235ED4839A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818814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2. aws cli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B30F84-B6E7-0042-B67E-61D10E921185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6CC074-25B9-60FD-DE71-27D617835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540" y="278452"/>
            <a:ext cx="6361880" cy="870908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CF2B0C32-F20E-4C41-7389-7BBC7F2C42CE}"/>
              </a:ext>
            </a:extLst>
          </p:cNvPr>
          <p:cNvSpPr/>
          <p:nvPr/>
        </p:nvSpPr>
        <p:spPr>
          <a:xfrm>
            <a:off x="207429" y="323931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387A9D8-AE50-A008-7596-283DA6D8AC22}"/>
              </a:ext>
            </a:extLst>
          </p:cNvPr>
          <p:cNvGrpSpPr/>
          <p:nvPr/>
        </p:nvGrpSpPr>
        <p:grpSpPr>
          <a:xfrm>
            <a:off x="163988" y="1515087"/>
            <a:ext cx="816696" cy="283293"/>
            <a:chOff x="5611636" y="5954426"/>
            <a:chExt cx="816697" cy="283293"/>
          </a:xfrm>
        </p:grpSpPr>
        <p:pic>
          <p:nvPicPr>
            <p:cNvPr id="12" name="Picture 11" descr="Icon&#10;&#10;Description automatically generated">
              <a:extLst>
                <a:ext uri="{FF2B5EF4-FFF2-40B4-BE49-F238E27FC236}">
                  <a16:creationId xmlns:a16="http://schemas.microsoft.com/office/drawing/2014/main" id="{7837ECBD-FB8D-1211-F2B8-0311F818C6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13" name="Retângulo 5">
              <a:extLst>
                <a:ext uri="{FF2B5EF4-FFF2-40B4-BE49-F238E27FC236}">
                  <a16:creationId xmlns:a16="http://schemas.microsoft.com/office/drawing/2014/main" id="{CD159F7E-D13B-CF9E-740E-40D568F5A643}"/>
                </a:ext>
              </a:extLst>
            </p:cNvPr>
            <p:cNvSpPr/>
            <p:nvPr/>
          </p:nvSpPr>
          <p:spPr>
            <a:xfrm>
              <a:off x="6107411" y="5954426"/>
              <a:ext cx="32092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4" action="ppaction://hlinkpres?slideindex=1&amp;slidetitle=1. cli"/>
                </a:rPr>
                <a:t>cli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429E2AF7-B822-3C8D-376F-983BB36FC952}"/>
              </a:ext>
            </a:extLst>
          </p:cNvPr>
          <p:cNvSpPr txBox="1">
            <a:spLocks/>
          </p:cNvSpPr>
          <p:nvPr/>
        </p:nvSpPr>
        <p:spPr>
          <a:xfrm>
            <a:off x="1051687" y="1536907"/>
            <a:ext cx="1011302" cy="258532"/>
          </a:xfrm>
          <a:prstGeom prst="rect">
            <a:avLst/>
          </a:prstGeom>
          <a:gradFill>
            <a:gsLst>
              <a:gs pos="0">
                <a:srgbClr val="4472C4">
                  <a:lumMod val="5000"/>
                  <a:lumOff val="95000"/>
                </a:srgbClr>
              </a:gs>
              <a:gs pos="74000">
                <a:srgbClr val="4472C4">
                  <a:lumMod val="45000"/>
                  <a:lumOff val="55000"/>
                </a:srgbClr>
              </a:gs>
              <a:gs pos="83000">
                <a:srgbClr val="4472C4">
                  <a:lumMod val="45000"/>
                  <a:lumOff val="55000"/>
                </a:srgbClr>
              </a:gs>
              <a:gs pos="100000">
                <a:srgbClr val="4472C4">
                  <a:lumMod val="30000"/>
                  <a:lumOff val="70000"/>
                </a:srgbClr>
              </a:gs>
            </a:gsLst>
            <a:lin ang="5400000" scaled="1"/>
          </a:gradFill>
          <a:ln w="25400">
            <a:solidFill>
              <a:srgbClr val="4472C4">
                <a:lumMod val="60000"/>
                <a:lumOff val="40000"/>
              </a:srgbClr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vert="horz" wrap="none" lIns="91440" tIns="45720" rIns="91440" bIns="45720" rtlCol="0" anchor="t">
            <a:spAutoFit/>
          </a:bodyPr>
          <a:lstStyle>
            <a:defPPr>
              <a:defRPr lang="pt-PT"/>
            </a:defPPr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defRPr>
            </a:lvl1pPr>
          </a:lstStyle>
          <a:p>
            <a:r>
              <a:rPr lang="en-US">
                <a:sym typeface="Wingdings" panose="05000000000000000000" pitchFamily="2" charset="2"/>
              </a:rPr>
              <a:t>4. credentials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F37805-9F6D-0823-611A-C5A04BC8D5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762" y="2082397"/>
            <a:ext cx="7379079" cy="1397072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8" name="Arrow: Right 5">
            <a:extLst>
              <a:ext uri="{FF2B5EF4-FFF2-40B4-BE49-F238E27FC236}">
                <a16:creationId xmlns:a16="http://schemas.microsoft.com/office/drawing/2014/main" id="{7FE522D7-D890-F204-CDBA-AF8EF30A5ECF}"/>
              </a:ext>
            </a:extLst>
          </p:cNvPr>
          <p:cNvSpPr/>
          <p:nvPr/>
        </p:nvSpPr>
        <p:spPr>
          <a:xfrm>
            <a:off x="207428" y="3863328"/>
            <a:ext cx="62690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test</a:t>
            </a:r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DF535CE4-0214-DD70-39F1-AF9D450AAD4B}"/>
              </a:ext>
            </a:extLst>
          </p:cNvPr>
          <p:cNvSpPr/>
          <p:nvPr/>
        </p:nvSpPr>
        <p:spPr>
          <a:xfrm>
            <a:off x="820223" y="3882958"/>
            <a:ext cx="2281641" cy="257369"/>
          </a:xfrm>
          <a:prstGeom prst="wedgeRectCallout">
            <a:avLst>
              <a:gd name="adj1" fmla="val 13773"/>
              <a:gd name="adj2" fmla="val 1601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R="0" lvl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</a:rPr>
              <a:t>aws –-profile pulumi s3</a:t>
            </a:r>
            <a:r>
              <a:rPr kumimoji="0" lang="en-US" sz="1200" b="0" i="0" u="none" strike="noStrike" kern="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</a:rPr>
              <a:t> ls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6106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6716FB-4349-2F77-7457-238455CBA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1480D-BFE9-4CE1-EE21-5912A42012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1115370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3. pulumi aws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701863-1FD2-6340-924A-A61A3C6B1C10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35F4B7DB-162D-C255-5537-4A0161AF847A}"/>
              </a:ext>
            </a:extLst>
          </p:cNvPr>
          <p:cNvSpPr/>
          <p:nvPr/>
        </p:nvSpPr>
        <p:spPr>
          <a:xfrm>
            <a:off x="207429" y="323931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7610BE-7308-B95E-1CED-58EFD5039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854" y="323931"/>
            <a:ext cx="5322357" cy="662091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14" name="Speech Bubble: Rectangle 13">
            <a:extLst>
              <a:ext uri="{FF2B5EF4-FFF2-40B4-BE49-F238E27FC236}">
                <a16:creationId xmlns:a16="http://schemas.microsoft.com/office/drawing/2014/main" id="{91A5A8C5-D7D0-10AC-6BF4-83A6C540CE3F}"/>
              </a:ext>
            </a:extLst>
          </p:cNvPr>
          <p:cNvSpPr/>
          <p:nvPr/>
        </p:nvSpPr>
        <p:spPr>
          <a:xfrm>
            <a:off x="946540" y="1223064"/>
            <a:ext cx="3131233" cy="257369"/>
          </a:xfrm>
          <a:prstGeom prst="wedgeRectCallout">
            <a:avLst>
              <a:gd name="adj1" fmla="val 13773"/>
              <a:gd name="adj2" fmla="val 1601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lvl="0" defTabSz="914369">
              <a:defRPr/>
            </a:pPr>
            <a:r>
              <a:rPr lang="en-US" sz="1200" kern="0" noProof="1">
                <a:solidFill>
                  <a:prstClr val="white"/>
                </a:solidFill>
                <a:latin typeface="Consolas" panose="020B0609020204030204" pitchFamily="49" charset="0"/>
              </a:rPr>
              <a:t>pulumi config set aws:profile pulumi</a:t>
            </a:r>
            <a:endParaRPr kumimoji="0" lang="en-US" sz="12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BB87C6B-3309-8D8F-5408-BDA077708A7F}"/>
              </a:ext>
            </a:extLst>
          </p:cNvPr>
          <p:cNvGrpSpPr/>
          <p:nvPr/>
        </p:nvGrpSpPr>
        <p:grpSpPr>
          <a:xfrm>
            <a:off x="946540" y="1632601"/>
            <a:ext cx="1086390" cy="246221"/>
            <a:chOff x="5881666" y="1585935"/>
            <a:chExt cx="1086390" cy="246221"/>
          </a:xfrm>
        </p:grpSpPr>
        <p:sp>
          <p:nvSpPr>
            <p:cNvPr id="17" name="Retângulo 5">
              <a:extLst>
                <a:ext uri="{FF2B5EF4-FFF2-40B4-BE49-F238E27FC236}">
                  <a16:creationId xmlns:a16="http://schemas.microsoft.com/office/drawing/2014/main" id="{A121E9C1-0647-ED2E-42FB-C7EBB7615A4E}"/>
                </a:ext>
              </a:extLst>
            </p:cNvPr>
            <p:cNvSpPr/>
            <p:nvPr/>
          </p:nvSpPr>
          <p:spPr>
            <a:xfrm>
              <a:off x="6034787" y="1585935"/>
              <a:ext cx="93326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/>
                </a:rPr>
                <a:t>github tutorial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18" name="Picture 17" descr="Icon&#10;&#10;Description automatically generated">
              <a:extLst>
                <a:ext uri="{FF2B5EF4-FFF2-40B4-BE49-F238E27FC236}">
                  <a16:creationId xmlns:a16="http://schemas.microsoft.com/office/drawing/2014/main" id="{F5D7D795-103D-5BEF-F527-4DFD0073A7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16000" cy="216000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7A2ABFA-3D8E-241B-8A46-291DC8579001}"/>
              </a:ext>
            </a:extLst>
          </p:cNvPr>
          <p:cNvGrpSpPr/>
          <p:nvPr/>
        </p:nvGrpSpPr>
        <p:grpSpPr>
          <a:xfrm>
            <a:off x="2016536" y="1624082"/>
            <a:ext cx="623121" cy="246221"/>
            <a:chOff x="5881666" y="1585935"/>
            <a:chExt cx="623121" cy="246221"/>
          </a:xfrm>
        </p:grpSpPr>
        <p:sp>
          <p:nvSpPr>
            <p:cNvPr id="21" name="Retângulo 5">
              <a:extLst>
                <a:ext uri="{FF2B5EF4-FFF2-40B4-BE49-F238E27FC236}">
                  <a16:creationId xmlns:a16="http://schemas.microsoft.com/office/drawing/2014/main" id="{248055FE-734C-1A55-0BE3-B3A716B4A76B}"/>
                </a:ext>
              </a:extLst>
            </p:cNvPr>
            <p:cNvSpPr/>
            <p:nvPr/>
          </p:nvSpPr>
          <p:spPr>
            <a:xfrm>
              <a:off x="6034787" y="1585935"/>
              <a:ext cx="47000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5"/>
                </a:rPr>
                <a:t>video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22" name="Picture 21" descr="Icon&#10;&#10;Description automatically generated">
              <a:extLst>
                <a:ext uri="{FF2B5EF4-FFF2-40B4-BE49-F238E27FC236}">
                  <a16:creationId xmlns:a16="http://schemas.microsoft.com/office/drawing/2014/main" id="{2FC845D9-EDB3-AB32-6C6A-746064A128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16000" cy="216000"/>
            </a:xfrm>
            <a:prstGeom prst="rect">
              <a:avLst/>
            </a:prstGeom>
          </p:spPr>
        </p:pic>
      </p:grpSp>
      <p:sp>
        <p:nvSpPr>
          <p:cNvPr id="23" name="Speech Bubble: Rectangle 22">
            <a:extLst>
              <a:ext uri="{FF2B5EF4-FFF2-40B4-BE49-F238E27FC236}">
                <a16:creationId xmlns:a16="http://schemas.microsoft.com/office/drawing/2014/main" id="{2B6CAE4F-C96F-0E74-F256-A19B61942B83}"/>
              </a:ext>
            </a:extLst>
          </p:cNvPr>
          <p:cNvSpPr/>
          <p:nvPr/>
        </p:nvSpPr>
        <p:spPr>
          <a:xfrm>
            <a:off x="946540" y="2102567"/>
            <a:ext cx="2222331" cy="442035"/>
          </a:xfrm>
          <a:prstGeom prst="wedgeRectCallout">
            <a:avLst>
              <a:gd name="adj1" fmla="val 26749"/>
              <a:gd name="adj2" fmla="val 31870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the first time we access pulumi</a:t>
            </a:r>
          </a:p>
          <a:p>
            <a:pPr marL="685792" lvl="1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we need the </a:t>
            </a: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  <a:hlinkClick r:id="rId6" action="ppaction://hlinksldjump"/>
              </a:rPr>
              <a:t>key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  <p:sp>
        <p:nvSpPr>
          <p:cNvPr id="24" name="Speech Bubble: Rectangle 23">
            <a:extLst>
              <a:ext uri="{FF2B5EF4-FFF2-40B4-BE49-F238E27FC236}">
                <a16:creationId xmlns:a16="http://schemas.microsoft.com/office/drawing/2014/main" id="{867A3206-474A-6F69-8190-009E4CCE91F2}"/>
              </a:ext>
            </a:extLst>
          </p:cNvPr>
          <p:cNvSpPr/>
          <p:nvPr/>
        </p:nvSpPr>
        <p:spPr>
          <a:xfrm>
            <a:off x="946540" y="2745293"/>
            <a:ext cx="2482017" cy="442035"/>
          </a:xfrm>
          <a:prstGeom prst="wedgeRectCallout">
            <a:avLst>
              <a:gd name="adj1" fmla="val 26749"/>
              <a:gd name="adj2" fmla="val 31870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the first time we access pulumi</a:t>
            </a:r>
          </a:p>
          <a:p>
            <a:pPr marL="685792" lvl="1" indent="-228592" defTabSz="914369">
              <a:buFont typeface="Arial" panose="020B0604020202020204" pitchFamily="34" charset="0"/>
              <a:buChar char="•"/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we need to create the stack</a:t>
            </a:r>
          </a:p>
        </p:txBody>
      </p:sp>
      <p:sp>
        <p:nvSpPr>
          <p:cNvPr id="25" name="Speech Bubble: Rectangle 24">
            <a:extLst>
              <a:ext uri="{FF2B5EF4-FFF2-40B4-BE49-F238E27FC236}">
                <a16:creationId xmlns:a16="http://schemas.microsoft.com/office/drawing/2014/main" id="{218ACF45-F367-2D59-FD12-E823E024642C}"/>
              </a:ext>
            </a:extLst>
          </p:cNvPr>
          <p:cNvSpPr/>
          <p:nvPr/>
        </p:nvSpPr>
        <p:spPr>
          <a:xfrm>
            <a:off x="4226979" y="2827810"/>
            <a:ext cx="1092213" cy="257369"/>
          </a:xfrm>
          <a:prstGeom prst="wedgeRectCallout">
            <a:avLst>
              <a:gd name="adj1" fmla="val 13773"/>
              <a:gd name="adj2" fmla="val 1601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lvl="0" defTabSz="914369">
              <a:defRPr/>
            </a:pPr>
            <a:r>
              <a:rPr lang="en-US" sz="1200" kern="0" noProof="1">
                <a:solidFill>
                  <a:prstClr val="white"/>
                </a:solidFill>
                <a:latin typeface="Consolas" panose="020B0609020204030204" pitchFamily="49" charset="0"/>
              </a:rPr>
              <a:t>1010836/arch</a:t>
            </a:r>
            <a:endParaRPr kumimoji="0" lang="en-US" sz="12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26" name="Arrow: Right 5">
            <a:extLst>
              <a:ext uri="{FF2B5EF4-FFF2-40B4-BE49-F238E27FC236}">
                <a16:creationId xmlns:a16="http://schemas.microsoft.com/office/drawing/2014/main" id="{F999444F-FEC6-7BB6-74A0-454453C6B37C}"/>
              </a:ext>
            </a:extLst>
          </p:cNvPr>
          <p:cNvSpPr/>
          <p:nvPr/>
        </p:nvSpPr>
        <p:spPr>
          <a:xfrm>
            <a:off x="3428557" y="2827810"/>
            <a:ext cx="798422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3625849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2DF9BB-B9E3-E709-1924-B0203B72B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337E81-5F73-98B4-568D-6821E6429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146" y="323931"/>
            <a:ext cx="5550916" cy="858743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332B99-4C4A-A084-D6F4-8AAB38FE29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1190454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4. pulumi stack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C16DAC-64DE-B4A3-561C-0E559DB75B36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FF6735AE-2EC9-5951-2EAF-718301397999}"/>
              </a:ext>
            </a:extLst>
          </p:cNvPr>
          <p:cNvSpPr/>
          <p:nvPr/>
        </p:nvSpPr>
        <p:spPr>
          <a:xfrm>
            <a:off x="207429" y="323931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5852A9B-8EAF-DA48-BE8D-24C0F31173A9}"/>
              </a:ext>
            </a:extLst>
          </p:cNvPr>
          <p:cNvGrpSpPr/>
          <p:nvPr/>
        </p:nvGrpSpPr>
        <p:grpSpPr>
          <a:xfrm>
            <a:off x="838771" y="1348388"/>
            <a:ext cx="1086390" cy="246221"/>
            <a:chOff x="5881666" y="1585935"/>
            <a:chExt cx="1086390" cy="246221"/>
          </a:xfrm>
        </p:grpSpPr>
        <p:sp>
          <p:nvSpPr>
            <p:cNvPr id="17" name="Retângulo 5">
              <a:extLst>
                <a:ext uri="{FF2B5EF4-FFF2-40B4-BE49-F238E27FC236}">
                  <a16:creationId xmlns:a16="http://schemas.microsoft.com/office/drawing/2014/main" id="{EDB312B9-31BE-041A-0DE4-3AC6D988AF4C}"/>
                </a:ext>
              </a:extLst>
            </p:cNvPr>
            <p:cNvSpPr/>
            <p:nvPr/>
          </p:nvSpPr>
          <p:spPr>
            <a:xfrm>
              <a:off x="6034787" y="1585935"/>
              <a:ext cx="93326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/>
                </a:rPr>
                <a:t>github tutorial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18" name="Picture 17" descr="Icon&#10;&#10;Description automatically generated">
              <a:extLst>
                <a:ext uri="{FF2B5EF4-FFF2-40B4-BE49-F238E27FC236}">
                  <a16:creationId xmlns:a16="http://schemas.microsoft.com/office/drawing/2014/main" id="{0D8A4DD2-447F-257D-D10E-D47CB2AB1D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16000" cy="216000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00E94B0-EC85-F750-D759-4C058D751C88}"/>
              </a:ext>
            </a:extLst>
          </p:cNvPr>
          <p:cNvGrpSpPr/>
          <p:nvPr/>
        </p:nvGrpSpPr>
        <p:grpSpPr>
          <a:xfrm>
            <a:off x="1925161" y="1350731"/>
            <a:ext cx="623121" cy="246221"/>
            <a:chOff x="5881666" y="1585935"/>
            <a:chExt cx="623121" cy="246221"/>
          </a:xfrm>
        </p:grpSpPr>
        <p:sp>
          <p:nvSpPr>
            <p:cNvPr id="21" name="Retângulo 5">
              <a:extLst>
                <a:ext uri="{FF2B5EF4-FFF2-40B4-BE49-F238E27FC236}">
                  <a16:creationId xmlns:a16="http://schemas.microsoft.com/office/drawing/2014/main" id="{674D6363-36D5-23E0-4E75-6548D8BC230B}"/>
                </a:ext>
              </a:extLst>
            </p:cNvPr>
            <p:cNvSpPr/>
            <p:nvPr/>
          </p:nvSpPr>
          <p:spPr>
            <a:xfrm>
              <a:off x="6034787" y="1585935"/>
              <a:ext cx="47000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5"/>
                </a:rPr>
                <a:t>video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22" name="Picture 21" descr="Icon&#10;&#10;Description automatically generated">
              <a:extLst>
                <a:ext uri="{FF2B5EF4-FFF2-40B4-BE49-F238E27FC236}">
                  <a16:creationId xmlns:a16="http://schemas.microsoft.com/office/drawing/2014/main" id="{F72832DD-21B4-EEC0-2BEA-F2BA1CA6D3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16000" cy="216000"/>
            </a:xfrm>
            <a:prstGeom prst="rect">
              <a:avLst/>
            </a:prstGeom>
          </p:spPr>
        </p:pic>
      </p:grpSp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CAB26DAD-26BE-8540-4AD0-1338A787C33D}"/>
              </a:ext>
            </a:extLst>
          </p:cNvPr>
          <p:cNvSpPr/>
          <p:nvPr/>
        </p:nvSpPr>
        <p:spPr>
          <a:xfrm>
            <a:off x="838771" y="1677515"/>
            <a:ext cx="2621478" cy="257369"/>
          </a:xfrm>
          <a:prstGeom prst="wedgeRectCallout">
            <a:avLst>
              <a:gd name="adj1" fmla="val 13773"/>
              <a:gd name="adj2" fmla="val 1601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lvl="0" defTabSz="914369">
              <a:defRPr/>
            </a:pPr>
            <a:r>
              <a:rPr lang="en-US" sz="1200" kern="0" noProof="1">
                <a:solidFill>
                  <a:prstClr val="white"/>
                </a:solidFill>
                <a:latin typeface="Consolas" panose="020B0609020204030204" pitchFamily="49" charset="0"/>
              </a:rPr>
              <a:t>pulumi stack init 1010836/arch</a:t>
            </a:r>
            <a:endParaRPr kumimoji="0" lang="en-US" sz="12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8B84A4E6-833A-0FF8-7713-DA4646B53595}"/>
              </a:ext>
            </a:extLst>
          </p:cNvPr>
          <p:cNvSpPr/>
          <p:nvPr/>
        </p:nvSpPr>
        <p:spPr>
          <a:xfrm>
            <a:off x="1002543" y="2355001"/>
            <a:ext cx="1347091" cy="257369"/>
          </a:xfrm>
          <a:prstGeom prst="wedgeRectCallout">
            <a:avLst>
              <a:gd name="adj1" fmla="val 13773"/>
              <a:gd name="adj2" fmla="val 1601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lvl="0" defTabSz="914369">
              <a:defRPr/>
            </a:pPr>
            <a:r>
              <a:rPr lang="en-US" sz="1200" kern="0" noProof="1">
                <a:solidFill>
                  <a:prstClr val="white"/>
                </a:solidFill>
                <a:latin typeface="Consolas" panose="020B0609020204030204" pitchFamily="49" charset="0"/>
              </a:rPr>
              <a:t>pulumi stack ls</a:t>
            </a:r>
            <a:endParaRPr kumimoji="0" lang="en-US" sz="12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7" name="Arrow: Right 5">
            <a:extLst>
              <a:ext uri="{FF2B5EF4-FFF2-40B4-BE49-F238E27FC236}">
                <a16:creationId xmlns:a16="http://schemas.microsoft.com/office/drawing/2014/main" id="{0F111BCD-4E4C-4CB5-9FC3-54A8434A904A}"/>
              </a:ext>
            </a:extLst>
          </p:cNvPr>
          <p:cNvSpPr/>
          <p:nvPr/>
        </p:nvSpPr>
        <p:spPr>
          <a:xfrm>
            <a:off x="217792" y="2327189"/>
            <a:ext cx="788804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verify</a:t>
            </a:r>
          </a:p>
        </p:txBody>
      </p:sp>
    </p:spTree>
    <p:extLst>
      <p:ext uri="{BB962C8B-B14F-4D97-AF65-F5344CB8AC3E}">
        <p14:creationId xmlns:p14="http://schemas.microsoft.com/office/powerpoint/2010/main" val="784967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6EE04C-B3FF-9B94-CDBC-FB9DAE3B6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AFE4005-D36A-51C1-8B54-E6784A7441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540" y="323931"/>
            <a:ext cx="10993384" cy="1009791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29FE34-92C5-FEF9-0F26-76B5123200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1270861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5. pulumi region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15AC7F-3A7A-238C-375F-403B3436B395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3A82410E-F746-9297-8E03-A971ADCA5AA6}"/>
              </a:ext>
            </a:extLst>
          </p:cNvPr>
          <p:cNvSpPr/>
          <p:nvPr/>
        </p:nvSpPr>
        <p:spPr>
          <a:xfrm>
            <a:off x="207429" y="323931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85B9DBF-85DB-3C11-532A-F9C8BBD7738F}"/>
              </a:ext>
            </a:extLst>
          </p:cNvPr>
          <p:cNvGrpSpPr/>
          <p:nvPr/>
        </p:nvGrpSpPr>
        <p:grpSpPr>
          <a:xfrm>
            <a:off x="890530" y="1484716"/>
            <a:ext cx="1086390" cy="246221"/>
            <a:chOff x="5881666" y="1585935"/>
            <a:chExt cx="1086390" cy="246221"/>
          </a:xfrm>
        </p:grpSpPr>
        <p:sp>
          <p:nvSpPr>
            <p:cNvPr id="17" name="Retângulo 5">
              <a:extLst>
                <a:ext uri="{FF2B5EF4-FFF2-40B4-BE49-F238E27FC236}">
                  <a16:creationId xmlns:a16="http://schemas.microsoft.com/office/drawing/2014/main" id="{A20A6486-AA98-FD82-06E2-A2EDA7D75481}"/>
                </a:ext>
              </a:extLst>
            </p:cNvPr>
            <p:cNvSpPr/>
            <p:nvPr/>
          </p:nvSpPr>
          <p:spPr>
            <a:xfrm>
              <a:off x="6034787" y="1585935"/>
              <a:ext cx="93326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/>
                </a:rPr>
                <a:t>github tutorial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18" name="Picture 17" descr="Icon&#10;&#10;Description automatically generated">
              <a:extLst>
                <a:ext uri="{FF2B5EF4-FFF2-40B4-BE49-F238E27FC236}">
                  <a16:creationId xmlns:a16="http://schemas.microsoft.com/office/drawing/2014/main" id="{D5C69200-ADA4-A88E-C3EA-44E6C41E0B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16000" cy="216000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AAF95D6-F513-9E5F-A4B5-949A13F0301D}"/>
              </a:ext>
            </a:extLst>
          </p:cNvPr>
          <p:cNvGrpSpPr/>
          <p:nvPr/>
        </p:nvGrpSpPr>
        <p:grpSpPr>
          <a:xfrm>
            <a:off x="1996364" y="1484716"/>
            <a:ext cx="623121" cy="246221"/>
            <a:chOff x="5881666" y="1585935"/>
            <a:chExt cx="623121" cy="246221"/>
          </a:xfrm>
        </p:grpSpPr>
        <p:sp>
          <p:nvSpPr>
            <p:cNvPr id="21" name="Retângulo 5">
              <a:extLst>
                <a:ext uri="{FF2B5EF4-FFF2-40B4-BE49-F238E27FC236}">
                  <a16:creationId xmlns:a16="http://schemas.microsoft.com/office/drawing/2014/main" id="{4CBC97EE-DFBE-7ACB-9F38-77BCFC2275A5}"/>
                </a:ext>
              </a:extLst>
            </p:cNvPr>
            <p:cNvSpPr/>
            <p:nvPr/>
          </p:nvSpPr>
          <p:spPr>
            <a:xfrm>
              <a:off x="6034787" y="1585935"/>
              <a:ext cx="47000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5"/>
                </a:rPr>
                <a:t>video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22" name="Picture 21" descr="Icon&#10;&#10;Description automatically generated">
              <a:extLst>
                <a:ext uri="{FF2B5EF4-FFF2-40B4-BE49-F238E27FC236}">
                  <a16:creationId xmlns:a16="http://schemas.microsoft.com/office/drawing/2014/main" id="{F449EAC2-B3A2-16CF-B52D-44297DD9D9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16000" cy="216000"/>
            </a:xfrm>
            <a:prstGeom prst="rect">
              <a:avLst/>
            </a:prstGeom>
          </p:spPr>
        </p:pic>
      </p:grpSp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5B5656A5-C27C-7A30-3C41-C5F348E77B5A}"/>
              </a:ext>
            </a:extLst>
          </p:cNvPr>
          <p:cNvSpPr/>
          <p:nvPr/>
        </p:nvSpPr>
        <p:spPr>
          <a:xfrm>
            <a:off x="901625" y="1847842"/>
            <a:ext cx="3301151" cy="257369"/>
          </a:xfrm>
          <a:prstGeom prst="wedgeRectCallout">
            <a:avLst>
              <a:gd name="adj1" fmla="val 13773"/>
              <a:gd name="adj2" fmla="val 1601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lvl="0" defTabSz="914369">
              <a:defRPr/>
            </a:pPr>
            <a:r>
              <a:rPr lang="en-US" sz="1200" kern="0" noProof="1">
                <a:solidFill>
                  <a:prstClr val="white"/>
                </a:solidFill>
                <a:latin typeface="Consolas" panose="020B0609020204030204" pitchFamily="49" charset="0"/>
              </a:rPr>
              <a:t>pulumi config set aws:region us-west-2</a:t>
            </a:r>
            <a:endParaRPr kumimoji="0" lang="en-US" sz="12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5720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09821B-A5AD-CA17-4ADA-A14B57316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5F7757-90D0-2493-898A-7CDFB8947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540" y="354540"/>
            <a:ext cx="6916115" cy="609685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D82CC4-9DCB-21FD-23FB-C0F6F2657D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1447960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6. pulumi</a:t>
            </a:r>
            <a:r>
              <a:rPr lang="en-US" sz="1200" baseline="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pinecone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C49E4E-F8B1-EDBA-5E50-9B7EE02F3181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6E589ABA-912F-A46D-47BD-6D13AF83D17C}"/>
              </a:ext>
            </a:extLst>
          </p:cNvPr>
          <p:cNvSpPr/>
          <p:nvPr/>
        </p:nvSpPr>
        <p:spPr>
          <a:xfrm>
            <a:off x="207429" y="323931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862070E-763D-6115-CCE7-A75817C12D1C}"/>
              </a:ext>
            </a:extLst>
          </p:cNvPr>
          <p:cNvGrpSpPr/>
          <p:nvPr/>
        </p:nvGrpSpPr>
        <p:grpSpPr>
          <a:xfrm>
            <a:off x="909974" y="1100873"/>
            <a:ext cx="1086390" cy="246221"/>
            <a:chOff x="5881666" y="1585935"/>
            <a:chExt cx="1086390" cy="246221"/>
          </a:xfrm>
        </p:grpSpPr>
        <p:sp>
          <p:nvSpPr>
            <p:cNvPr id="17" name="Retângulo 5">
              <a:extLst>
                <a:ext uri="{FF2B5EF4-FFF2-40B4-BE49-F238E27FC236}">
                  <a16:creationId xmlns:a16="http://schemas.microsoft.com/office/drawing/2014/main" id="{8CFCCEAE-6E8C-27AC-B7F9-74AB2EB99E7C}"/>
                </a:ext>
              </a:extLst>
            </p:cNvPr>
            <p:cNvSpPr/>
            <p:nvPr/>
          </p:nvSpPr>
          <p:spPr>
            <a:xfrm>
              <a:off x="6034787" y="1585935"/>
              <a:ext cx="93326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/>
                </a:rPr>
                <a:t>github tutorial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18" name="Picture 17" descr="Icon&#10;&#10;Description automatically generated">
              <a:extLst>
                <a:ext uri="{FF2B5EF4-FFF2-40B4-BE49-F238E27FC236}">
                  <a16:creationId xmlns:a16="http://schemas.microsoft.com/office/drawing/2014/main" id="{1871CF69-4DE7-D16B-C92A-4826BAE95E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16000" cy="216000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50E621A-536D-8945-8321-359B54D82E76}"/>
              </a:ext>
            </a:extLst>
          </p:cNvPr>
          <p:cNvGrpSpPr/>
          <p:nvPr/>
        </p:nvGrpSpPr>
        <p:grpSpPr>
          <a:xfrm>
            <a:off x="2001634" y="1117364"/>
            <a:ext cx="623121" cy="246221"/>
            <a:chOff x="5881666" y="1585935"/>
            <a:chExt cx="623121" cy="246221"/>
          </a:xfrm>
        </p:grpSpPr>
        <p:sp>
          <p:nvSpPr>
            <p:cNvPr id="21" name="Retângulo 5">
              <a:extLst>
                <a:ext uri="{FF2B5EF4-FFF2-40B4-BE49-F238E27FC236}">
                  <a16:creationId xmlns:a16="http://schemas.microsoft.com/office/drawing/2014/main" id="{1B97F09A-0D8D-6B9D-8279-8E9074929844}"/>
                </a:ext>
              </a:extLst>
            </p:cNvPr>
            <p:cNvSpPr/>
            <p:nvPr/>
          </p:nvSpPr>
          <p:spPr>
            <a:xfrm>
              <a:off x="6034787" y="1585935"/>
              <a:ext cx="47000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5"/>
                </a:rPr>
                <a:t>video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22" name="Picture 21" descr="Icon&#10;&#10;Description automatically generated">
              <a:extLst>
                <a:ext uri="{FF2B5EF4-FFF2-40B4-BE49-F238E27FC236}">
                  <a16:creationId xmlns:a16="http://schemas.microsoft.com/office/drawing/2014/main" id="{484F8ED9-4F0F-C897-3B15-5B200EFD0F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16000" cy="216000"/>
            </a:xfrm>
            <a:prstGeom prst="rect">
              <a:avLst/>
            </a:prstGeom>
          </p:spPr>
        </p:pic>
      </p:grpSp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31E7C6CC-9734-36C3-FC07-764D51891E5B}"/>
              </a:ext>
            </a:extLst>
          </p:cNvPr>
          <p:cNvSpPr/>
          <p:nvPr/>
        </p:nvSpPr>
        <p:spPr>
          <a:xfrm>
            <a:off x="906794" y="1434636"/>
            <a:ext cx="6869436" cy="257369"/>
          </a:xfrm>
          <a:prstGeom prst="wedgeRectCallout">
            <a:avLst>
              <a:gd name="adj1" fmla="val 13773"/>
              <a:gd name="adj2" fmla="val 1601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lvl="0" defTabSz="914369">
              <a:defRPr/>
            </a:pPr>
            <a:r>
              <a:rPr lang="en-US" sz="1200" kern="0" noProof="1">
                <a:solidFill>
                  <a:prstClr val="white"/>
                </a:solidFill>
                <a:latin typeface="Consolas" panose="020B0609020204030204" pitchFamily="49" charset="0"/>
              </a:rPr>
              <a:t>pulumi config set --secret PINECONE_API_KEY 2d2ef014-acb6-4b1e-ac3b-6579f3e69318</a:t>
            </a:r>
            <a:endParaRPr kumimoji="0" lang="en-US" sz="12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057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82AAF9-0549-F022-FF12-E38A6A1F0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68B2EFF-A133-8E1A-3678-91F9DD3EB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540" y="354540"/>
            <a:ext cx="6916115" cy="609685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F53ED1-39CD-CD15-6D6A-207DE59BF0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1209947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7. pulumi</a:t>
            </a:r>
            <a:r>
              <a:rPr lang="en-US" sz="1200" baseline="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index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B7FAD6-8D00-7F1A-22AA-7ABB0DC31420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060DC1B9-275C-0468-2273-AF69055104A6}"/>
              </a:ext>
            </a:extLst>
          </p:cNvPr>
          <p:cNvSpPr/>
          <p:nvPr/>
        </p:nvSpPr>
        <p:spPr>
          <a:xfrm>
            <a:off x="207429" y="323931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E6365E5-D597-0B10-013E-55BC1E001897}"/>
              </a:ext>
            </a:extLst>
          </p:cNvPr>
          <p:cNvGrpSpPr/>
          <p:nvPr/>
        </p:nvGrpSpPr>
        <p:grpSpPr>
          <a:xfrm>
            <a:off x="909974" y="1100873"/>
            <a:ext cx="1086390" cy="246221"/>
            <a:chOff x="5881666" y="1585935"/>
            <a:chExt cx="1086390" cy="246221"/>
          </a:xfrm>
        </p:grpSpPr>
        <p:sp>
          <p:nvSpPr>
            <p:cNvPr id="17" name="Retângulo 5">
              <a:extLst>
                <a:ext uri="{FF2B5EF4-FFF2-40B4-BE49-F238E27FC236}">
                  <a16:creationId xmlns:a16="http://schemas.microsoft.com/office/drawing/2014/main" id="{1DCA1C92-4BBC-3070-1F45-5CF140C4A166}"/>
                </a:ext>
              </a:extLst>
            </p:cNvPr>
            <p:cNvSpPr/>
            <p:nvPr/>
          </p:nvSpPr>
          <p:spPr>
            <a:xfrm>
              <a:off x="6034787" y="1585935"/>
              <a:ext cx="93326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/>
                </a:rPr>
                <a:t>github tutorial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18" name="Picture 17" descr="Icon&#10;&#10;Description automatically generated">
              <a:extLst>
                <a:ext uri="{FF2B5EF4-FFF2-40B4-BE49-F238E27FC236}">
                  <a16:creationId xmlns:a16="http://schemas.microsoft.com/office/drawing/2014/main" id="{F053A8E7-E44D-6655-C03B-F59223D382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16000" cy="216000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CEB4C84-C546-3C60-A4BB-58DF32CB2A2C}"/>
              </a:ext>
            </a:extLst>
          </p:cNvPr>
          <p:cNvGrpSpPr/>
          <p:nvPr/>
        </p:nvGrpSpPr>
        <p:grpSpPr>
          <a:xfrm>
            <a:off x="2001634" y="1117364"/>
            <a:ext cx="623121" cy="246221"/>
            <a:chOff x="5881666" y="1585935"/>
            <a:chExt cx="623121" cy="246221"/>
          </a:xfrm>
        </p:grpSpPr>
        <p:sp>
          <p:nvSpPr>
            <p:cNvPr id="21" name="Retângulo 5">
              <a:extLst>
                <a:ext uri="{FF2B5EF4-FFF2-40B4-BE49-F238E27FC236}">
                  <a16:creationId xmlns:a16="http://schemas.microsoft.com/office/drawing/2014/main" id="{62839B6B-6191-F97A-1E14-772DBC0DE477}"/>
                </a:ext>
              </a:extLst>
            </p:cNvPr>
            <p:cNvSpPr/>
            <p:nvPr/>
          </p:nvSpPr>
          <p:spPr>
            <a:xfrm>
              <a:off x="6034787" y="1585935"/>
              <a:ext cx="47000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5"/>
                </a:rPr>
                <a:t>video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22" name="Picture 21" descr="Icon&#10;&#10;Description automatically generated">
              <a:extLst>
                <a:ext uri="{FF2B5EF4-FFF2-40B4-BE49-F238E27FC236}">
                  <a16:creationId xmlns:a16="http://schemas.microsoft.com/office/drawing/2014/main" id="{673E09D2-F7BA-AB4A-AA76-2E449EE302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16000" cy="216000"/>
            </a:xfrm>
            <a:prstGeom prst="rect">
              <a:avLst/>
            </a:prstGeom>
          </p:spPr>
        </p:pic>
      </p:grpSp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1D1F02D1-3D84-6609-0490-D9F66179546D}"/>
              </a:ext>
            </a:extLst>
          </p:cNvPr>
          <p:cNvSpPr/>
          <p:nvPr/>
        </p:nvSpPr>
        <p:spPr>
          <a:xfrm>
            <a:off x="906794" y="1434636"/>
            <a:ext cx="3980824" cy="257369"/>
          </a:xfrm>
          <a:prstGeom prst="wedgeRectCallout">
            <a:avLst>
              <a:gd name="adj1" fmla="val 13773"/>
              <a:gd name="adj2" fmla="val 1601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lvl="0" defTabSz="914369">
              <a:defRPr/>
            </a:pPr>
            <a:r>
              <a:rPr lang="it-IT" sz="1200" kern="0" noProof="1">
                <a:solidFill>
                  <a:prstClr val="white"/>
                </a:solidFill>
                <a:latin typeface="Consolas" panose="020B0609020204030204" pitchFamily="49" charset="0"/>
              </a:rPr>
              <a:t>pulumi config set PINECONE_INDEX 1010836-arch</a:t>
            </a:r>
            <a:endParaRPr kumimoji="0" lang="en-US" sz="1200" b="0" i="0" u="none" strike="noStrike" kern="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6595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5EF66BF9-1205-4921-9848-E01F172B1E41}"/>
              </a:ext>
            </a:extLst>
          </p:cNvPr>
          <p:cNvSpPr/>
          <p:nvPr/>
        </p:nvSpPr>
        <p:spPr>
          <a:xfrm>
            <a:off x="161745" y="641132"/>
            <a:ext cx="207692" cy="599089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Arrow: Right 5">
            <a:extLst>
              <a:ext uri="{FF2B5EF4-FFF2-40B4-BE49-F238E27FC236}">
                <a16:creationId xmlns:a16="http://schemas.microsoft.com/office/drawing/2014/main" id="{37D7CF4F-FF2A-4394-89CF-6DD9FAFE9EDE}"/>
              </a:ext>
            </a:extLst>
          </p:cNvPr>
          <p:cNvSpPr/>
          <p:nvPr/>
        </p:nvSpPr>
        <p:spPr>
          <a:xfrm>
            <a:off x="282327" y="740052"/>
            <a:ext cx="1434814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25400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new project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1340E3-E6E7-40FD-BFE9-9758DA674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50" y="190875"/>
            <a:ext cx="1352165" cy="369332"/>
          </a:xfrm>
          <a:gradFill>
            <a:gsLst>
              <a:gs pos="0">
                <a:srgbClr val="4472C4">
                  <a:lumMod val="5000"/>
                  <a:lumOff val="95000"/>
                </a:srgbClr>
              </a:gs>
              <a:gs pos="74000">
                <a:srgbClr val="4472C4">
                  <a:lumMod val="45000"/>
                  <a:lumOff val="55000"/>
                </a:srgbClr>
              </a:gs>
              <a:gs pos="83000">
                <a:srgbClr val="4472C4">
                  <a:lumMod val="45000"/>
                  <a:lumOff val="55000"/>
                </a:srgbClr>
              </a:gs>
              <a:gs pos="100000">
                <a:srgbClr val="4472C4">
                  <a:lumMod val="30000"/>
                  <a:lumOff val="70000"/>
                </a:srgbClr>
              </a:gs>
            </a:gsLst>
            <a:lin ang="5400000" scaled="1"/>
          </a:gradFill>
          <a:ln w="2540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 sz="2000" dirty="0">
                <a:solidFill>
                  <a:sysClr val="windowText" lastClr="000000"/>
                </a:solidFill>
                <a:latin typeface="Calibri Light" panose="020F0302020204030204"/>
              </a:rPr>
              <a:t>Z. template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41A7F36-A6A2-4B0F-BFF3-546E7A3EE687}"/>
              </a:ext>
            </a:extLst>
          </p:cNvPr>
          <p:cNvSpPr/>
          <p:nvPr/>
        </p:nvSpPr>
        <p:spPr>
          <a:xfrm>
            <a:off x="3990477" y="641131"/>
            <a:ext cx="251307" cy="3081938"/>
          </a:xfrm>
          <a:prstGeom prst="roundRect">
            <a:avLst/>
          </a:prstGeom>
          <a:solidFill>
            <a:schemeClr val="tx1"/>
          </a:solidFill>
          <a:ln w="25400">
            <a:solidFill>
              <a:schemeClr val="accent6">
                <a:lumMod val="75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eta para a Direita 19">
            <a:extLst>
              <a:ext uri="{FF2B5EF4-FFF2-40B4-BE49-F238E27FC236}">
                <a16:creationId xmlns:a16="http://schemas.microsoft.com/office/drawing/2014/main" id="{ECA516AD-C913-468A-98D2-3DA2573FC6F1}"/>
              </a:ext>
            </a:extLst>
          </p:cNvPr>
          <p:cNvSpPr/>
          <p:nvPr/>
        </p:nvSpPr>
        <p:spPr>
          <a:xfrm flipH="1">
            <a:off x="297492" y="1258802"/>
            <a:ext cx="1490957" cy="276999"/>
          </a:xfrm>
          <a:custGeom>
            <a:avLst/>
            <a:gdLst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0 h 412685"/>
              <a:gd name="connsiteX1" fmla="*/ 2332036 w 2607159"/>
              <a:gd name="connsiteY1" fmla="*/ 0 h 412685"/>
              <a:gd name="connsiteX2" fmla="*/ 2607159 w 2607159"/>
              <a:gd name="connsiteY2" fmla="*/ 137562 h 412685"/>
              <a:gd name="connsiteX3" fmla="*/ 2332036 w 2607159"/>
              <a:gd name="connsiteY3" fmla="*/ 412685 h 412685"/>
              <a:gd name="connsiteX4" fmla="*/ 2332036 w 2607159"/>
              <a:gd name="connsiteY4" fmla="*/ 275123 h 412685"/>
              <a:gd name="connsiteX5" fmla="*/ 0 w 2607159"/>
              <a:gd name="connsiteY5" fmla="*/ 275123 h 412685"/>
              <a:gd name="connsiteX6" fmla="*/ 0 w 2607159"/>
              <a:gd name="connsiteY6" fmla="*/ 0 h 412685"/>
              <a:gd name="connsiteX0" fmla="*/ 0 w 2607159"/>
              <a:gd name="connsiteY0" fmla="*/ 0 h 275123"/>
              <a:gd name="connsiteX1" fmla="*/ 2332036 w 2607159"/>
              <a:gd name="connsiteY1" fmla="*/ 0 h 275123"/>
              <a:gd name="connsiteX2" fmla="*/ 2607159 w 2607159"/>
              <a:gd name="connsiteY2" fmla="*/ 137562 h 275123"/>
              <a:gd name="connsiteX3" fmla="*/ 2332036 w 2607159"/>
              <a:gd name="connsiteY3" fmla="*/ 275123 h 275123"/>
              <a:gd name="connsiteX4" fmla="*/ 0 w 2607159"/>
              <a:gd name="connsiteY4" fmla="*/ 275123 h 275123"/>
              <a:gd name="connsiteX5" fmla="*/ 0 w 2607159"/>
              <a:gd name="connsiteY5" fmla="*/ 0 h 275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07159" h="275123">
                <a:moveTo>
                  <a:pt x="0" y="0"/>
                </a:moveTo>
                <a:lnTo>
                  <a:pt x="2332036" y="0"/>
                </a:lnTo>
                <a:lnTo>
                  <a:pt x="2607159" y="137562"/>
                </a:lnTo>
                <a:lnTo>
                  <a:pt x="2332036" y="275123"/>
                </a:lnTo>
                <a:lnTo>
                  <a:pt x="0" y="27512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25400">
            <a:solidFill>
              <a:schemeClr val="accent2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tIns="0" rIns="36000" bIns="0" rtlCol="0" anchor="ctr">
            <a:spAutoFit/>
          </a:bodyPr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ExecuteAsync</a:t>
            </a:r>
          </a:p>
        </p:txBody>
      </p:sp>
      <p:sp>
        <p:nvSpPr>
          <p:cNvPr id="39" name="Explosion: 14 Points 38">
            <a:extLst>
              <a:ext uri="{FF2B5EF4-FFF2-40B4-BE49-F238E27FC236}">
                <a16:creationId xmlns:a16="http://schemas.microsoft.com/office/drawing/2014/main" id="{726CC03A-7D6C-46EA-92A0-86DDE1A0107D}"/>
              </a:ext>
            </a:extLst>
          </p:cNvPr>
          <p:cNvSpPr/>
          <p:nvPr/>
        </p:nvSpPr>
        <p:spPr>
          <a:xfrm>
            <a:off x="328733" y="6044547"/>
            <a:ext cx="1625594" cy="622578"/>
          </a:xfrm>
          <a:prstGeom prst="irregularSeal2">
            <a:avLst/>
          </a:prstGeom>
          <a:solidFill>
            <a:schemeClr val="tx1"/>
          </a:solidFill>
          <a:ln>
            <a:solidFill>
              <a:srgbClr val="FF0000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success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41003E8-A938-463D-86F0-FCED56AC68C0}"/>
              </a:ext>
            </a:extLst>
          </p:cNvPr>
          <p:cNvSpPr/>
          <p:nvPr/>
        </p:nvSpPr>
        <p:spPr>
          <a:xfrm>
            <a:off x="283909" y="4930886"/>
            <a:ext cx="495300" cy="465224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BFA1939-92C3-48AC-93EE-5C93B552D70D}"/>
              </a:ext>
            </a:extLst>
          </p:cNvPr>
          <p:cNvSpPr txBox="1"/>
          <p:nvPr/>
        </p:nvSpPr>
        <p:spPr>
          <a:xfrm>
            <a:off x="826994" y="4729870"/>
            <a:ext cx="598241" cy="769441"/>
          </a:xfrm>
          <a:prstGeom prst="rect">
            <a:avLst/>
          </a:prstGeom>
          <a:noFill/>
          <a:effectLst>
            <a:outerShdw blurRad="50800" dist="88900" dir="2700000" algn="tl" rotWithShape="0">
              <a:schemeClr val="bg1">
                <a:alpha val="40000"/>
              </a:schemeClr>
            </a:outerShdw>
          </a:effectLst>
        </p:spPr>
        <p:txBody>
          <a:bodyPr wrap="none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4400" b="1" i="0" u="none" strike="noStrike" kern="1200" cap="none" spc="0" normalizeH="0" baseline="0" noProof="0" dirty="0">
                <a:ln>
                  <a:noFill/>
                </a:ln>
                <a:solidFill>
                  <a:srgbClr val="0645AD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⊂</a:t>
            </a:r>
            <a:endParaRPr kumimoji="0" lang="pt-PT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42" name="Speech Bubble: Rectangle 41">
            <a:extLst>
              <a:ext uri="{FF2B5EF4-FFF2-40B4-BE49-F238E27FC236}">
                <a16:creationId xmlns:a16="http://schemas.microsoft.com/office/drawing/2014/main" id="{79007EFE-5D7A-41BC-9914-0012C2E39275}"/>
              </a:ext>
            </a:extLst>
          </p:cNvPr>
          <p:cNvSpPr/>
          <p:nvPr/>
        </p:nvSpPr>
        <p:spPr>
          <a:xfrm>
            <a:off x="2157928" y="1244459"/>
            <a:ext cx="1430895" cy="288147"/>
          </a:xfrm>
          <a:prstGeom prst="wedgeRectCallout">
            <a:avLst/>
          </a:prstGeom>
          <a:solidFill>
            <a:schemeClr val="tx1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36000" tIns="36000" rIns="36000" bIns="36000" rtlCol="0" anchor="t">
            <a:spAutoFit/>
          </a:bodyPr>
          <a:lstStyle/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square post-it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F173AA0-1DC6-4E8A-8BC2-7BC8E1E52403}"/>
              </a:ext>
            </a:extLst>
          </p:cNvPr>
          <p:cNvSpPr txBox="1"/>
          <p:nvPr/>
        </p:nvSpPr>
        <p:spPr>
          <a:xfrm>
            <a:off x="596511" y="1816814"/>
            <a:ext cx="2825197" cy="954107"/>
          </a:xfrm>
          <a:prstGeom prst="rect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rtlCol="0">
            <a:spAutoFit/>
          </a:bodyPr>
          <a:lstStyle/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slash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</a:t>
            </a:r>
          </a:p>
          <a:p>
            <a:pPr marL="800073" marR="0" lvl="1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followed </a:t>
            </a:r>
          </a:p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by </a:t>
            </a:r>
          </a:p>
          <a:p>
            <a:pPr marL="800073" marR="0" lvl="1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two consecutive asterisks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445998E-B9E0-450B-B4CB-45822AEF0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1784" y="1017051"/>
            <a:ext cx="2819089" cy="1233604"/>
          </a:xfrm>
          <a:prstGeom prst="rect">
            <a:avLst/>
          </a:prstGeom>
          <a:ln w="50800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0800" dist="127000" dir="2700000" algn="tl" rotWithShape="0">
              <a:schemeClr val="bg1">
                <a:alpha val="40000"/>
              </a:schemeClr>
            </a:outerShdw>
          </a:effec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08A7C638-5E21-411A-8DB8-B34B86A5195B}"/>
              </a:ext>
            </a:extLst>
          </p:cNvPr>
          <p:cNvGrpSpPr/>
          <p:nvPr/>
        </p:nvGrpSpPr>
        <p:grpSpPr>
          <a:xfrm>
            <a:off x="261442" y="4179726"/>
            <a:ext cx="1757548" cy="289586"/>
            <a:chOff x="5881666" y="1590687"/>
            <a:chExt cx="1757548" cy="289586"/>
          </a:xfrm>
        </p:grpSpPr>
        <p:sp>
          <p:nvSpPr>
            <p:cNvPr id="22" name="Retângulo 5">
              <a:extLst>
                <a:ext uri="{FF2B5EF4-FFF2-40B4-BE49-F238E27FC236}">
                  <a16:creationId xmlns:a16="http://schemas.microsoft.com/office/drawing/2014/main" id="{D6D9B7B9-E922-474A-9604-497F2E4C0AAE}"/>
                </a:ext>
              </a:extLst>
            </p:cNvPr>
            <p:cNvSpPr/>
            <p:nvPr/>
          </p:nvSpPr>
          <p:spPr>
            <a:xfrm>
              <a:off x="6081095" y="1603274"/>
              <a:ext cx="155811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3"/>
                </a:rPr>
                <a:t>entity framework plus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3" name="Picture 22" descr="Icon&#10;&#10;Description automatically generated">
              <a:extLst>
                <a:ext uri="{FF2B5EF4-FFF2-40B4-BE49-F238E27FC236}">
                  <a16:creationId xmlns:a16="http://schemas.microsoft.com/office/drawing/2014/main" id="{24B73C90-D5FA-44E4-A9BA-5A25A7089D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2A5372C-BF23-4DD1-B84D-A97DCF885AD8}"/>
              </a:ext>
            </a:extLst>
          </p:cNvPr>
          <p:cNvGrpSpPr/>
          <p:nvPr/>
        </p:nvGrpSpPr>
        <p:grpSpPr>
          <a:xfrm>
            <a:off x="238309" y="3772837"/>
            <a:ext cx="1452384" cy="283293"/>
            <a:chOff x="5611636" y="5954426"/>
            <a:chExt cx="1452385" cy="283293"/>
          </a:xfrm>
        </p:grpSpPr>
        <p:pic>
          <p:nvPicPr>
            <p:cNvPr id="28" name="Picture 27" descr="Icon&#10;&#10;Description automatically generated">
              <a:extLst>
                <a:ext uri="{FF2B5EF4-FFF2-40B4-BE49-F238E27FC236}">
                  <a16:creationId xmlns:a16="http://schemas.microsoft.com/office/drawing/2014/main" id="{C14A7DDB-9D0A-42FA-8AE2-ECECEE19F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29" name="Retângulo 5">
              <a:extLst>
                <a:ext uri="{FF2B5EF4-FFF2-40B4-BE49-F238E27FC236}">
                  <a16:creationId xmlns:a16="http://schemas.microsoft.com/office/drawing/2014/main" id="{2C3464DC-863E-4361-935F-522237E7A133}"/>
                </a:ext>
              </a:extLst>
            </p:cNvPr>
            <p:cNvSpPr/>
            <p:nvPr/>
          </p:nvSpPr>
          <p:spPr>
            <a:xfrm>
              <a:off x="6107411" y="5954426"/>
              <a:ext cx="95661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6" action="ppaction://hlinkpres?slideindex=1&amp;slidetitle="/>
                </a:rPr>
                <a:t>introduction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3DBE82E-A82D-4677-8A19-683B4B93F017}"/>
              </a:ext>
            </a:extLst>
          </p:cNvPr>
          <p:cNvGrpSpPr/>
          <p:nvPr/>
        </p:nvGrpSpPr>
        <p:grpSpPr>
          <a:xfrm>
            <a:off x="304221" y="3307233"/>
            <a:ext cx="1355442" cy="330654"/>
            <a:chOff x="421365" y="4900305"/>
            <a:chExt cx="1355443" cy="330654"/>
          </a:xfrm>
        </p:grpSpPr>
        <p:sp>
          <p:nvSpPr>
            <p:cNvPr id="32" name="Retângulo 5">
              <a:extLst>
                <a:ext uri="{FF2B5EF4-FFF2-40B4-BE49-F238E27FC236}">
                  <a16:creationId xmlns:a16="http://schemas.microsoft.com/office/drawing/2014/main" id="{6A7CEFA0-0CCF-4F88-9B65-C6508FBF8450}"/>
                </a:ext>
              </a:extLst>
            </p:cNvPr>
            <p:cNvSpPr/>
            <p:nvPr/>
          </p:nvSpPr>
          <p:spPr>
            <a:xfrm>
              <a:off x="702474" y="4953960"/>
              <a:ext cx="107433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7" action="ppaction://hlinkpres?slideindex=1&amp;slidetitle="/>
                </a:rPr>
                <a:t>functionalities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CEB76E67-591A-4CE5-8666-F4DF923D567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21365" y="4900305"/>
              <a:ext cx="276999" cy="276999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89B9DD3-97AA-4CD5-8C66-FFB990370CCC}"/>
              </a:ext>
            </a:extLst>
          </p:cNvPr>
          <p:cNvGrpSpPr/>
          <p:nvPr/>
        </p:nvGrpSpPr>
        <p:grpSpPr>
          <a:xfrm>
            <a:off x="290665" y="2916452"/>
            <a:ext cx="3350796" cy="299662"/>
            <a:chOff x="1643297" y="4045816"/>
            <a:chExt cx="3350796" cy="299662"/>
          </a:xfrm>
        </p:grpSpPr>
        <p:sp>
          <p:nvSpPr>
            <p:cNvPr id="35" name="CaixaDeTexto 17">
              <a:hlinkClick r:id="rId10" action="ppaction://program"/>
              <a:extLst>
                <a:ext uri="{FF2B5EF4-FFF2-40B4-BE49-F238E27FC236}">
                  <a16:creationId xmlns:a16="http://schemas.microsoft.com/office/drawing/2014/main" id="{C4FEBFE7-3F98-4DDB-B986-E3F0FBEC1A0E}"/>
                </a:ext>
              </a:extLst>
            </p:cNvPr>
            <p:cNvSpPr txBox="1"/>
            <p:nvPr/>
          </p:nvSpPr>
          <p:spPr>
            <a:xfrm>
              <a:off x="1980063" y="4103314"/>
              <a:ext cx="3014030" cy="184666"/>
            </a:xfrm>
            <a:prstGeom prst="rect">
              <a:avLst/>
            </a:prstGeom>
            <a:noFill/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sng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50000"/>
                    </a:srgbClr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1" action="ppaction://hlinkfile"/>
                </a:rPr>
                <a:t>D:\A1_research\C2_c0dice\B1_jmeter\A1_install</a:t>
              </a:r>
              <a:endPara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  <p:pic>
          <p:nvPicPr>
            <p:cNvPr id="37" name="Imagem 18">
              <a:hlinkClick r:id="rId10" action="ppaction://program"/>
              <a:extLst>
                <a:ext uri="{FF2B5EF4-FFF2-40B4-BE49-F238E27FC236}">
                  <a16:creationId xmlns:a16="http://schemas.microsoft.com/office/drawing/2014/main" id="{9DA85EDB-3BB2-4480-9EAC-60E04204F5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3297" y="4045816"/>
              <a:ext cx="295651" cy="299662"/>
            </a:xfrm>
            <a:prstGeom prst="rect">
              <a:avLst/>
            </a:prstGeom>
          </p:spPr>
        </p:pic>
      </p:grpSp>
      <p:sp>
        <p:nvSpPr>
          <p:cNvPr id="24" name="Texto Explicativo 1 23"/>
          <p:cNvSpPr/>
          <p:nvPr/>
        </p:nvSpPr>
        <p:spPr>
          <a:xfrm flipH="1">
            <a:off x="321498" y="5499311"/>
            <a:ext cx="1682631" cy="442035"/>
          </a:xfrm>
          <a:prstGeom prst="borderCallout1">
            <a:avLst>
              <a:gd name="adj1" fmla="val 57951"/>
              <a:gd name="adj2" fmla="val -2146"/>
              <a:gd name="adj3" fmla="val -108706"/>
              <a:gd name="adj4" fmla="val -25813"/>
            </a:avLst>
          </a:prstGeom>
          <a:solidFill>
            <a:schemeClr val="tx1"/>
          </a:solidFill>
          <a:ln w="25400">
            <a:solidFill>
              <a:schemeClr val="tx2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spAutoFit/>
          </a:bodyPr>
          <a:lstStyle/>
          <a:p>
            <a:pPr marL="228592" marR="0" lvl="0" indent="-228592" algn="just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every key-frame</a:t>
            </a:r>
          </a:p>
          <a:p>
            <a:pPr marL="228592" marR="0" lvl="0" indent="-228592" algn="just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defines the operation </a:t>
            </a:r>
          </a:p>
        </p:txBody>
      </p:sp>
      <p:cxnSp>
        <p:nvCxnSpPr>
          <p:cNvPr id="26" name="Conector Angulado 25"/>
          <p:cNvCxnSpPr>
            <a:stCxn id="3" idx="1"/>
          </p:cNvCxnSpPr>
          <p:nvPr/>
        </p:nvCxnSpPr>
        <p:spPr>
          <a:xfrm rot="10800000" flipH="1">
            <a:off x="3949147" y="3636580"/>
            <a:ext cx="3460441" cy="742678"/>
          </a:xfrm>
          <a:prstGeom prst="bentConnector3">
            <a:avLst>
              <a:gd name="adj1" fmla="val 32839"/>
            </a:avLst>
          </a:prstGeom>
          <a:ln w="95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tângulo 20"/>
          <p:cNvSpPr/>
          <p:nvPr/>
        </p:nvSpPr>
        <p:spPr>
          <a:xfrm>
            <a:off x="4222781" y="2693963"/>
            <a:ext cx="2047445" cy="4449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peech Bubble: Rectangle 43">
            <a:extLst>
              <a:ext uri="{FF2B5EF4-FFF2-40B4-BE49-F238E27FC236}">
                <a16:creationId xmlns:a16="http://schemas.microsoft.com/office/drawing/2014/main" id="{F6BD38D4-616B-4E52-AF29-D8B40FBECD17}"/>
              </a:ext>
            </a:extLst>
          </p:cNvPr>
          <p:cNvSpPr/>
          <p:nvPr/>
        </p:nvSpPr>
        <p:spPr>
          <a:xfrm>
            <a:off x="9131603" y="1155794"/>
            <a:ext cx="973655" cy="442035"/>
          </a:xfrm>
          <a:prstGeom prst="wedgeRectCallout">
            <a:avLst>
              <a:gd name="adj1" fmla="val 37971"/>
              <a:gd name="adj2" fmla="val 86512"/>
            </a:avLst>
          </a:prstGeom>
          <a:solidFill>
            <a:schemeClr val="tx1"/>
          </a:solidFill>
          <a:ln>
            <a:solidFill>
              <a:schemeClr val="accent1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download </a:t>
            </a:r>
          </a:p>
          <a:p>
            <a:pPr marL="685776" marR="0" lvl="1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exe</a:t>
            </a:r>
          </a:p>
        </p:txBody>
      </p:sp>
      <p:sp>
        <p:nvSpPr>
          <p:cNvPr id="46" name="Speech Bubble: Rectangle 45">
            <a:extLst>
              <a:ext uri="{FF2B5EF4-FFF2-40B4-BE49-F238E27FC236}">
                <a16:creationId xmlns:a16="http://schemas.microsoft.com/office/drawing/2014/main" id="{15AAAA5B-560F-4C04-8412-8AC4C406E504}"/>
              </a:ext>
            </a:extLst>
          </p:cNvPr>
          <p:cNvSpPr/>
          <p:nvPr/>
        </p:nvSpPr>
        <p:spPr>
          <a:xfrm>
            <a:off x="8424446" y="1351608"/>
            <a:ext cx="412540" cy="246221"/>
          </a:xfrm>
          <a:prstGeom prst="wedgeRectCallout">
            <a:avLst>
              <a:gd name="adj1" fmla="val 50293"/>
              <a:gd name="adj2" fmla="val 102854"/>
            </a:avLst>
          </a:prstGeom>
          <a:solidFill>
            <a:schemeClr val="tx1"/>
          </a:solidFill>
          <a:ln w="12700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0" rIns="36000" bIns="0" rtlCol="0" anchor="ctr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why</a:t>
            </a:r>
          </a:p>
        </p:txBody>
      </p:sp>
      <p:sp>
        <p:nvSpPr>
          <p:cNvPr id="47" name="Speech Bubble: Rectangle 46">
            <a:extLst>
              <a:ext uri="{FF2B5EF4-FFF2-40B4-BE49-F238E27FC236}">
                <a16:creationId xmlns:a16="http://schemas.microsoft.com/office/drawing/2014/main" id="{FB1F092E-1B0D-4BB5-806F-AA343368C3AF}"/>
              </a:ext>
            </a:extLst>
          </p:cNvPr>
          <p:cNvSpPr/>
          <p:nvPr/>
        </p:nvSpPr>
        <p:spPr>
          <a:xfrm>
            <a:off x="10325013" y="1155794"/>
            <a:ext cx="973655" cy="442035"/>
          </a:xfrm>
          <a:prstGeom prst="wedgeRectCallout">
            <a:avLst>
              <a:gd name="adj1" fmla="val 37971"/>
              <a:gd name="adj2" fmla="val 86512"/>
            </a:avLst>
          </a:prstGeom>
          <a:solidFill>
            <a:schemeClr val="tx1"/>
          </a:solidFill>
          <a:ln>
            <a:solidFill>
              <a:schemeClr val="accent2">
                <a:lumMod val="75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download </a:t>
            </a:r>
          </a:p>
          <a:p>
            <a:pPr marL="685776" marR="0" lvl="1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exe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E284B9F-C4D8-A57A-BF8B-CF836910A207}"/>
              </a:ext>
            </a:extLst>
          </p:cNvPr>
          <p:cNvGrpSpPr/>
          <p:nvPr/>
        </p:nvGrpSpPr>
        <p:grpSpPr>
          <a:xfrm>
            <a:off x="1797877" y="3763539"/>
            <a:ext cx="944016" cy="286297"/>
            <a:chOff x="2738297" y="4386269"/>
            <a:chExt cx="944016" cy="28629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D5766B8-790D-759C-ADD6-4326FD84DB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clrChange>
                <a:clrFrom>
                  <a:srgbClr val="1E1F20"/>
                </a:clrFrom>
                <a:clrTo>
                  <a:srgbClr val="1E1F2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738297" y="4386269"/>
              <a:ext cx="217052" cy="274320"/>
            </a:xfrm>
            <a:prstGeom prst="rect">
              <a:avLst/>
            </a:prstGeom>
          </p:spPr>
        </p:pic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CC32A992-D5D5-61BD-D9A8-230175E6B43D}"/>
                </a:ext>
              </a:extLst>
            </p:cNvPr>
            <p:cNvSpPr/>
            <p:nvPr/>
          </p:nvSpPr>
          <p:spPr>
            <a:xfrm>
              <a:off x="2928581" y="4395567"/>
              <a:ext cx="75373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4" action="ppaction://hlinksldjump"/>
                </a:rPr>
                <a:t>build-exe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416EAEF-D73C-1B4B-6613-895962B3B06F}"/>
              </a:ext>
            </a:extLst>
          </p:cNvPr>
          <p:cNvGrpSpPr/>
          <p:nvPr/>
        </p:nvGrpSpPr>
        <p:grpSpPr>
          <a:xfrm>
            <a:off x="304221" y="4578790"/>
            <a:ext cx="616475" cy="215444"/>
            <a:chOff x="3185324" y="4875184"/>
            <a:chExt cx="616475" cy="215444"/>
          </a:xfrm>
        </p:grpSpPr>
        <p:pic>
          <p:nvPicPr>
            <p:cNvPr id="8" name="Picture 2" descr="Citekeeper Is A Crowdsourced - Play Icon White Png (841x764), Png Download">
              <a:extLst>
                <a:ext uri="{FF2B5EF4-FFF2-40B4-BE49-F238E27FC236}">
                  <a16:creationId xmlns:a16="http://schemas.microsoft.com/office/drawing/2014/main" id="{53F747F5-8112-4BCE-7DCC-A69372F4C7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5324" y="4899831"/>
              <a:ext cx="182880" cy="166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Retângulo 5">
              <a:extLst>
                <a:ext uri="{FF2B5EF4-FFF2-40B4-BE49-F238E27FC236}">
                  <a16:creationId xmlns:a16="http://schemas.microsoft.com/office/drawing/2014/main" id="{13F14E3A-2447-8E89-E7FE-CE197AD1B9F0}"/>
                </a:ext>
              </a:extLst>
            </p:cNvPr>
            <p:cNvSpPr/>
            <p:nvPr/>
          </p:nvSpPr>
          <p:spPr>
            <a:xfrm>
              <a:off x="3304547" y="4875184"/>
              <a:ext cx="497252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6" action="ppaction://hlinkfile"/>
                </a:rPr>
                <a:t>zig help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</p:grpSp>
      <p:sp>
        <p:nvSpPr>
          <p:cNvPr id="3" name="Right Brace 2">
            <a:extLst>
              <a:ext uri="{FF2B5EF4-FFF2-40B4-BE49-F238E27FC236}">
                <a16:creationId xmlns:a16="http://schemas.microsoft.com/office/drawing/2014/main" id="{28F89B6D-FD21-4FB5-B0CE-885E5C11A610}"/>
              </a:ext>
            </a:extLst>
          </p:cNvPr>
          <p:cNvSpPr/>
          <p:nvPr/>
        </p:nvSpPr>
        <p:spPr>
          <a:xfrm>
            <a:off x="3829878" y="4179726"/>
            <a:ext cx="119270" cy="399064"/>
          </a:xfrm>
          <a:prstGeom prst="rightBrac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073845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72045</TotalTime>
  <Words>181</Words>
  <Application>Microsoft Office PowerPoint</Application>
  <PresentationFormat>Widescreen</PresentationFormat>
  <Paragraphs>65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Consolas</vt:lpstr>
      <vt:lpstr>Wingdings</vt:lpstr>
      <vt:lpstr>Tema do Office</vt:lpstr>
      <vt:lpstr>Office Theme</vt:lpstr>
      <vt:lpstr>1. setup</vt:lpstr>
      <vt:lpstr>2. aws cli</vt:lpstr>
      <vt:lpstr>3. pulumi aws</vt:lpstr>
      <vt:lpstr>4. pulumi stack</vt:lpstr>
      <vt:lpstr>5. pulumi region</vt:lpstr>
      <vt:lpstr>6. pulumi pinecone</vt:lpstr>
      <vt:lpstr>7. pulumi index</vt:lpstr>
      <vt:lpstr>Z. template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Evaristo</dc:creator>
  <cp:lastModifiedBy>Evaristo</cp:lastModifiedBy>
  <cp:revision>1177</cp:revision>
  <dcterms:created xsi:type="dcterms:W3CDTF">2019-03-25T09:18:39Z</dcterms:created>
  <dcterms:modified xsi:type="dcterms:W3CDTF">2024-03-18T13:57:20Z</dcterms:modified>
</cp:coreProperties>
</file>