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9" r:id="rId3"/>
    <p:sldId id="382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7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IaC.pptx" TargetMode="External"/><Relationship Id="rId7" Type="http://schemas.openxmlformats.org/officeDocument/2006/relationships/hyperlink" Target="pinecone/bedroc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pinecone/architecture.pptx" TargetMode="External"/><Relationship Id="rId5" Type="http://schemas.openxmlformats.org/officeDocument/2006/relationships/hyperlink" Target="IaC/pulumi.pptx" TargetMode="External"/><Relationship Id="rId4" Type="http://schemas.openxmlformats.org/officeDocument/2006/relationships/hyperlink" Target="lexicon/infrastructure.ppt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aws.amazon.com/bedrock/latest/userguide/knowledge-base-setup.html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ws.amazon.com/marketplace/pp/prodview-xhgyscinlz4jk" TargetMode="External"/><Relationship Id="rId4" Type="http://schemas.openxmlformats.org/officeDocument/2006/relationships/hyperlink" Target="https://docs.pinecone.io/docs/quickstar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pinecone.io/docs/overview#:~:text=It%E2%80%99s%20a%20managed%2C%20cloud%2Dnative%20vector%20database%20with%20a%20simple%20API%20and%20no%20infrastructure%20hassles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lexicon.pptx#-1,6,3.1 pinecon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linkedin.com/pulse/weaviate-pinecone-comparison-skitsanos/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pinecone.io/learn/vector-databas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alb-bb7a288-930816092.us-west-2.elb.amazonaws.com/" TargetMode="External"/><Relationship Id="rId2" Type="http://schemas.openxmlformats.org/officeDocument/2006/relationships/hyperlink" Target="https://www.pinecone.io/pricing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us-west-2.console.aws.amazon.com/bedrock/home?region=us-west-2#/knowledge-bases/1010836-knowledge-base-pinecone-demo/BAFZYFLYH5/1?modelId=anthropic.claude-v2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8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0454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pinecone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211FC9-03A2-CFD8-377E-3564E2F88877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67A19B12-ADF2-92CB-5AFA-1F5B4F74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9876C4DB-C154-F5B2-EF1C-930A67EDC15A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60931-980B-B7EC-E3DF-1863B52D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0F104B-6892-84D0-1863-14F853705757}"/>
              </a:ext>
            </a:extLst>
          </p:cNvPr>
          <p:cNvSpPr/>
          <p:nvPr/>
        </p:nvSpPr>
        <p:spPr>
          <a:xfrm>
            <a:off x="104588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A1CDD-1C67-BD9E-6ADF-9BD0CC88B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507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index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BD0345-471C-D633-AA89-F75D5ACD1DF9}"/>
              </a:ext>
            </a:extLst>
          </p:cNvPr>
          <p:cNvGrpSpPr/>
          <p:nvPr/>
        </p:nvGrpSpPr>
        <p:grpSpPr>
          <a:xfrm>
            <a:off x="217032" y="618248"/>
            <a:ext cx="874404" cy="283293"/>
            <a:chOff x="5611636" y="5954426"/>
            <a:chExt cx="874405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CDDBAEE7-920C-27D7-ECE5-E8AB902CC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053DB0D4-BF14-7ED3-54A2-5EB029DA8A39}"/>
                </a:ext>
              </a:extLst>
            </p:cNvPr>
            <p:cNvSpPr/>
            <p:nvPr/>
          </p:nvSpPr>
          <p:spPr>
            <a:xfrm>
              <a:off x="6107411" y="5954426"/>
              <a:ext cx="3786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IaC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D85DC0B-42CA-9A15-D093-C3249100EEE2}"/>
              </a:ext>
            </a:extLst>
          </p:cNvPr>
          <p:cNvGrpSpPr/>
          <p:nvPr/>
        </p:nvGrpSpPr>
        <p:grpSpPr>
          <a:xfrm>
            <a:off x="217032" y="246736"/>
            <a:ext cx="2060623" cy="283293"/>
            <a:chOff x="5611636" y="5954426"/>
            <a:chExt cx="2060623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E23EE72E-9FB6-BDFD-E9A4-8303CFD24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ACAE4560-FACA-7243-BBAE-7F1862B22EC5}"/>
                </a:ext>
              </a:extLst>
            </p:cNvPr>
            <p:cNvSpPr/>
            <p:nvPr/>
          </p:nvSpPr>
          <p:spPr>
            <a:xfrm>
              <a:off x="6107407" y="5954426"/>
              <a:ext cx="156485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lexicon: infrastructure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223A2A-19EE-C0BB-EA10-9140E59FAEF0}"/>
              </a:ext>
            </a:extLst>
          </p:cNvPr>
          <p:cNvGrpSpPr/>
          <p:nvPr/>
        </p:nvGrpSpPr>
        <p:grpSpPr>
          <a:xfrm>
            <a:off x="534008" y="1002948"/>
            <a:ext cx="1114855" cy="283293"/>
            <a:chOff x="5611636" y="5954426"/>
            <a:chExt cx="1114856" cy="283293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F63F7C4F-FF58-2CC2-2B4C-DCBEBB70C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E5B4332A-1D04-6650-DF80-0189CED45C26}"/>
                </a:ext>
              </a:extLst>
            </p:cNvPr>
            <p:cNvSpPr/>
            <p:nvPr/>
          </p:nvSpPr>
          <p:spPr>
            <a:xfrm>
              <a:off x="6107411" y="5954426"/>
              <a:ext cx="61908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pulumi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D97BA2-2384-1B8C-58E1-68490E542EB2}"/>
              </a:ext>
            </a:extLst>
          </p:cNvPr>
          <p:cNvGrpSpPr/>
          <p:nvPr/>
        </p:nvGrpSpPr>
        <p:grpSpPr>
          <a:xfrm>
            <a:off x="208435" y="1410863"/>
            <a:ext cx="1443470" cy="283293"/>
            <a:chOff x="5611636" y="5954426"/>
            <a:chExt cx="1443471" cy="283293"/>
          </a:xfrm>
        </p:grpSpPr>
        <p:pic>
          <p:nvPicPr>
            <p:cNvPr id="14" name="Picture 13" descr="Icon&#10;&#10;Description automatically generated">
              <a:extLst>
                <a:ext uri="{FF2B5EF4-FFF2-40B4-BE49-F238E27FC236}">
                  <a16:creationId xmlns:a16="http://schemas.microsoft.com/office/drawing/2014/main" id="{C1558061-83A1-282C-F985-EED661BFE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AB8EC330-7D8A-F6D2-BF70-077AE1669AFB}"/>
                </a:ext>
              </a:extLst>
            </p:cNvPr>
            <p:cNvSpPr/>
            <p:nvPr/>
          </p:nvSpPr>
          <p:spPr>
            <a:xfrm>
              <a:off x="6107411" y="5954426"/>
              <a:ext cx="94769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 action="ppaction://hlinkpres?slideindex=1&amp;slidetitle="/>
                </a:rPr>
                <a:t>architecture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898658-0F37-064F-BAA5-A3C2369DBF77}"/>
              </a:ext>
            </a:extLst>
          </p:cNvPr>
          <p:cNvGrpSpPr/>
          <p:nvPr/>
        </p:nvGrpSpPr>
        <p:grpSpPr>
          <a:xfrm>
            <a:off x="217031" y="1759160"/>
            <a:ext cx="1188592" cy="283293"/>
            <a:chOff x="5611636" y="5954426"/>
            <a:chExt cx="1188593" cy="283293"/>
          </a:xfrm>
        </p:grpSpPr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A8EEA1AE-703B-61A0-C29C-4E8B36D29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8" name="Retângulo 5">
              <a:extLst>
                <a:ext uri="{FF2B5EF4-FFF2-40B4-BE49-F238E27FC236}">
                  <a16:creationId xmlns:a16="http://schemas.microsoft.com/office/drawing/2014/main" id="{925797C7-301A-BFCB-06F1-EA9248875202}"/>
                </a:ext>
              </a:extLst>
            </p:cNvPr>
            <p:cNvSpPr/>
            <p:nvPr/>
          </p:nvSpPr>
          <p:spPr>
            <a:xfrm>
              <a:off x="6107411" y="5954426"/>
              <a:ext cx="69281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 action="ppaction://hlinkpres?slideindex=1&amp;slidetitle="/>
                </a:rPr>
                <a:t>bedrock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528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A9E5B-BFB3-36A7-EB06-2BD23D12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D6FE807-C132-5AD0-5D48-68C2ED30FFD6}"/>
              </a:ext>
            </a:extLst>
          </p:cNvPr>
          <p:cNvSpPr/>
          <p:nvPr/>
        </p:nvSpPr>
        <p:spPr>
          <a:xfrm>
            <a:off x="838362" y="270907"/>
            <a:ext cx="251307" cy="689214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E9084-E8B0-5BF3-C99A-FECB77F1DD56}"/>
              </a:ext>
            </a:extLst>
          </p:cNvPr>
          <p:cNvSpPr/>
          <p:nvPr/>
        </p:nvSpPr>
        <p:spPr>
          <a:xfrm>
            <a:off x="104588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3A834-4920-740F-D44F-52A1C8093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8453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1.2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sources</a:t>
            </a: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0042EF0F-159A-88BD-A72C-5F5348551ED7}"/>
              </a:ext>
            </a:extLst>
          </p:cNvPr>
          <p:cNvSpPr/>
          <p:nvPr/>
        </p:nvSpPr>
        <p:spPr>
          <a:xfrm>
            <a:off x="256927" y="308252"/>
            <a:ext cx="633313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aws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C7FAE3-457E-169A-1D42-04CF34DF3C44}"/>
              </a:ext>
            </a:extLst>
          </p:cNvPr>
          <p:cNvGrpSpPr/>
          <p:nvPr/>
        </p:nvGrpSpPr>
        <p:grpSpPr>
          <a:xfrm>
            <a:off x="1042579" y="283784"/>
            <a:ext cx="3548423" cy="289586"/>
            <a:chOff x="5881666" y="1590687"/>
            <a:chExt cx="3548423" cy="289586"/>
          </a:xfrm>
        </p:grpSpPr>
        <p:sp>
          <p:nvSpPr>
            <p:cNvPr id="35" name="Retângulo 5">
              <a:extLst>
                <a:ext uri="{FF2B5EF4-FFF2-40B4-BE49-F238E27FC236}">
                  <a16:creationId xmlns:a16="http://schemas.microsoft.com/office/drawing/2014/main" id="{374F79A2-8647-5F6E-AB43-BBECFE955BC1}"/>
                </a:ext>
              </a:extLst>
            </p:cNvPr>
            <p:cNvSpPr/>
            <p:nvPr/>
          </p:nvSpPr>
          <p:spPr>
            <a:xfrm>
              <a:off x="6081095" y="1603274"/>
              <a:ext cx="334899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/bedrock/latest/user guide/knowledge-base-setup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Picture 35" descr="Icon&#10;&#10;Description automatically generated">
              <a:extLst>
                <a:ext uri="{FF2B5EF4-FFF2-40B4-BE49-F238E27FC236}">
                  <a16:creationId xmlns:a16="http://schemas.microsoft.com/office/drawing/2014/main" id="{280E4E32-F45C-33D1-2C23-39840F948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AB239D-EB5E-9EA2-CBCB-9246EF280BB3}"/>
              </a:ext>
            </a:extLst>
          </p:cNvPr>
          <p:cNvGrpSpPr/>
          <p:nvPr/>
        </p:nvGrpSpPr>
        <p:grpSpPr>
          <a:xfrm>
            <a:off x="976536" y="1439533"/>
            <a:ext cx="2567385" cy="289586"/>
            <a:chOff x="5881666" y="1590687"/>
            <a:chExt cx="2567385" cy="289586"/>
          </a:xfrm>
        </p:grpSpPr>
        <p:sp>
          <p:nvSpPr>
            <p:cNvPr id="37" name="Retângulo 5">
              <a:extLst>
                <a:ext uri="{FF2B5EF4-FFF2-40B4-BE49-F238E27FC236}">
                  <a16:creationId xmlns:a16="http://schemas.microsoft.com/office/drawing/2014/main" id="{13659040-5203-23DB-E458-B676890B7FC8}"/>
                </a:ext>
              </a:extLst>
            </p:cNvPr>
            <p:cNvSpPr/>
            <p:nvPr/>
          </p:nvSpPr>
          <p:spPr>
            <a:xfrm>
              <a:off x="6081095" y="1603274"/>
              <a:ext cx="236795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/docs.pinecone.io/docs/quick start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8" name="Picture 37" descr="Icon&#10;&#10;Description automatically generated">
              <a:extLst>
                <a:ext uri="{FF2B5EF4-FFF2-40B4-BE49-F238E27FC236}">
                  <a16:creationId xmlns:a16="http://schemas.microsoft.com/office/drawing/2014/main" id="{92829290-1331-3427-6A7E-D2384E6E8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39" name="Arrow: Right 5">
            <a:extLst>
              <a:ext uri="{FF2B5EF4-FFF2-40B4-BE49-F238E27FC236}">
                <a16:creationId xmlns:a16="http://schemas.microsoft.com/office/drawing/2014/main" id="{B60B344A-9F18-8699-CB99-0A6179B8184A}"/>
              </a:ext>
            </a:extLst>
          </p:cNvPr>
          <p:cNvSpPr/>
          <p:nvPr/>
        </p:nvSpPr>
        <p:spPr>
          <a:xfrm>
            <a:off x="256927" y="1439533"/>
            <a:ext cx="72468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code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AAA8359-D9ED-36B0-5E19-5FF8854861CE}"/>
              </a:ext>
            </a:extLst>
          </p:cNvPr>
          <p:cNvGrpSpPr/>
          <p:nvPr/>
        </p:nvGrpSpPr>
        <p:grpSpPr>
          <a:xfrm>
            <a:off x="1042579" y="573370"/>
            <a:ext cx="2947297" cy="289586"/>
            <a:chOff x="5881666" y="1590687"/>
            <a:chExt cx="2947297" cy="289586"/>
          </a:xfrm>
        </p:grpSpPr>
        <p:sp>
          <p:nvSpPr>
            <p:cNvPr id="41" name="Retângulo 5">
              <a:extLst>
                <a:ext uri="{FF2B5EF4-FFF2-40B4-BE49-F238E27FC236}">
                  <a16:creationId xmlns:a16="http://schemas.microsoft.com/office/drawing/2014/main" id="{02B86C27-E326-62F4-037D-0089A744E5FB}"/>
                </a:ext>
              </a:extLst>
            </p:cNvPr>
            <p:cNvSpPr/>
            <p:nvPr/>
          </p:nvSpPr>
          <p:spPr>
            <a:xfrm>
              <a:off x="6081095" y="1603274"/>
              <a:ext cx="274786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aws.amazon.com/marketplace/pinecone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2" name="Picture 41" descr="Icon&#10;&#10;Description automatically generated">
              <a:extLst>
                <a:ext uri="{FF2B5EF4-FFF2-40B4-BE49-F238E27FC236}">
                  <a16:creationId xmlns:a16="http://schemas.microsoft.com/office/drawing/2014/main" id="{E8462DF3-495D-5FF7-ED56-5B7BAB942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655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C6DDB-2B69-3962-A6D6-D6D38BAA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FB6B237D-3DA8-A7CD-73BF-C3E36E3F6777}"/>
              </a:ext>
            </a:extLst>
          </p:cNvPr>
          <p:cNvSpPr/>
          <p:nvPr/>
        </p:nvSpPr>
        <p:spPr>
          <a:xfrm>
            <a:off x="1613203" y="246474"/>
            <a:ext cx="2518886" cy="996033"/>
          </a:xfrm>
          <a:prstGeom prst="wedgeRectCallout">
            <a:avLst>
              <a:gd name="adj1" fmla="val 25971"/>
              <a:gd name="adj2" fmla="val 3594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vector database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cloud-native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managed </a:t>
            </a: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- no infrastructure hassles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 low latency 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scale of billions of vectors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1FFA78-9E3E-1608-858B-B0468ED25D3B}"/>
              </a:ext>
            </a:extLst>
          </p:cNvPr>
          <p:cNvSpPr/>
          <p:nvPr/>
        </p:nvSpPr>
        <p:spPr>
          <a:xfrm>
            <a:off x="104588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7E418-7A42-1432-D16C-DE1DF05E4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4485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what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B0FC2F-3D0C-A61D-B860-F03969B7C1B0}"/>
              </a:ext>
            </a:extLst>
          </p:cNvPr>
          <p:cNvGrpSpPr/>
          <p:nvPr/>
        </p:nvGrpSpPr>
        <p:grpSpPr>
          <a:xfrm>
            <a:off x="3432202" y="1343013"/>
            <a:ext cx="699887" cy="289586"/>
            <a:chOff x="5881666" y="1590687"/>
            <a:chExt cx="699887" cy="289586"/>
          </a:xfrm>
        </p:grpSpPr>
        <p:sp>
          <p:nvSpPr>
            <p:cNvPr id="37" name="Retângulo 5">
              <a:extLst>
                <a:ext uri="{FF2B5EF4-FFF2-40B4-BE49-F238E27FC236}">
                  <a16:creationId xmlns:a16="http://schemas.microsoft.com/office/drawing/2014/main" id="{37EF91EE-050E-C725-7254-1B1EF55E0DBA}"/>
                </a:ext>
              </a:extLst>
            </p:cNvPr>
            <p:cNvSpPr/>
            <p:nvPr/>
          </p:nvSpPr>
          <p:spPr>
            <a:xfrm>
              <a:off x="6081095" y="1603274"/>
              <a:ext cx="50045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what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8" name="Picture 37" descr="Icon&#10;&#10;Description automatically generated">
              <a:extLst>
                <a:ext uri="{FF2B5EF4-FFF2-40B4-BE49-F238E27FC236}">
                  <a16:creationId xmlns:a16="http://schemas.microsoft.com/office/drawing/2014/main" id="{32DF1696-3E50-E834-A6B1-0A36E7965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39" name="Arrow: Right 5">
            <a:extLst>
              <a:ext uri="{FF2B5EF4-FFF2-40B4-BE49-F238E27FC236}">
                <a16:creationId xmlns:a16="http://schemas.microsoft.com/office/drawing/2014/main" id="{5D3F9884-251D-7706-D861-6215E7D20DD9}"/>
              </a:ext>
            </a:extLst>
          </p:cNvPr>
          <p:cNvSpPr/>
          <p:nvPr/>
        </p:nvSpPr>
        <p:spPr>
          <a:xfrm>
            <a:off x="251852" y="291453"/>
            <a:ext cx="1312986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245848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D72F1-0C83-3369-3144-09743503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D3A666-4387-4898-9BB2-62F89997F5EA}"/>
              </a:ext>
            </a:extLst>
          </p:cNvPr>
          <p:cNvSpPr/>
          <p:nvPr/>
        </p:nvSpPr>
        <p:spPr>
          <a:xfrm>
            <a:off x="104588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EBEB1-DBD9-2E35-0B71-E121A0A30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8721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why</a:t>
            </a:r>
          </a:p>
        </p:txBody>
      </p:sp>
      <p:sp>
        <p:nvSpPr>
          <p:cNvPr id="39" name="Arrow: Right 5">
            <a:extLst>
              <a:ext uri="{FF2B5EF4-FFF2-40B4-BE49-F238E27FC236}">
                <a16:creationId xmlns:a16="http://schemas.microsoft.com/office/drawing/2014/main" id="{3E6CE96A-C3CC-2D91-DA3B-ED0683B72009}"/>
              </a:ext>
            </a:extLst>
          </p:cNvPr>
          <p:cNvSpPr/>
          <p:nvPr/>
        </p:nvSpPr>
        <p:spPr>
          <a:xfrm>
            <a:off x="251852" y="291453"/>
            <a:ext cx="64293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see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95FF73-6433-AD54-22BD-3D6ACB43F49D}"/>
              </a:ext>
            </a:extLst>
          </p:cNvPr>
          <p:cNvGrpSpPr/>
          <p:nvPr/>
        </p:nvGrpSpPr>
        <p:grpSpPr>
          <a:xfrm>
            <a:off x="959677" y="291453"/>
            <a:ext cx="1683000" cy="286297"/>
            <a:chOff x="2738297" y="4386269"/>
            <a:chExt cx="1683000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479C24-30B3-CA7F-AC50-C834B2595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EBCC661C-D9EC-E8F9-0136-5F4FFFA1E3AA}"/>
                </a:ext>
              </a:extLst>
            </p:cNvPr>
            <p:cNvSpPr/>
            <p:nvPr/>
          </p:nvSpPr>
          <p:spPr>
            <a:xfrm>
              <a:off x="2928581" y="4395567"/>
              <a:ext cx="14927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3" action="ppaction://hlinkpres?slideindex=6&amp;slidetitle=3.1 pinecone"/>
                </a:rPr>
                <a:t>lexicon: 3.1 pinecone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BD978E4-6E9E-6653-3EBB-5216AF724749}"/>
              </a:ext>
            </a:extLst>
          </p:cNvPr>
          <p:cNvGrpSpPr/>
          <p:nvPr/>
        </p:nvGrpSpPr>
        <p:grpSpPr>
          <a:xfrm>
            <a:off x="251852" y="901701"/>
            <a:ext cx="4821207" cy="289586"/>
            <a:chOff x="5881666" y="1590687"/>
            <a:chExt cx="4821207" cy="289586"/>
          </a:xfrm>
        </p:grpSpPr>
        <p:sp>
          <p:nvSpPr>
            <p:cNvPr id="7" name="Retângulo 5">
              <a:extLst>
                <a:ext uri="{FF2B5EF4-FFF2-40B4-BE49-F238E27FC236}">
                  <a16:creationId xmlns:a16="http://schemas.microsoft.com/office/drawing/2014/main" id="{970331B9-1374-F384-4BCC-1845AA03DA8F}"/>
                </a:ext>
              </a:extLst>
            </p:cNvPr>
            <p:cNvSpPr/>
            <p:nvPr/>
          </p:nvSpPr>
          <p:spPr>
            <a:xfrm>
              <a:off x="6081095" y="1603274"/>
              <a:ext cx="462177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What is a Vector Database &amp; How Does it Work? Use Cases + Examples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3EC11242-8BA1-6BEE-88E9-4D1721E87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61AF0CE1-A936-5397-088A-D51D937E565A}"/>
              </a:ext>
            </a:extLst>
          </p:cNvPr>
          <p:cNvSpPr/>
          <p:nvPr/>
        </p:nvSpPr>
        <p:spPr>
          <a:xfrm>
            <a:off x="5421402" y="712630"/>
            <a:ext cx="2219125" cy="442035"/>
          </a:xfrm>
          <a:prstGeom prst="wedgeRectCallout">
            <a:avLst>
              <a:gd name="adj1" fmla="val -70254"/>
              <a:gd name="adj2" fmla="val 33319"/>
            </a:avLst>
          </a:prstGeom>
          <a:solidFill>
            <a:sysClr val="windowText" lastClr="000000"/>
          </a:solidFill>
          <a:ln>
            <a:solidFill>
              <a:srgbClr val="ED7D31">
                <a:lumMod val="75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very important</a:t>
            </a:r>
          </a:p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to understand the inner works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30C629-2B5E-5D40-1EC3-87B13E29F40C}"/>
              </a:ext>
            </a:extLst>
          </p:cNvPr>
          <p:cNvGrpSpPr/>
          <p:nvPr/>
        </p:nvGrpSpPr>
        <p:grpSpPr>
          <a:xfrm>
            <a:off x="251852" y="1303323"/>
            <a:ext cx="2357392" cy="289586"/>
            <a:chOff x="5881666" y="1590687"/>
            <a:chExt cx="2357392" cy="289586"/>
          </a:xfrm>
        </p:grpSpPr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42A429C6-D018-6B66-2113-5883C99453B9}"/>
                </a:ext>
              </a:extLst>
            </p:cNvPr>
            <p:cNvSpPr/>
            <p:nvPr/>
          </p:nvSpPr>
          <p:spPr>
            <a:xfrm>
              <a:off x="6081095" y="1603274"/>
              <a:ext cx="215796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/>
                </a:rPr>
                <a:t>weaviate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/>
                </a:rPr>
                <a:t>-pinecone-comparison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54CB67B3-17FD-5E26-F225-234BEFDEF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608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E631A-8152-1661-286B-8DD088D4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B81D-91A9-9B07-580E-A803FE808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2423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335A49-D1B8-9442-3E02-FC80C3DB7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47482"/>
              </p:ext>
            </p:extLst>
          </p:nvPr>
        </p:nvGraphicFramePr>
        <p:xfrm>
          <a:off x="431936" y="421352"/>
          <a:ext cx="5599074" cy="4480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67268">
                  <a:extLst>
                    <a:ext uri="{9D8B030D-6E8A-4147-A177-3AD203B41FA5}">
                      <a16:colId xmlns:a16="http://schemas.microsoft.com/office/drawing/2014/main" val="1621375891"/>
                    </a:ext>
                  </a:extLst>
                </a:gridCol>
                <a:gridCol w="812737">
                  <a:extLst>
                    <a:ext uri="{9D8B030D-6E8A-4147-A177-3AD203B41FA5}">
                      <a16:colId xmlns:a16="http://schemas.microsoft.com/office/drawing/2014/main" val="2817633603"/>
                    </a:ext>
                  </a:extLst>
                </a:gridCol>
                <a:gridCol w="1380300">
                  <a:extLst>
                    <a:ext uri="{9D8B030D-6E8A-4147-A177-3AD203B41FA5}">
                      <a16:colId xmlns:a16="http://schemas.microsoft.com/office/drawing/2014/main" val="905354715"/>
                    </a:ext>
                  </a:extLst>
                </a:gridCol>
                <a:gridCol w="1138769">
                  <a:extLst>
                    <a:ext uri="{9D8B030D-6E8A-4147-A177-3AD203B41FA5}">
                      <a16:colId xmlns:a16="http://schemas.microsoft.com/office/drawing/2014/main" val="639387842"/>
                    </a:ext>
                  </a:extLst>
                </a:gridCol>
              </a:tblGrid>
              <a:tr h="303673">
                <a:tc gridSpan="2"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Criteria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Pinecone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Weaviate 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06771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303724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Multitenancy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Yes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Yes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81135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Filters (user profile/metadata)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Yes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???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025343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Serverless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Yes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Yes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44306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Partitions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Yes</a:t>
                      </a:r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???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726889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Freshness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Yes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???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174553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Quality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75189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Fernando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762440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Costs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Create scenario</a:t>
                      </a:r>
                      <a:endParaRPr lang="en-US" sz="1400" b="0" kern="1200" noProof="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  <a:hlinkClick r:id="rId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  <a:hlinkClick r:id="rId2"/>
                        </a:rPr>
                        <a:t>Simulator</a:t>
                      </a:r>
                      <a:endParaRPr lang="en-US" sz="1400" b="0" kern="1200" noProof="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235321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Unstructured data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Note book</a:t>
                      </a:r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479271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Structured data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  <a:hlinkClick r:id="rId3"/>
                        </a:rPr>
                        <a:t>Client App</a:t>
                      </a:r>
                      <a:endParaRPr lang="en-US" sz="1400" b="0" kern="1200" noProof="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55427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AWS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  <a:hlinkClick r:id="rId4"/>
                        </a:rPr>
                        <a:t>Knowledge Bases</a:t>
                      </a:r>
                      <a:endParaRPr lang="en-US" sz="1400" b="0" kern="1200" noProof="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491740"/>
                  </a:ext>
                </a:extLst>
              </a:tr>
              <a:tr h="303673">
                <a:tc>
                  <a:txBody>
                    <a:bodyPr/>
                    <a:lstStyle/>
                    <a:p>
                      <a:r>
                        <a:rPr lang="en-US" sz="1400" b="0" noProof="0" dirty="0">
                          <a:solidFill>
                            <a:schemeClr val="bg1"/>
                          </a:solidFill>
                          <a:latin typeface="+mj-lt"/>
                        </a:rPr>
                        <a:t>Azure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kern="1200" noProof="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noProof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0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52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9AABA-9D31-F49F-1050-0C51F77A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5DAA-1E5E-3FCE-FFEC-7594FA086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4056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3.1.1 multitenancy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20C2CD4-9911-9B1F-BACD-24063B0B5318}"/>
              </a:ext>
            </a:extLst>
          </p:cNvPr>
          <p:cNvSpPr/>
          <p:nvPr/>
        </p:nvSpPr>
        <p:spPr>
          <a:xfrm>
            <a:off x="183452" y="172383"/>
            <a:ext cx="1082595" cy="257369"/>
          </a:xfrm>
          <a:prstGeom prst="wedgeRectCallout">
            <a:avLst>
              <a:gd name="adj1" fmla="val 22566"/>
              <a:gd name="adj2" fmla="val -2074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Namespaces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D4281111-FB23-1F0E-713C-C000AD7FA3F2}"/>
              </a:ext>
            </a:extLst>
          </p:cNvPr>
          <p:cNvSpPr/>
          <p:nvPr/>
        </p:nvSpPr>
        <p:spPr>
          <a:xfrm>
            <a:off x="548637" y="643931"/>
            <a:ext cx="6781271" cy="442035"/>
          </a:xfrm>
          <a:prstGeom prst="wedgeRectCallout">
            <a:avLst>
              <a:gd name="adj1" fmla="val 22566"/>
              <a:gd name="adj2" fmla="val -2074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One approach to multitenancy is to use namespaces to isolate segments of vectors within a single index. 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This is a 'pool' model that shares most resources between tenants while keeping them logically separate.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AD5664AE-F35E-BE95-457F-81261E807718}"/>
              </a:ext>
            </a:extLst>
          </p:cNvPr>
          <p:cNvSpPr/>
          <p:nvPr/>
        </p:nvSpPr>
        <p:spPr>
          <a:xfrm>
            <a:off x="548637" y="3129617"/>
            <a:ext cx="9847815" cy="996033"/>
          </a:xfrm>
          <a:prstGeom prst="wedgeRectCallout">
            <a:avLst>
              <a:gd name="adj1" fmla="val 22566"/>
              <a:gd name="adj2" fmla="val -2074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We must avoid collocating different types of users on the same hardware to keep costs and latencies low. 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If we have user A, who makes 20 queries a second almost every day on the same hardware as user B who makes 20 queries a month,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User B will be stuck on compute hardware 24/7 as that is required for the constantly low latencies that user A needs.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To cover this problem, a vector database must be able to identify users with similar usage and collocate them while keeping full separation between them.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 Again, this can be done based on user usage metrics and automatic allocation of hot/cold infrastructure based on usage.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0284A4B6-DBB7-1F1F-0032-76AF156BC288}"/>
              </a:ext>
            </a:extLst>
          </p:cNvPr>
          <p:cNvSpPr/>
          <p:nvPr/>
        </p:nvSpPr>
        <p:spPr>
          <a:xfrm>
            <a:off x="548637" y="1675911"/>
            <a:ext cx="5349789" cy="257369"/>
          </a:xfrm>
          <a:prstGeom prst="wedgeRectCallout">
            <a:avLst>
              <a:gd name="adj1" fmla="val 22566"/>
              <a:gd name="adj2" fmla="val -2074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Namespaces reduce the need for additional indexes, reducing maintenance effort</a:t>
            </a:r>
            <a:endParaRPr lang="en-US" sz="1200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5185E61C-18D0-14E3-D9AF-B5F2CFEC0C77}"/>
              </a:ext>
            </a:extLst>
          </p:cNvPr>
          <p:cNvSpPr/>
          <p:nvPr/>
        </p:nvSpPr>
        <p:spPr>
          <a:xfrm>
            <a:off x="183451" y="1203219"/>
            <a:ext cx="1020078" cy="257369"/>
          </a:xfrm>
          <a:prstGeom prst="wedgeRectCallout">
            <a:avLst>
              <a:gd name="adj1" fmla="val 22566"/>
              <a:gd name="adj2" fmla="val -2074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Advantages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B09D0985-9DDF-2DAF-202D-DE2213251821}"/>
              </a:ext>
            </a:extLst>
          </p:cNvPr>
          <p:cNvSpPr/>
          <p:nvPr/>
        </p:nvSpPr>
        <p:spPr>
          <a:xfrm>
            <a:off x="548637" y="2519581"/>
            <a:ext cx="3846172" cy="442035"/>
          </a:xfrm>
          <a:prstGeom prst="wedgeRectCallout">
            <a:avLst>
              <a:gd name="adj1" fmla="val 22566"/>
              <a:gd name="adj2" fmla="val -2074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Tenants share compute and storage resources.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Deleting tenant data is complicated and takes more time.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3DC2FDEB-90A1-2FCE-2094-BA0E43E6939F}"/>
              </a:ext>
            </a:extLst>
          </p:cNvPr>
          <p:cNvSpPr/>
          <p:nvPr/>
        </p:nvSpPr>
        <p:spPr>
          <a:xfrm>
            <a:off x="183451" y="2078788"/>
            <a:ext cx="1191599" cy="257369"/>
          </a:xfrm>
          <a:prstGeom prst="wedgeRectCallout">
            <a:avLst>
              <a:gd name="adj1" fmla="val 22566"/>
              <a:gd name="adj2" fmla="val -2074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Disadvantages</a:t>
            </a:r>
            <a:endParaRPr lang="en-US" sz="1200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04654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99E28-1EBB-406A-318D-C724A30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417-10ED-E6A2-2E30-F1E30B18A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4005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3.1.5 serverless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C59143C2-63B1-946B-8E0E-492CAB79F2E1}"/>
              </a:ext>
            </a:extLst>
          </p:cNvPr>
          <p:cNvSpPr/>
          <p:nvPr/>
        </p:nvSpPr>
        <p:spPr>
          <a:xfrm>
            <a:off x="560985" y="615548"/>
            <a:ext cx="7558727" cy="442035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A serverless architecture is a way to build and run applications and services without having to manage infrastructure. 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>
                <a:solidFill>
                  <a:prstClr val="white"/>
                </a:solidFill>
                <a:latin typeface="Calibri Light" panose="020F0302020204030204"/>
              </a:rPr>
              <a:t>Your application still runs on servers, but all the server management is done by the provide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CFD971B3-8A42-2CBF-4081-F4B3B5635915}"/>
              </a:ext>
            </a:extLst>
          </p:cNvPr>
          <p:cNvSpPr/>
          <p:nvPr/>
        </p:nvSpPr>
        <p:spPr>
          <a:xfrm>
            <a:off x="253726" y="204357"/>
            <a:ext cx="643372" cy="257369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57D3DD95-28D1-EC4E-724F-8D233AAB5F97}"/>
              </a:ext>
            </a:extLst>
          </p:cNvPr>
          <p:cNvSpPr/>
          <p:nvPr/>
        </p:nvSpPr>
        <p:spPr>
          <a:xfrm>
            <a:off x="248342" y="1211405"/>
            <a:ext cx="587268" cy="257369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8473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9B331-767C-0AC0-AD32-0C73748D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CA62-B97F-BBD8-D524-975319E79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2402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3.1.6 partitions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B65C555-575C-5C82-39AE-CF9E11524CBF}"/>
              </a:ext>
            </a:extLst>
          </p:cNvPr>
          <p:cNvSpPr/>
          <p:nvPr/>
        </p:nvSpPr>
        <p:spPr>
          <a:xfrm>
            <a:off x="808275" y="2182097"/>
            <a:ext cx="8073291" cy="996033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Decoupling the index storage from queries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Storage: </a:t>
            </a:r>
          </a:p>
          <a:p>
            <a:pPr marL="1142992" lvl="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This refers to where the data (in this case, vector embeddings) is stored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Compute: </a:t>
            </a:r>
          </a:p>
          <a:p>
            <a:pPr marL="1142992" lvl="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This refers to the resources (like CPU, GPU) that perform operations on the data, such as queries and searches.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386AFA35-B2D9-C772-6EB6-4255257C47B2}"/>
              </a:ext>
            </a:extLst>
          </p:cNvPr>
          <p:cNvSpPr/>
          <p:nvPr/>
        </p:nvSpPr>
        <p:spPr>
          <a:xfrm>
            <a:off x="253726" y="1303736"/>
            <a:ext cx="2557358" cy="257369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Separation of storage from compute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6E01F510-A8F9-B2E6-3FFC-42212EE7B7BE}"/>
              </a:ext>
            </a:extLst>
          </p:cNvPr>
          <p:cNvSpPr/>
          <p:nvPr/>
        </p:nvSpPr>
        <p:spPr>
          <a:xfrm>
            <a:off x="560985" y="1770908"/>
            <a:ext cx="643372" cy="257369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What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8B425F7-6F0A-BF43-CB0E-518D1B82AEBB}"/>
              </a:ext>
            </a:extLst>
          </p:cNvPr>
          <p:cNvSpPr/>
          <p:nvPr/>
        </p:nvSpPr>
        <p:spPr>
          <a:xfrm>
            <a:off x="808275" y="3799122"/>
            <a:ext cx="9272337" cy="1734697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Cost Optimization: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Compute resources are often more expensive than storage.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 By decoupling, you only use compute resources when needed (e.g., when a query is made), which can lead to significant cost savings.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Scalability: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You can scale storage and compute resources independently.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If your data grows, you can increase your storage capacity without necessarily increasing your compute capacity, and vice versa.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Performance: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By only using compute resources when needed, you can ensure that these resources are available and not being wasted when not in use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Leading to better overall system performance.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7D3E60B-152C-AA4D-390F-46537DB44E5E}"/>
              </a:ext>
            </a:extLst>
          </p:cNvPr>
          <p:cNvSpPr/>
          <p:nvPr/>
        </p:nvSpPr>
        <p:spPr>
          <a:xfrm>
            <a:off x="550516" y="3353892"/>
            <a:ext cx="587268" cy="257369"/>
          </a:xfrm>
          <a:prstGeom prst="wedgeRectCallout">
            <a:avLst>
              <a:gd name="adj1" fmla="val 24885"/>
              <a:gd name="adj2" fmla="val 1885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Why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21300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22781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3160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70374</TotalTime>
  <Words>593</Words>
  <Application>Microsoft Office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pinecone</vt:lpstr>
      <vt:lpstr>1.1 index</vt:lpstr>
      <vt:lpstr>1.2 sources</vt:lpstr>
      <vt:lpstr>2. what</vt:lpstr>
      <vt:lpstr>3. why</vt:lpstr>
      <vt:lpstr>3.1 table</vt:lpstr>
      <vt:lpstr>3.1.1 multitenancy</vt:lpstr>
      <vt:lpstr>3.1.5 serverless</vt:lpstr>
      <vt:lpstr>3.1.6 partitions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1155</cp:revision>
  <dcterms:created xsi:type="dcterms:W3CDTF">2019-03-25T09:18:39Z</dcterms:created>
  <dcterms:modified xsi:type="dcterms:W3CDTF">2024-04-01T02:49:23Z</dcterms:modified>
</cp:coreProperties>
</file>