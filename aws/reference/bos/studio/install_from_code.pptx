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9" r:id="rId3"/>
    <p:sldId id="397" r:id="rId4"/>
    <p:sldId id="394" r:id="rId5"/>
    <p:sldId id="395" r:id="rId6"/>
    <p:sldId id="396" r:id="rId7"/>
    <p:sldId id="410" r:id="rId8"/>
    <p:sldId id="411" r:id="rId9"/>
    <p:sldId id="412" r:id="rId10"/>
    <p:sldId id="398" r:id="rId11"/>
    <p:sldId id="377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11" d="100"/>
          <a:sy n="111" d="100"/>
        </p:scale>
        <p:origin x="96" y="11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11/04/2024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../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hyperlink" Target="../studio.pptx" TargetMode="External"/><Relationship Id="rId4" Type="http://schemas.openxmlformats.org/officeDocument/2006/relationships/hyperlink" Target="../../BOS.pptx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microsoft.github.io/autogen/blog/2023/12/01/AutoGenStudio/#what-can-you-do-with-autogen-studio" TargetMode="External"/><Relationship Id="rId13" Type="http://schemas.openxmlformats.org/officeDocument/2006/relationships/hyperlink" Target="https://microsoft.github.io/autogen/blog/2023/12/01/AutoGenStudio/#road-map-and-next-steps" TargetMode="External"/><Relationship Id="rId18" Type="http://schemas.openxmlformats.org/officeDocument/2006/relationships/image" Target="../media/image3.png"/><Relationship Id="rId3" Type="http://schemas.openxmlformats.org/officeDocument/2006/relationships/hyperlink" Target="https://microsoft.github.io/autogen/blog/2023/12/01/AutoGenStudio/#introduction" TargetMode="External"/><Relationship Id="rId7" Type="http://schemas.openxmlformats.org/officeDocument/2006/relationships/hyperlink" Target="https://microsoft.github.io/autogen/blog/2023/12/01/AutoGenStudio/#running-the-application" TargetMode="External"/><Relationship Id="rId12" Type="http://schemas.openxmlformats.org/officeDocument/2006/relationships/hyperlink" Target="https://microsoft.github.io/autogen/blog/2023/12/01/AutoGenStudio/#the-autogen-studio-api" TargetMode="External"/><Relationship Id="rId17" Type="http://schemas.openxmlformats.org/officeDocument/2006/relationships/image" Target="../media/image2.png"/><Relationship Id="rId2" Type="http://schemas.openxmlformats.org/officeDocument/2006/relationships/hyperlink" Target="https://microsoft.github.io/autogen/blog/2023/12/01/AutoGenStudio/#tldr" TargetMode="External"/><Relationship Id="rId16" Type="http://schemas.openxmlformats.org/officeDocument/2006/relationships/hyperlink" Target="https://microsoft.github.io/autogen/blog/2023/12/01/AutoGenStudio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microsoft.github.io/autogen/blog/2023/12/01/AutoGenStudio/#installation" TargetMode="External"/><Relationship Id="rId11" Type="http://schemas.openxmlformats.org/officeDocument/2006/relationships/hyperlink" Target="https://microsoft.github.io/autogen/blog/2023/12/01/AutoGenStudio/#gallery" TargetMode="External"/><Relationship Id="rId5" Type="http://schemas.openxmlformats.org/officeDocument/2006/relationships/hyperlink" Target="https://microsoft.github.io/autogen/blog/2023/12/01/AutoGenStudio/#configuring-an-llm-provider" TargetMode="External"/><Relationship Id="rId15" Type="http://schemas.openxmlformats.org/officeDocument/2006/relationships/hyperlink" Target="https://microsoft.github.io/autogen/blog/2023/12/01/AutoGenStudio/#faq" TargetMode="External"/><Relationship Id="rId10" Type="http://schemas.openxmlformats.org/officeDocument/2006/relationships/hyperlink" Target="https://microsoft.github.io/autogen/blog/2023/12/01/AutoGenStudio/#playground" TargetMode="External"/><Relationship Id="rId19" Type="http://schemas.openxmlformats.org/officeDocument/2006/relationships/slide" Target="slide3.xml"/><Relationship Id="rId4" Type="http://schemas.openxmlformats.org/officeDocument/2006/relationships/hyperlink" Target="https://microsoft.github.io/autogen/blog/2023/12/01/AutoGenStudio/#getting-started-with-autogen-studio" TargetMode="External"/><Relationship Id="rId9" Type="http://schemas.openxmlformats.org/officeDocument/2006/relationships/hyperlink" Target="https://microsoft.github.io/autogen/blog/2023/12/01/AutoGenStudio/#build" TargetMode="External"/><Relationship Id="rId14" Type="http://schemas.openxmlformats.org/officeDocument/2006/relationships/hyperlink" Target="https://microsoft.github.io/autogen/blog/2023/12/01/AutoGenStudio/#contribution-guid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autogen/tree/main/samples/apps/autogen-studio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hyperlink" Target="../../../../autogen/OAI_CONFIG_LIST" TargetMode="External"/><Relationship Id="rId2" Type="http://schemas.openxmlformats.org/officeDocument/2006/relationships/hyperlink" Target="https://microsoft.github.io/autogen/blog/2023/12/01/AutoGenStudio/#configuring-an-llm-provider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file:///C:\Windows\explorer.exe%20F:\ides\AZ_vStudio2017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pip.pypa.io/en/stable/cli/pip_install/" TargetMode="External"/><Relationship Id="rId13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hyperlink" Target="../../../../autogen/samples/apps/autogen-studio/frontend/.commands/build.bat" TargetMode="External"/><Relationship Id="rId2" Type="http://schemas.openxmlformats.org/officeDocument/2006/relationships/hyperlink" Target="https://microsoft.github.io/autogen/blog/2023/12/01/AutoGenStudio/#installation" TargetMode="External"/><Relationship Id="rId16" Type="http://schemas.openxmlformats.org/officeDocument/2006/relationships/hyperlink" Target="install_from_code_commands.pptx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../../../../autogen" TargetMode="External"/><Relationship Id="rId11" Type="http://schemas.openxmlformats.org/officeDocument/2006/relationships/hyperlink" Target="https://packaging.python.org/en/latest/guides/writing-pyproject-toml/" TargetMode="External"/><Relationship Id="rId5" Type="http://schemas.openxmlformats.org/officeDocument/2006/relationships/hyperlink" Target="file:///C:\Windows\explorer.exe%20F:\ides\AZ_vStudio2017" TargetMode="External"/><Relationship Id="rId15" Type="http://schemas.openxmlformats.org/officeDocument/2006/relationships/image" Target="../media/image1.png"/><Relationship Id="rId10" Type="http://schemas.openxmlformats.org/officeDocument/2006/relationships/hyperlink" Target="https://yarnpkg.com/" TargetMode="External"/><Relationship Id="rId4" Type="http://schemas.openxmlformats.org/officeDocument/2006/relationships/hyperlink" Target="https://github.com/microsoft/autogen/tree/main/samples/apps/autogen-studio#installation" TargetMode="External"/><Relationship Id="rId9" Type="http://schemas.openxmlformats.org/officeDocument/2006/relationships/hyperlink" Target="https://www.gatsbyjs.com/" TargetMode="External"/><Relationship Id="rId14" Type="http://schemas.openxmlformats.org/officeDocument/2006/relationships/hyperlink" Target="../../../../portfolio/python/pip/pip.pptx#-1,4,3.1 editable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hyperlink" Target="../../../../portfolio/python/pip/pip.pptx#-1,4,3.1 editable" TargetMode="Externa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hyperlink" Target="../../../../autogen/samples/apps/autogen-studio/frontend/package.json" TargetMode="External"/><Relationship Id="rId5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3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8.png"/><Relationship Id="rId2" Type="http://schemas.openxmlformats.org/officeDocument/2006/relationships/image" Target="../media/image19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23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20.png"/><Relationship Id="rId9" Type="http://schemas.openxmlformats.org/officeDocument/2006/relationships/image" Target="../media/image22.svg"/><Relationship Id="rId14" Type="http://schemas.openxmlformats.org/officeDocument/2006/relationships/slide" Target="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35239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code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5A99C1-6379-F149-F2BA-AD06BBD2502D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8CCE1E08-7F3E-411C-D374-F715EEB13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07736282-E5D3-8B8C-CA99-00E73D434310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927D2DD-A78A-2D1D-79D2-042252EC8366}"/>
              </a:ext>
            </a:extLst>
          </p:cNvPr>
          <p:cNvGrpSpPr/>
          <p:nvPr/>
        </p:nvGrpSpPr>
        <p:grpSpPr>
          <a:xfrm>
            <a:off x="10525306" y="421276"/>
            <a:ext cx="936920" cy="283293"/>
            <a:chOff x="5611636" y="5954426"/>
            <a:chExt cx="936921" cy="283293"/>
          </a:xfrm>
        </p:grpSpPr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1E7A7458-43C3-32E3-7249-AD34FA2E0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CC5C1C4C-82C0-8116-57AD-1B2149445B29}"/>
                </a:ext>
              </a:extLst>
            </p:cNvPr>
            <p:cNvSpPr/>
            <p:nvPr/>
          </p:nvSpPr>
          <p:spPr>
            <a:xfrm>
              <a:off x="6107411" y="5954426"/>
              <a:ext cx="44114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BOS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583472-D0B3-042D-582F-87145D321B59}"/>
              </a:ext>
            </a:extLst>
          </p:cNvPr>
          <p:cNvGrpSpPr/>
          <p:nvPr/>
        </p:nvGrpSpPr>
        <p:grpSpPr>
          <a:xfrm>
            <a:off x="10552621" y="723449"/>
            <a:ext cx="1069971" cy="283293"/>
            <a:chOff x="5611636" y="5954426"/>
            <a:chExt cx="1069972" cy="283293"/>
          </a:xfrm>
        </p:grpSpPr>
        <p:pic>
          <p:nvPicPr>
            <p:cNvPr id="7" name="Picture 6" descr="Icon&#10;&#10;Description automatically generated">
              <a:extLst>
                <a:ext uri="{FF2B5EF4-FFF2-40B4-BE49-F238E27FC236}">
                  <a16:creationId xmlns:a16="http://schemas.microsoft.com/office/drawing/2014/main" id="{2AFF8F48-C01A-A6BD-51ED-FEF365221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9A0AB005-59A8-37D9-20DE-36BE0334F6BA}"/>
                </a:ext>
              </a:extLst>
            </p:cNvPr>
            <p:cNvSpPr/>
            <p:nvPr/>
          </p:nvSpPr>
          <p:spPr>
            <a:xfrm>
              <a:off x="6107411" y="5954426"/>
              <a:ext cx="57419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 action="ppaction://hlinkpres?slideindex=1&amp;slidetitle="/>
                </a:rPr>
                <a:t>studio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264851-4FA5-C345-2935-168E5CA67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68F37B-AB20-A865-5480-5540576078C5}"/>
              </a:ext>
            </a:extLst>
          </p:cNvPr>
          <p:cNvSpPr txBox="1"/>
          <p:nvPr/>
        </p:nvSpPr>
        <p:spPr>
          <a:xfrm>
            <a:off x="973690" y="233969"/>
            <a:ext cx="2768600" cy="5678478"/>
          </a:xfrm>
          <a:prstGeom prst="rect">
            <a:avLst/>
          </a:prstGeom>
          <a:solidFill>
            <a:schemeClr val="tx1"/>
          </a:solidFill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square">
            <a:spAutoFit/>
          </a:bodyPr>
          <a:lstStyle/>
          <a:p>
            <a:pPr marL="171450" indent="-171450"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C1E21"/>
                </a:solidFill>
                <a:effectLst/>
                <a:latin typeface="+mj-lt"/>
                <a:hlinkClick r:id="rId2"/>
              </a:rPr>
              <a:t>TL;DR</a:t>
            </a:r>
            <a:endParaRPr lang="en-US" sz="1200" b="0" i="0" dirty="0">
              <a:solidFill>
                <a:srgbClr val="1C1E21"/>
              </a:solidFill>
              <a:effectLst/>
              <a:latin typeface="+mj-lt"/>
            </a:endParaRPr>
          </a:p>
          <a:p>
            <a:pPr marL="171450" indent="-171450"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C1E21"/>
                </a:solidFill>
                <a:effectLst/>
                <a:latin typeface="+mj-lt"/>
                <a:hlinkClick r:id="rId3"/>
              </a:rPr>
              <a:t>Introduction</a:t>
            </a:r>
            <a:endParaRPr lang="en-US" sz="1200" b="0" i="0" dirty="0">
              <a:solidFill>
                <a:srgbClr val="1C1E21"/>
              </a:solidFill>
              <a:effectLst/>
              <a:latin typeface="+mj-lt"/>
            </a:endParaRPr>
          </a:p>
          <a:p>
            <a:pPr marL="171450" indent="-171450"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C1E21"/>
                </a:solidFill>
                <a:effectLst/>
                <a:latin typeface="+mj-lt"/>
                <a:hlinkClick r:id="rId4"/>
              </a:rPr>
              <a:t>Getting Started with AutoGen Studio</a:t>
            </a:r>
            <a:endParaRPr lang="en-US" sz="1200" b="0" i="0" dirty="0">
              <a:solidFill>
                <a:srgbClr val="1C1E21"/>
              </a:solidFill>
              <a:effectLst/>
              <a:latin typeface="+mj-lt"/>
            </a:endParaRPr>
          </a:p>
          <a:p>
            <a:pPr marL="628650" lvl="1" indent="-171450"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C1E21"/>
                </a:solidFill>
                <a:effectLst/>
                <a:latin typeface="+mj-lt"/>
                <a:hlinkClick r:id="rId5"/>
              </a:rPr>
              <a:t>Configuring an LLM Provider</a:t>
            </a:r>
            <a:endParaRPr lang="en-US" sz="1200" b="0" i="0" dirty="0">
              <a:solidFill>
                <a:srgbClr val="1C1E21"/>
              </a:solidFill>
              <a:effectLst/>
              <a:latin typeface="+mj-lt"/>
            </a:endParaRPr>
          </a:p>
          <a:p>
            <a:pPr marL="628650" lvl="1" indent="-171450"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C1E21"/>
                </a:solidFill>
                <a:effectLst/>
                <a:latin typeface="+mj-lt"/>
                <a:hlinkClick r:id="rId6"/>
              </a:rPr>
              <a:t>Installation</a:t>
            </a:r>
            <a:endParaRPr lang="en-US" sz="1200" b="0" i="0" dirty="0">
              <a:solidFill>
                <a:srgbClr val="1C1E21"/>
              </a:solidFill>
              <a:effectLst/>
              <a:latin typeface="+mj-lt"/>
            </a:endParaRPr>
          </a:p>
          <a:p>
            <a:pPr marL="628650" lvl="1" indent="-171450"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C1E21"/>
                </a:solidFill>
                <a:effectLst/>
                <a:latin typeface="+mj-lt"/>
                <a:hlinkClick r:id="rId7"/>
              </a:rPr>
              <a:t>Running the Application</a:t>
            </a:r>
            <a:endParaRPr lang="en-US" sz="1200" b="0" i="0" dirty="0">
              <a:solidFill>
                <a:srgbClr val="1C1E21"/>
              </a:solidFill>
              <a:effectLst/>
              <a:latin typeface="+mj-lt"/>
            </a:endParaRPr>
          </a:p>
          <a:p>
            <a:pPr marL="171450" indent="-171450"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C1E21"/>
                </a:solidFill>
                <a:effectLst/>
                <a:latin typeface="+mj-lt"/>
                <a:hlinkClick r:id="rId8"/>
              </a:rPr>
              <a:t>What Can You Do with AutoGen Studio?</a:t>
            </a:r>
            <a:endParaRPr lang="en-US" sz="1200" b="0" i="0" dirty="0">
              <a:solidFill>
                <a:srgbClr val="1C1E21"/>
              </a:solidFill>
              <a:effectLst/>
              <a:latin typeface="+mj-lt"/>
            </a:endParaRPr>
          </a:p>
          <a:p>
            <a:pPr marL="628650" lvl="1" indent="-171450"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C1E21"/>
                </a:solidFill>
                <a:effectLst/>
                <a:latin typeface="+mj-lt"/>
                <a:hlinkClick r:id="rId9"/>
              </a:rPr>
              <a:t>Build</a:t>
            </a:r>
            <a:endParaRPr lang="en-US" sz="1200" b="0" i="0" dirty="0">
              <a:solidFill>
                <a:srgbClr val="1C1E21"/>
              </a:solidFill>
              <a:effectLst/>
              <a:latin typeface="+mj-lt"/>
            </a:endParaRPr>
          </a:p>
          <a:p>
            <a:pPr marL="628650" lvl="1" indent="-171450"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C1E21"/>
                </a:solidFill>
                <a:effectLst/>
                <a:latin typeface="+mj-lt"/>
                <a:hlinkClick r:id="rId10"/>
              </a:rPr>
              <a:t>Playground</a:t>
            </a:r>
            <a:endParaRPr lang="en-US" sz="1200" b="0" i="0" dirty="0">
              <a:solidFill>
                <a:srgbClr val="1C1E21"/>
              </a:solidFill>
              <a:effectLst/>
              <a:latin typeface="+mj-lt"/>
            </a:endParaRPr>
          </a:p>
          <a:p>
            <a:pPr marL="628650" lvl="1" indent="-171450"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C1E21"/>
                </a:solidFill>
                <a:effectLst/>
                <a:latin typeface="+mj-lt"/>
                <a:hlinkClick r:id="rId11"/>
              </a:rPr>
              <a:t>Gallery</a:t>
            </a:r>
            <a:endParaRPr lang="en-US" sz="1200" b="0" i="0" dirty="0">
              <a:solidFill>
                <a:srgbClr val="1C1E21"/>
              </a:solidFill>
              <a:effectLst/>
              <a:latin typeface="+mj-lt"/>
            </a:endParaRPr>
          </a:p>
          <a:p>
            <a:pPr marL="171450" indent="-171450"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C1E21"/>
                </a:solidFill>
                <a:effectLst/>
                <a:latin typeface="+mj-lt"/>
                <a:hlinkClick r:id="rId12"/>
              </a:rPr>
              <a:t>The AutoGen Studio API</a:t>
            </a:r>
            <a:endParaRPr lang="en-US" sz="1200" b="0" i="0" dirty="0">
              <a:solidFill>
                <a:srgbClr val="1C1E21"/>
              </a:solidFill>
              <a:effectLst/>
              <a:latin typeface="+mj-lt"/>
            </a:endParaRPr>
          </a:p>
          <a:p>
            <a:pPr marL="171450" indent="-171450"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C1E21"/>
                </a:solidFill>
                <a:effectLst/>
                <a:latin typeface="+mj-lt"/>
                <a:hlinkClick r:id="rId13"/>
              </a:rPr>
              <a:t>Road Map and Next Steps</a:t>
            </a:r>
            <a:endParaRPr lang="en-US" sz="1200" b="0" i="0" dirty="0">
              <a:solidFill>
                <a:srgbClr val="1C1E21"/>
              </a:solidFill>
              <a:effectLst/>
              <a:latin typeface="+mj-lt"/>
            </a:endParaRPr>
          </a:p>
          <a:p>
            <a:pPr marL="171450" indent="-171450"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C1E21"/>
                </a:solidFill>
                <a:effectLst/>
                <a:latin typeface="+mj-lt"/>
                <a:hlinkClick r:id="rId14"/>
              </a:rPr>
              <a:t>Contribution Guide</a:t>
            </a:r>
            <a:endParaRPr lang="en-US" sz="1200" b="0" i="0" dirty="0">
              <a:solidFill>
                <a:srgbClr val="1C1E21"/>
              </a:solidFill>
              <a:effectLst/>
              <a:latin typeface="+mj-lt"/>
            </a:endParaRPr>
          </a:p>
          <a:p>
            <a:pPr marL="628650" lvl="1" indent="-171450"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1C1E21"/>
                </a:solidFill>
                <a:effectLst/>
                <a:latin typeface="+mj-lt"/>
                <a:hlinkClick r:id="rId15"/>
              </a:rPr>
              <a:t>FAQ</a:t>
            </a:r>
            <a:endParaRPr lang="en-US" sz="1200" b="0" i="0" dirty="0">
              <a:solidFill>
                <a:srgbClr val="1C1E21"/>
              </a:solidFill>
              <a:effectLst/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C4E9D-1A36-3821-A7FD-131BFA01E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8912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tutorial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18E4A2-6678-3C30-3B76-590922DEFF62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CB6DD31-7B73-D31C-FB0F-11D806204643}"/>
              </a:ext>
            </a:extLst>
          </p:cNvPr>
          <p:cNvGrpSpPr/>
          <p:nvPr/>
        </p:nvGrpSpPr>
        <p:grpSpPr>
          <a:xfrm>
            <a:off x="2055342" y="5993337"/>
            <a:ext cx="1793615" cy="246292"/>
            <a:chOff x="5881666" y="1590687"/>
            <a:chExt cx="1793615" cy="246292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41C4E3C8-CFEC-06F7-3755-50C87ED84DAA}"/>
                </a:ext>
              </a:extLst>
            </p:cNvPr>
            <p:cNvSpPr/>
            <p:nvPr/>
          </p:nvSpPr>
          <p:spPr>
            <a:xfrm>
              <a:off x="6035088" y="1590758"/>
              <a:ext cx="164019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16"/>
                </a:rPr>
                <a:t>github: blog/autogen studio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108DAA6E-8F81-5740-340F-1DC9F391D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7" name="Arrow: Right 5">
            <a:extLst>
              <a:ext uri="{FF2B5EF4-FFF2-40B4-BE49-F238E27FC236}">
                <a16:creationId xmlns:a16="http://schemas.microsoft.com/office/drawing/2014/main" id="{A51482CF-F97F-B987-DB4D-234F63598899}"/>
              </a:ext>
            </a:extLst>
          </p:cNvPr>
          <p:cNvSpPr/>
          <p:nvPr/>
        </p:nvSpPr>
        <p:spPr>
          <a:xfrm>
            <a:off x="234579" y="233969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1943EDC4-E00B-6B41-E290-D1D011219507}"/>
              </a:ext>
            </a:extLst>
          </p:cNvPr>
          <p:cNvSpPr/>
          <p:nvPr/>
        </p:nvSpPr>
        <p:spPr>
          <a:xfrm>
            <a:off x="4924007" y="314995"/>
            <a:ext cx="2251185" cy="257369"/>
          </a:xfrm>
          <a:prstGeom prst="wedgeRectCallout">
            <a:avLst>
              <a:gd name="adj1" fmla="val -56034"/>
              <a:gd name="adj2" fmla="val -1066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>
                <a:solidFill>
                  <a:prstClr val="white"/>
                </a:solidFill>
                <a:latin typeface="Consolas" panose="020B0609020204030204" pitchFamily="49" charset="0"/>
              </a:rPr>
              <a:t>pip install autogenstudio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29E26D1-04BD-A18B-D184-5C475B88AE08}"/>
              </a:ext>
            </a:extLst>
          </p:cNvPr>
          <p:cNvGrpSpPr/>
          <p:nvPr/>
        </p:nvGrpSpPr>
        <p:grpSpPr>
          <a:xfrm>
            <a:off x="3848957" y="286067"/>
            <a:ext cx="1008137" cy="286297"/>
            <a:chOff x="2738297" y="4386269"/>
            <a:chExt cx="1008137" cy="28629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67BAE27-53F3-EFA5-A07C-066287B3A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15" name="Retângulo 5">
              <a:extLst>
                <a:ext uri="{FF2B5EF4-FFF2-40B4-BE49-F238E27FC236}">
                  <a16:creationId xmlns:a16="http://schemas.microsoft.com/office/drawing/2014/main" id="{3DCD8738-E63C-52C1-874F-D6A1BBB6237E}"/>
                </a:ext>
              </a:extLst>
            </p:cNvPr>
            <p:cNvSpPr/>
            <p:nvPr/>
          </p:nvSpPr>
          <p:spPr>
            <a:xfrm>
              <a:off x="2928581" y="4395567"/>
              <a:ext cx="81785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19" action="ppaction://hlinksldjump"/>
                </a:rPr>
                <a:t>repository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1116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AEA22-066B-B925-7D11-67147C80A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3E4924-AE8A-1499-0AFC-07204EB19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10" y="233969"/>
            <a:ext cx="4633793" cy="2753118"/>
          </a:xfrm>
          <a:prstGeom prst="rect">
            <a:avLst/>
          </a:prstGeom>
          <a:solidFill>
            <a:schemeClr val="tx1"/>
          </a:solidFill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A79A3B-8163-1937-0FFB-DD2D882C4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044132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 repository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5B811E-29D1-AACB-D90D-7389344157BC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165629-2D00-2E4F-EBA7-16546B67B1B9}"/>
              </a:ext>
            </a:extLst>
          </p:cNvPr>
          <p:cNvGrpSpPr/>
          <p:nvPr/>
        </p:nvGrpSpPr>
        <p:grpSpPr>
          <a:xfrm>
            <a:off x="4300487" y="3139706"/>
            <a:ext cx="1192489" cy="246292"/>
            <a:chOff x="5881666" y="1590687"/>
            <a:chExt cx="1192489" cy="246292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19F884EA-4459-D39A-D6F5-0E417D127DF4}"/>
                </a:ext>
              </a:extLst>
            </p:cNvPr>
            <p:cNvSpPr/>
            <p:nvPr/>
          </p:nvSpPr>
          <p:spPr>
            <a:xfrm>
              <a:off x="6035088" y="1590758"/>
              <a:ext cx="103906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github: autogen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062086E4-F028-8720-3AF7-511714AB1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7" name="Arrow: Right 5">
            <a:extLst>
              <a:ext uri="{FF2B5EF4-FFF2-40B4-BE49-F238E27FC236}">
                <a16:creationId xmlns:a16="http://schemas.microsoft.com/office/drawing/2014/main" id="{CA4A72C1-3E0C-5C3A-DD13-03FB28CAFD38}"/>
              </a:ext>
            </a:extLst>
          </p:cNvPr>
          <p:cNvSpPr/>
          <p:nvPr/>
        </p:nvSpPr>
        <p:spPr>
          <a:xfrm>
            <a:off x="234579" y="233969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8" name="Retângulo 20">
            <a:extLst>
              <a:ext uri="{FF2B5EF4-FFF2-40B4-BE49-F238E27FC236}">
                <a16:creationId xmlns:a16="http://schemas.microsoft.com/office/drawing/2014/main" id="{CB31DE73-86B4-BCC1-15C8-C23C400FC936}"/>
              </a:ext>
            </a:extLst>
          </p:cNvPr>
          <p:cNvSpPr/>
          <p:nvPr/>
        </p:nvSpPr>
        <p:spPr>
          <a:xfrm>
            <a:off x="870127" y="2807661"/>
            <a:ext cx="870932" cy="16917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tângulo 20">
            <a:extLst>
              <a:ext uri="{FF2B5EF4-FFF2-40B4-BE49-F238E27FC236}">
                <a16:creationId xmlns:a16="http://schemas.microsoft.com/office/drawing/2014/main" id="{FBA6334B-C07C-C5DC-DFB5-088631D2B74F}"/>
              </a:ext>
            </a:extLst>
          </p:cNvPr>
          <p:cNvSpPr/>
          <p:nvPr/>
        </p:nvSpPr>
        <p:spPr>
          <a:xfrm>
            <a:off x="1247855" y="287882"/>
            <a:ext cx="870932" cy="16917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96644C-37C4-109F-8C2F-F9D280023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185" y="2320705"/>
            <a:ext cx="6257481" cy="3379601"/>
          </a:xfrm>
          <a:prstGeom prst="rect">
            <a:avLst/>
          </a:prstGeom>
          <a:solidFill>
            <a:schemeClr val="tx1"/>
          </a:solidFill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3" name="Retângulo 20">
            <a:extLst>
              <a:ext uri="{FF2B5EF4-FFF2-40B4-BE49-F238E27FC236}">
                <a16:creationId xmlns:a16="http://schemas.microsoft.com/office/drawing/2014/main" id="{4ED99A3D-58A8-162B-9D11-E6CBBE68391F}"/>
              </a:ext>
            </a:extLst>
          </p:cNvPr>
          <p:cNvSpPr/>
          <p:nvPr/>
        </p:nvSpPr>
        <p:spPr>
          <a:xfrm>
            <a:off x="5900612" y="5324059"/>
            <a:ext cx="5707188" cy="16234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064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62631-96E3-29C9-0E27-436CAA398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66891-DA5E-1D33-659C-9C6F56A93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71979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 LLM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9DE707-1A5C-752B-3DFF-AA3294F888C5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4436AB-0B21-3B6A-FD44-4B7D68015139}"/>
              </a:ext>
            </a:extLst>
          </p:cNvPr>
          <p:cNvGrpSpPr/>
          <p:nvPr/>
        </p:nvGrpSpPr>
        <p:grpSpPr>
          <a:xfrm>
            <a:off x="2763198" y="774486"/>
            <a:ext cx="1742319" cy="246292"/>
            <a:chOff x="5881666" y="1590687"/>
            <a:chExt cx="1742319" cy="246292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E5EB466F-38A9-B4F8-3454-FAC60A6D9B56}"/>
                </a:ext>
              </a:extLst>
            </p:cNvPr>
            <p:cNvSpPr/>
            <p:nvPr/>
          </p:nvSpPr>
          <p:spPr>
            <a:xfrm>
              <a:off x="6035088" y="1590758"/>
              <a:ext cx="158889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configuring an llm provider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76F39F6B-23FC-C270-30D7-FCF9F67E5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7" name="Arrow: Right 5">
            <a:extLst>
              <a:ext uri="{FF2B5EF4-FFF2-40B4-BE49-F238E27FC236}">
                <a16:creationId xmlns:a16="http://schemas.microsoft.com/office/drawing/2014/main" id="{11CE86E3-98F5-5812-AFD0-7141E769462B}"/>
              </a:ext>
            </a:extLst>
          </p:cNvPr>
          <p:cNvSpPr/>
          <p:nvPr/>
        </p:nvSpPr>
        <p:spPr>
          <a:xfrm>
            <a:off x="234579" y="233969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0A8A43-BAB1-8079-4097-6CA356A6B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132" y="321733"/>
            <a:ext cx="3311611" cy="378470"/>
          </a:xfrm>
          <a:prstGeom prst="rect">
            <a:avLst/>
          </a:prstGeom>
          <a:solidFill>
            <a:schemeClr val="tx1"/>
          </a:solidFill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6A7770-E7C7-4919-96DB-6A135387A3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132" y="1199463"/>
            <a:ext cx="3841339" cy="2389126"/>
          </a:xfrm>
          <a:prstGeom prst="rect">
            <a:avLst/>
          </a:prstGeom>
          <a:solidFill>
            <a:schemeClr val="tx1"/>
          </a:solidFill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8ADFF146-0565-549B-B873-4DF39B1DAF2D}"/>
              </a:ext>
            </a:extLst>
          </p:cNvPr>
          <p:cNvSpPr/>
          <p:nvPr/>
        </p:nvSpPr>
        <p:spPr>
          <a:xfrm>
            <a:off x="1529932" y="3949349"/>
            <a:ext cx="5764967" cy="1365365"/>
          </a:xfrm>
          <a:prstGeom prst="wedgeRectCallout">
            <a:avLst>
              <a:gd name="adj1" fmla="val -23888"/>
              <a:gd name="adj2" fmla="val 3807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{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"model": "gpt-4",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"api_key": "4ec89f49dd5b44b49c458c99d5e63c33",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"base_url": "https://francecentral.api.cognitive.microsoft.com/",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"api_type": "azure",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"api_version": "2023-12-01-preview"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Arrow: Right 5">
            <a:extLst>
              <a:ext uri="{FF2B5EF4-FFF2-40B4-BE49-F238E27FC236}">
                <a16:creationId xmlns:a16="http://schemas.microsoft.com/office/drawing/2014/main" id="{37F014A5-A62A-FACE-E54B-3D9F21514BBE}"/>
              </a:ext>
            </a:extLst>
          </p:cNvPr>
          <p:cNvSpPr/>
          <p:nvPr/>
        </p:nvSpPr>
        <p:spPr>
          <a:xfrm>
            <a:off x="234579" y="3949349"/>
            <a:ext cx="1295353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credentials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15E617-08F8-38FB-5E5B-CE2AC52A4FA3}"/>
              </a:ext>
            </a:extLst>
          </p:cNvPr>
          <p:cNvGrpSpPr/>
          <p:nvPr/>
        </p:nvGrpSpPr>
        <p:grpSpPr>
          <a:xfrm>
            <a:off x="4605296" y="5358875"/>
            <a:ext cx="2523327" cy="299662"/>
            <a:chOff x="1643297" y="4045816"/>
            <a:chExt cx="2523327" cy="299662"/>
          </a:xfrm>
        </p:grpSpPr>
        <p:sp>
          <p:nvSpPr>
            <p:cNvPr id="5" name="CaixaDeTexto 17">
              <a:hlinkClick r:id="rId6" action="ppaction://program"/>
              <a:extLst>
                <a:ext uri="{FF2B5EF4-FFF2-40B4-BE49-F238E27FC236}">
                  <a16:creationId xmlns:a16="http://schemas.microsoft.com/office/drawing/2014/main" id="{36183C8B-556E-C548-08E0-306252A46343}"/>
                </a:ext>
              </a:extLst>
            </p:cNvPr>
            <p:cNvSpPr txBox="1"/>
            <p:nvPr/>
          </p:nvSpPr>
          <p:spPr>
            <a:xfrm>
              <a:off x="1980063" y="4103314"/>
              <a:ext cx="2186561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defTabSz="914369">
                <a:defRPr/>
              </a:pPr>
              <a:r>
                <a:rPr lang="en-US" sz="1200" u="sng" dirty="0">
                  <a:solidFill>
                    <a:srgbClr val="4472C4">
                      <a:lumMod val="50000"/>
                    </a:srgbClr>
                  </a:solidFill>
                  <a:latin typeface="Calibri Light" panose="020F0302020204030204"/>
                  <a:hlinkClick r:id="rId7" action="ppaction://hlinkfile"/>
                </a:rPr>
                <a:t>..\..\..\..\autogen\OAI_CONFIG_LIST</a:t>
              </a:r>
              <a:endParaRPr lang="en-US" sz="1200" u="sng" dirty="0">
                <a:solidFill>
                  <a:srgbClr val="4472C4">
                    <a:lumMod val="50000"/>
                  </a:srgbClr>
                </a:solidFill>
                <a:latin typeface="Calibri Light" panose="020F0302020204030204"/>
              </a:endParaRPr>
            </a:p>
          </p:txBody>
        </p:sp>
        <p:pic>
          <p:nvPicPr>
            <p:cNvPr id="8" name="Imagem 18">
              <a:hlinkClick r:id="rId6" action="ppaction://program"/>
              <a:extLst>
                <a:ext uri="{FF2B5EF4-FFF2-40B4-BE49-F238E27FC236}">
                  <a16:creationId xmlns:a16="http://schemas.microsoft.com/office/drawing/2014/main" id="{3955D219-6B5C-940E-C53B-603A7992E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6375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2135E-CBEE-A2CE-1EC3-1E630885D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41154E6-3B24-CEEC-7FF7-C34EB389E3D9}"/>
              </a:ext>
            </a:extLst>
          </p:cNvPr>
          <p:cNvSpPr/>
          <p:nvPr/>
        </p:nvSpPr>
        <p:spPr>
          <a:xfrm>
            <a:off x="5092596" y="4384776"/>
            <a:ext cx="251307" cy="862864"/>
          </a:xfrm>
          <a:prstGeom prst="roundRect">
            <a:avLst/>
          </a:prstGeom>
          <a:solidFill>
            <a:sysClr val="windowText" lastClr="000000"/>
          </a:solidFill>
          <a:ln w="254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93D3CA-C666-DE7D-015A-4C00AD87C30A}"/>
              </a:ext>
            </a:extLst>
          </p:cNvPr>
          <p:cNvSpPr/>
          <p:nvPr/>
        </p:nvSpPr>
        <p:spPr>
          <a:xfrm>
            <a:off x="1267039" y="1404533"/>
            <a:ext cx="251307" cy="3081938"/>
          </a:xfrm>
          <a:prstGeom prst="roundRect">
            <a:avLst/>
          </a:prstGeom>
          <a:solidFill>
            <a:sysClr val="windowText" lastClr="000000"/>
          </a:solidFill>
          <a:ln w="254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410653-B4B8-C314-F277-0B7BF5F71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73673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5. install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79803D-628D-4879-41AD-19C2F0B979B3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ED69BC9-73AB-FBDA-4EF2-F6A51D850943}"/>
              </a:ext>
            </a:extLst>
          </p:cNvPr>
          <p:cNvGrpSpPr/>
          <p:nvPr/>
        </p:nvGrpSpPr>
        <p:grpSpPr>
          <a:xfrm>
            <a:off x="2590669" y="530598"/>
            <a:ext cx="913566" cy="246292"/>
            <a:chOff x="5881666" y="1590687"/>
            <a:chExt cx="913566" cy="246292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5EFD05A2-5C6D-4BA6-A16A-051915BEE361}"/>
                </a:ext>
              </a:extLst>
            </p:cNvPr>
            <p:cNvSpPr/>
            <p:nvPr/>
          </p:nvSpPr>
          <p:spPr>
            <a:xfrm>
              <a:off x="6035088" y="1590758"/>
              <a:ext cx="76014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installation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2E71B974-F3C9-DCBB-7B2C-9BD21C3CA5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7" name="Arrow: Right 5">
            <a:extLst>
              <a:ext uri="{FF2B5EF4-FFF2-40B4-BE49-F238E27FC236}">
                <a16:creationId xmlns:a16="http://schemas.microsoft.com/office/drawing/2014/main" id="{7C480442-73BA-E273-53D9-0F0BABC314F2}"/>
              </a:ext>
            </a:extLst>
          </p:cNvPr>
          <p:cNvSpPr/>
          <p:nvPr/>
        </p:nvSpPr>
        <p:spPr>
          <a:xfrm>
            <a:off x="234579" y="233969"/>
            <a:ext cx="1032460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package</a:t>
            </a: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AA400E9A-E00F-4A2D-CA4F-E9320CC8EB84}"/>
              </a:ext>
            </a:extLst>
          </p:cNvPr>
          <p:cNvSpPr/>
          <p:nvPr/>
        </p:nvSpPr>
        <p:spPr>
          <a:xfrm>
            <a:off x="1267039" y="253599"/>
            <a:ext cx="2196683" cy="257369"/>
          </a:xfrm>
          <a:prstGeom prst="wedgeRectCallout">
            <a:avLst>
              <a:gd name="adj1" fmla="val -23888"/>
              <a:gd name="adj2" fmla="val 3807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pip install autogenstudio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6" name="Arrow: Right 5">
            <a:extLst>
              <a:ext uri="{FF2B5EF4-FFF2-40B4-BE49-F238E27FC236}">
                <a16:creationId xmlns:a16="http://schemas.microsoft.com/office/drawing/2014/main" id="{452F7495-8080-3D5D-E1D8-CA200CFEEB5D}"/>
              </a:ext>
            </a:extLst>
          </p:cNvPr>
          <p:cNvSpPr/>
          <p:nvPr/>
        </p:nvSpPr>
        <p:spPr>
          <a:xfrm>
            <a:off x="234579" y="1142888"/>
            <a:ext cx="894602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source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0E73A4-70A4-F1C9-376A-45274BDA443B}"/>
              </a:ext>
            </a:extLst>
          </p:cNvPr>
          <p:cNvGrpSpPr/>
          <p:nvPr/>
        </p:nvGrpSpPr>
        <p:grpSpPr>
          <a:xfrm>
            <a:off x="1138818" y="1158241"/>
            <a:ext cx="1311111" cy="246292"/>
            <a:chOff x="5881666" y="1590687"/>
            <a:chExt cx="1311111" cy="246292"/>
          </a:xfrm>
        </p:grpSpPr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A8A507A2-7840-D7D1-9206-DDBFE63359E2}"/>
                </a:ext>
              </a:extLst>
            </p:cNvPr>
            <p:cNvSpPr/>
            <p:nvPr/>
          </p:nvSpPr>
          <p:spPr>
            <a:xfrm>
              <a:off x="6035088" y="1590758"/>
              <a:ext cx="115768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/>
                </a:rPr>
                <a:t>github: installation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5950C985-1F07-00C2-8C90-2F94FB101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E5A456E4-07E2-3073-9D2D-062B6C75AA12}"/>
              </a:ext>
            </a:extLst>
          </p:cNvPr>
          <p:cNvSpPr/>
          <p:nvPr/>
        </p:nvSpPr>
        <p:spPr>
          <a:xfrm>
            <a:off x="1600327" y="1550437"/>
            <a:ext cx="1076183" cy="257369"/>
          </a:xfrm>
          <a:prstGeom prst="wedgeRectCallout">
            <a:avLst>
              <a:gd name="adj1" fmla="val -53472"/>
              <a:gd name="adj2" fmla="val -11086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+mj-lt"/>
              </a:rPr>
              <a:t>clone repository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FD9F73D-BFCF-B4BB-6565-091FA7BE8436}"/>
              </a:ext>
            </a:extLst>
          </p:cNvPr>
          <p:cNvGrpSpPr/>
          <p:nvPr/>
        </p:nvGrpSpPr>
        <p:grpSpPr>
          <a:xfrm>
            <a:off x="1788324" y="1902046"/>
            <a:ext cx="1364868" cy="299662"/>
            <a:chOff x="1643297" y="4045816"/>
            <a:chExt cx="1364868" cy="299662"/>
          </a:xfrm>
        </p:grpSpPr>
        <p:sp>
          <p:nvSpPr>
            <p:cNvPr id="18" name="CaixaDeTexto 17">
              <a:hlinkClick r:id="rId5" action="ppaction://program"/>
              <a:extLst>
                <a:ext uri="{FF2B5EF4-FFF2-40B4-BE49-F238E27FC236}">
                  <a16:creationId xmlns:a16="http://schemas.microsoft.com/office/drawing/2014/main" id="{71CEC905-7AFC-0259-1C74-C01802FFEC0C}"/>
                </a:ext>
              </a:extLst>
            </p:cNvPr>
            <p:cNvSpPr txBox="1"/>
            <p:nvPr/>
          </p:nvSpPr>
          <p:spPr>
            <a:xfrm>
              <a:off x="1980063" y="4103314"/>
              <a:ext cx="1028102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defTabSz="914369">
                <a:defRPr/>
              </a:pPr>
              <a:r>
                <a:rPr lang="en-US" sz="1200" u="sng" dirty="0">
                  <a:solidFill>
                    <a:srgbClr val="4472C4">
                      <a:lumMod val="50000"/>
                    </a:srgbClr>
                  </a:solidFill>
                  <a:latin typeface="Calibri Light" panose="020F0302020204030204"/>
                  <a:hlinkClick r:id="rId6" action="ppaction://hlinkfile"/>
                </a:rPr>
                <a:t>..\..\..\..\autogen</a:t>
              </a:r>
              <a:endParaRPr lang="en-US" sz="1200" u="sng" dirty="0">
                <a:solidFill>
                  <a:srgbClr val="4472C4">
                    <a:lumMod val="50000"/>
                  </a:srgbClr>
                </a:solidFill>
                <a:latin typeface="Calibri Light" panose="020F0302020204030204"/>
              </a:endParaRPr>
            </a:p>
          </p:txBody>
        </p:sp>
        <p:pic>
          <p:nvPicPr>
            <p:cNvPr id="19" name="Imagem 18">
              <a:hlinkClick r:id="rId5" action="ppaction://program"/>
              <a:extLst>
                <a:ext uri="{FF2B5EF4-FFF2-40B4-BE49-F238E27FC236}">
                  <a16:creationId xmlns:a16="http://schemas.microsoft.com/office/drawing/2014/main" id="{7E5A3AFD-3F0B-0F60-EF72-8AC4BC7E5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1F1205F0-9092-065D-4946-38528432F7A6}"/>
              </a:ext>
            </a:extLst>
          </p:cNvPr>
          <p:cNvSpPr/>
          <p:nvPr/>
        </p:nvSpPr>
        <p:spPr>
          <a:xfrm>
            <a:off x="1982644" y="2611219"/>
            <a:ext cx="1432050" cy="257369"/>
          </a:xfrm>
          <a:prstGeom prst="wedgeRectCallout">
            <a:avLst>
              <a:gd name="adj1" fmla="val -57488"/>
              <a:gd name="adj2" fmla="val -423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pip install -e .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D9C7F115-8A3A-67D5-B93C-556AC532166F}"/>
              </a:ext>
            </a:extLst>
          </p:cNvPr>
          <p:cNvSpPr/>
          <p:nvPr/>
        </p:nvSpPr>
        <p:spPr>
          <a:xfrm>
            <a:off x="1586998" y="2277779"/>
            <a:ext cx="526353" cy="257369"/>
          </a:xfrm>
          <a:prstGeom prst="wedgeRectCallout">
            <a:avLst>
              <a:gd name="adj1" fmla="val -53472"/>
              <a:gd name="adj2" fmla="val -11086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+mj-lt"/>
              </a:rPr>
              <a:t>in: root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4A762696-4744-79F6-D31F-91356263B6BE}"/>
              </a:ext>
            </a:extLst>
          </p:cNvPr>
          <p:cNvSpPr/>
          <p:nvPr/>
        </p:nvSpPr>
        <p:spPr>
          <a:xfrm>
            <a:off x="1600327" y="3017456"/>
            <a:ext cx="2712849" cy="257369"/>
          </a:xfrm>
          <a:prstGeom prst="wedgeRectCallout">
            <a:avLst>
              <a:gd name="adj1" fmla="val -53472"/>
              <a:gd name="adj2" fmla="val -11086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+mj-lt"/>
              </a:rPr>
              <a:t>in: samples/apps/autogen-studio/frontend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073AABB7-365E-F4DE-2855-852B3440EADF}"/>
              </a:ext>
            </a:extLst>
          </p:cNvPr>
          <p:cNvSpPr/>
          <p:nvPr/>
        </p:nvSpPr>
        <p:spPr>
          <a:xfrm>
            <a:off x="2054850" y="3417044"/>
            <a:ext cx="2196683" cy="257369"/>
          </a:xfrm>
          <a:prstGeom prst="wedgeRectCallout">
            <a:avLst>
              <a:gd name="adj1" fmla="val -25810"/>
              <a:gd name="adj2" fmla="val -7812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npm install -g gatsby-cli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BECDB36-E4E1-607C-7728-C078729957F2}"/>
              </a:ext>
            </a:extLst>
          </p:cNvPr>
          <p:cNvGrpSpPr/>
          <p:nvPr/>
        </p:nvGrpSpPr>
        <p:grpSpPr>
          <a:xfrm>
            <a:off x="3916262" y="2277635"/>
            <a:ext cx="838225" cy="246292"/>
            <a:chOff x="5881666" y="1590687"/>
            <a:chExt cx="838225" cy="246292"/>
          </a:xfrm>
        </p:grpSpPr>
        <p:sp>
          <p:nvSpPr>
            <p:cNvPr id="25" name="Retângulo 5">
              <a:extLst>
                <a:ext uri="{FF2B5EF4-FFF2-40B4-BE49-F238E27FC236}">
                  <a16:creationId xmlns:a16="http://schemas.microsoft.com/office/drawing/2014/main" id="{AA20A9CC-07A4-C908-19A2-2AE9DF8EC337}"/>
                </a:ext>
              </a:extLst>
            </p:cNvPr>
            <p:cNvSpPr/>
            <p:nvPr/>
          </p:nvSpPr>
          <p:spPr>
            <a:xfrm>
              <a:off x="6035088" y="1590758"/>
              <a:ext cx="68480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8"/>
                </a:rPr>
                <a:t>pip install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6" name="Picture 25" descr="Icon&#10;&#10;Description automatically generated">
              <a:extLst>
                <a:ext uri="{FF2B5EF4-FFF2-40B4-BE49-F238E27FC236}">
                  <a16:creationId xmlns:a16="http://schemas.microsoft.com/office/drawing/2014/main" id="{B5D055DC-6ABF-9AE3-D8A4-7FEEF8531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236CFEF-91C3-D292-6D46-C92CA7E2A2DA}"/>
              </a:ext>
            </a:extLst>
          </p:cNvPr>
          <p:cNvGrpSpPr/>
          <p:nvPr/>
        </p:nvGrpSpPr>
        <p:grpSpPr>
          <a:xfrm>
            <a:off x="4412085" y="3422582"/>
            <a:ext cx="806165" cy="246292"/>
            <a:chOff x="5881666" y="1590687"/>
            <a:chExt cx="806165" cy="246292"/>
          </a:xfrm>
        </p:grpSpPr>
        <p:sp>
          <p:nvSpPr>
            <p:cNvPr id="28" name="Retângulo 5">
              <a:extLst>
                <a:ext uri="{FF2B5EF4-FFF2-40B4-BE49-F238E27FC236}">
                  <a16:creationId xmlns:a16="http://schemas.microsoft.com/office/drawing/2014/main" id="{F44ED2AB-B55C-7078-5228-F4863FEDBFBA}"/>
                </a:ext>
              </a:extLst>
            </p:cNvPr>
            <p:cNvSpPr/>
            <p:nvPr/>
          </p:nvSpPr>
          <p:spPr>
            <a:xfrm>
              <a:off x="6035088" y="1590758"/>
              <a:ext cx="65274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9"/>
                </a:rPr>
                <a:t>Gatsby js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9" name="Picture 28" descr="Icon&#10;&#10;Description automatically generated">
              <a:extLst>
                <a:ext uri="{FF2B5EF4-FFF2-40B4-BE49-F238E27FC236}">
                  <a16:creationId xmlns:a16="http://schemas.microsoft.com/office/drawing/2014/main" id="{98C69632-E1EC-1529-E2B2-D18332C85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30" name="Speech Bubble: Rectangle 29">
            <a:extLst>
              <a:ext uri="{FF2B5EF4-FFF2-40B4-BE49-F238E27FC236}">
                <a16:creationId xmlns:a16="http://schemas.microsoft.com/office/drawing/2014/main" id="{F3FD1FDC-36C9-98B1-4EC4-57806CCA8278}"/>
              </a:ext>
            </a:extLst>
          </p:cNvPr>
          <p:cNvSpPr/>
          <p:nvPr/>
        </p:nvSpPr>
        <p:spPr>
          <a:xfrm>
            <a:off x="2079054" y="3778668"/>
            <a:ext cx="2196683" cy="257369"/>
          </a:xfrm>
          <a:prstGeom prst="wedgeRectCallout">
            <a:avLst>
              <a:gd name="adj1" fmla="val -25810"/>
              <a:gd name="adj2" fmla="val -7812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npm install --global yarn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2D6FF70-1F25-4432-A0F6-86391D8CF73C}"/>
              </a:ext>
            </a:extLst>
          </p:cNvPr>
          <p:cNvGrpSpPr/>
          <p:nvPr/>
        </p:nvGrpSpPr>
        <p:grpSpPr>
          <a:xfrm>
            <a:off x="4412085" y="3778668"/>
            <a:ext cx="568920" cy="246292"/>
            <a:chOff x="5881666" y="1590687"/>
            <a:chExt cx="568920" cy="246292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E01D469F-DE85-5F55-8B4B-5DD0C9849716}"/>
                </a:ext>
              </a:extLst>
            </p:cNvPr>
            <p:cNvSpPr/>
            <p:nvPr/>
          </p:nvSpPr>
          <p:spPr>
            <a:xfrm>
              <a:off x="6035088" y="1590758"/>
              <a:ext cx="41549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10"/>
                </a:rPr>
                <a:t>yarn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3" name="Picture 32" descr="Icon&#10;&#10;Description automatically generated">
              <a:extLst>
                <a:ext uri="{FF2B5EF4-FFF2-40B4-BE49-F238E27FC236}">
                  <a16:creationId xmlns:a16="http://schemas.microsoft.com/office/drawing/2014/main" id="{4C428E61-5AFF-307D-82A4-AD1225B69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7471DA43-2E61-D2BF-B01F-47BDEB7855C4}"/>
              </a:ext>
            </a:extLst>
          </p:cNvPr>
          <p:cNvSpPr/>
          <p:nvPr/>
        </p:nvSpPr>
        <p:spPr>
          <a:xfrm>
            <a:off x="2090756" y="4127407"/>
            <a:ext cx="1092213" cy="257369"/>
          </a:xfrm>
          <a:prstGeom prst="wedgeRectCallout">
            <a:avLst>
              <a:gd name="adj1" fmla="val -25810"/>
              <a:gd name="adj2" fmla="val -7812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yarn install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6C150C4E-7DE9-52D2-F2B7-1622D018895E}"/>
              </a:ext>
            </a:extLst>
          </p:cNvPr>
          <p:cNvSpPr/>
          <p:nvPr/>
        </p:nvSpPr>
        <p:spPr>
          <a:xfrm>
            <a:off x="2090756" y="4813444"/>
            <a:ext cx="922295" cy="257369"/>
          </a:xfrm>
          <a:prstGeom prst="wedgeRectCallout">
            <a:avLst>
              <a:gd name="adj1" fmla="val -25810"/>
              <a:gd name="adj2" fmla="val -7812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yarn build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56A90F63-002A-4A9B-DACA-14B8CD356046}"/>
              </a:ext>
            </a:extLst>
          </p:cNvPr>
          <p:cNvSpPr/>
          <p:nvPr/>
        </p:nvSpPr>
        <p:spPr>
          <a:xfrm>
            <a:off x="2090756" y="4464705"/>
            <a:ext cx="2972536" cy="257369"/>
          </a:xfrm>
          <a:prstGeom prst="wedgeRectCallout">
            <a:avLst>
              <a:gd name="adj1" fmla="val -31770"/>
              <a:gd name="adj2" fmla="val -85425"/>
            </a:avLst>
          </a:prstGeom>
          <a:solidFill>
            <a:sysClr val="windowText" lastClr="000000"/>
          </a:solidFill>
          <a:ln>
            <a:solidFill>
              <a:srgbClr val="ED7D31">
                <a:lumMod val="75000"/>
              </a:srgbClr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change the build command in package.json</a:t>
            </a:r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62CDEDDF-9E13-8547-662C-F3F62F543097}"/>
              </a:ext>
            </a:extLst>
          </p:cNvPr>
          <p:cNvSpPr/>
          <p:nvPr/>
        </p:nvSpPr>
        <p:spPr>
          <a:xfrm>
            <a:off x="5858936" y="4433927"/>
            <a:ext cx="4037411" cy="288147"/>
          </a:xfrm>
          <a:prstGeom prst="wedgeRectCallout">
            <a:avLst>
              <a:gd name="adj1" fmla="val -48762"/>
              <a:gd name="adj2" fmla="val 2805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squar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700" kern="0" noProof="1">
                <a:solidFill>
                  <a:prstClr val="white"/>
                </a:solidFill>
                <a:latin typeface="Consolas" panose="020B0609020204030204" pitchFamily="49" charset="0"/>
              </a:rPr>
              <a:t>"gatsby clean &amp;&amp; rm -rf ../autogenstudio/web/ui &amp;&amp; PREFIX_PATH_VALUE='' gatsby build --prefix-paths &amp;&amp; rsync -a --delete public/ ../autogenstudio/web/ui/",</a:t>
            </a:r>
          </a:p>
        </p:txBody>
      </p:sp>
      <p:sp>
        <p:nvSpPr>
          <p:cNvPr id="37" name="Arrow: Right 5">
            <a:extLst>
              <a:ext uri="{FF2B5EF4-FFF2-40B4-BE49-F238E27FC236}">
                <a16:creationId xmlns:a16="http://schemas.microsoft.com/office/drawing/2014/main" id="{FDED220B-8372-A713-DF28-67121964E8E3}"/>
              </a:ext>
            </a:extLst>
          </p:cNvPr>
          <p:cNvSpPr/>
          <p:nvPr/>
        </p:nvSpPr>
        <p:spPr>
          <a:xfrm>
            <a:off x="5218249" y="4429100"/>
            <a:ext cx="564383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old</a:t>
            </a:r>
          </a:p>
        </p:txBody>
      </p:sp>
      <p:sp>
        <p:nvSpPr>
          <p:cNvPr id="39" name="Arrow: Right 5">
            <a:extLst>
              <a:ext uri="{FF2B5EF4-FFF2-40B4-BE49-F238E27FC236}">
                <a16:creationId xmlns:a16="http://schemas.microsoft.com/office/drawing/2014/main" id="{42FFC031-477A-DC58-0445-E485E418500F}"/>
              </a:ext>
            </a:extLst>
          </p:cNvPr>
          <p:cNvSpPr/>
          <p:nvPr/>
        </p:nvSpPr>
        <p:spPr>
          <a:xfrm>
            <a:off x="5234227" y="4838370"/>
            <a:ext cx="668579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new</a:t>
            </a:r>
          </a:p>
        </p:txBody>
      </p:sp>
      <p:sp>
        <p:nvSpPr>
          <p:cNvPr id="40" name="Speech Bubble: Rectangle 39">
            <a:extLst>
              <a:ext uri="{FF2B5EF4-FFF2-40B4-BE49-F238E27FC236}">
                <a16:creationId xmlns:a16="http://schemas.microsoft.com/office/drawing/2014/main" id="{0458DD72-B7C7-4195-794E-D5D2085FDD24}"/>
              </a:ext>
            </a:extLst>
          </p:cNvPr>
          <p:cNvSpPr/>
          <p:nvPr/>
        </p:nvSpPr>
        <p:spPr>
          <a:xfrm>
            <a:off x="5902806" y="4851771"/>
            <a:ext cx="4037411" cy="395869"/>
          </a:xfrm>
          <a:prstGeom prst="wedgeRectCallout">
            <a:avLst>
              <a:gd name="adj1" fmla="val -48762"/>
              <a:gd name="adj2" fmla="val 2805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squar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700" kern="0" noProof="1">
                <a:solidFill>
                  <a:prstClr val="white"/>
                </a:solidFill>
                <a:latin typeface="Consolas" panose="020B0609020204030204" pitchFamily="49" charset="0"/>
              </a:rPr>
              <a:t>"build": "gatsby clean &amp;&amp; rmdir /s /q ..\\autogenstudio\\web\\ui 2&gt;nul &amp; (set \"PREFIX_PATH_VALUE=\" || ver&gt;nul) &amp;&amp; gatsby build --prefix-paths &amp;&amp; xcopy /E /I /Y public ..\\autogenstudio\\web\\ui",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159908D-37B5-528B-0C1E-6219EEEF148B}"/>
              </a:ext>
            </a:extLst>
          </p:cNvPr>
          <p:cNvGrpSpPr/>
          <p:nvPr/>
        </p:nvGrpSpPr>
        <p:grpSpPr>
          <a:xfrm>
            <a:off x="3909361" y="2573564"/>
            <a:ext cx="1134781" cy="246292"/>
            <a:chOff x="5881666" y="1590687"/>
            <a:chExt cx="1134781" cy="246292"/>
          </a:xfrm>
        </p:grpSpPr>
        <p:sp>
          <p:nvSpPr>
            <p:cNvPr id="42" name="Retângulo 5">
              <a:extLst>
                <a:ext uri="{FF2B5EF4-FFF2-40B4-BE49-F238E27FC236}">
                  <a16:creationId xmlns:a16="http://schemas.microsoft.com/office/drawing/2014/main" id="{7F6D167F-4E21-BF0F-005A-3852E1D54B33}"/>
                </a:ext>
              </a:extLst>
            </p:cNvPr>
            <p:cNvSpPr/>
            <p:nvPr/>
          </p:nvSpPr>
          <p:spPr>
            <a:xfrm>
              <a:off x="6035088" y="1590758"/>
              <a:ext cx="98135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11"/>
                </a:rPr>
                <a:t>py project toml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43" name="Picture 42" descr="Icon&#10;&#10;Description automatically generated">
              <a:extLst>
                <a:ext uri="{FF2B5EF4-FFF2-40B4-BE49-F238E27FC236}">
                  <a16:creationId xmlns:a16="http://schemas.microsoft.com/office/drawing/2014/main" id="{B8BC399E-063E-2C65-CBDF-5A5250B60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D8F0765C-AB45-CA95-EACB-41D37AE37BFE}"/>
              </a:ext>
            </a:extLst>
          </p:cNvPr>
          <p:cNvSpPr/>
          <p:nvPr/>
        </p:nvSpPr>
        <p:spPr>
          <a:xfrm>
            <a:off x="2341010" y="5238322"/>
            <a:ext cx="1417623" cy="257369"/>
          </a:xfrm>
          <a:prstGeom prst="wedgeRectCallout">
            <a:avLst>
              <a:gd name="adj1" fmla="val -31770"/>
              <a:gd name="adj2" fmla="val -85425"/>
            </a:avLst>
          </a:prstGeom>
          <a:solidFill>
            <a:sysClr val="windowText" lastClr="000000"/>
          </a:solidFill>
          <a:ln>
            <a:solidFill>
              <a:srgbClr val="ED7D31">
                <a:lumMod val="75000"/>
              </a:srgbClr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use the command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8D09D72-44FB-6ABF-8FB3-889781A1EB77}"/>
              </a:ext>
            </a:extLst>
          </p:cNvPr>
          <p:cNvGrpSpPr/>
          <p:nvPr/>
        </p:nvGrpSpPr>
        <p:grpSpPr>
          <a:xfrm>
            <a:off x="2736824" y="5574656"/>
            <a:ext cx="883519" cy="299662"/>
            <a:chOff x="1643297" y="4045816"/>
            <a:chExt cx="883519" cy="299662"/>
          </a:xfrm>
        </p:grpSpPr>
        <p:sp>
          <p:nvSpPr>
            <p:cNvPr id="46" name="CaixaDeTexto 17">
              <a:hlinkClick r:id="rId5" action="ppaction://program"/>
              <a:extLst>
                <a:ext uri="{FF2B5EF4-FFF2-40B4-BE49-F238E27FC236}">
                  <a16:creationId xmlns:a16="http://schemas.microsoft.com/office/drawing/2014/main" id="{0FAE33F2-B914-6C0D-A924-3064C1599E2F}"/>
                </a:ext>
              </a:extLst>
            </p:cNvPr>
            <p:cNvSpPr txBox="1"/>
            <p:nvPr/>
          </p:nvSpPr>
          <p:spPr>
            <a:xfrm>
              <a:off x="1980063" y="4103314"/>
              <a:ext cx="546753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defTabSz="914369">
                <a:defRPr/>
              </a:pPr>
              <a:r>
                <a:rPr lang="en-US" sz="1200" u="sng" dirty="0">
                  <a:solidFill>
                    <a:srgbClr val="4472C4">
                      <a:lumMod val="50000"/>
                    </a:srgbClr>
                  </a:solidFill>
                  <a:latin typeface="Calibri Light" panose="020F0302020204030204"/>
                  <a:hlinkClick r:id="rId12" action="ppaction://hlinkfile"/>
                </a:rPr>
                <a:t>build.bat</a:t>
              </a:r>
              <a:endParaRPr lang="en-US" sz="1200" u="sng" dirty="0">
                <a:solidFill>
                  <a:srgbClr val="4472C4">
                    <a:lumMod val="50000"/>
                  </a:srgbClr>
                </a:solidFill>
                <a:latin typeface="Calibri Light" panose="020F0302020204030204"/>
              </a:endParaRPr>
            </a:p>
          </p:txBody>
        </p:sp>
        <p:pic>
          <p:nvPicPr>
            <p:cNvPr id="47" name="Imagem 18">
              <a:hlinkClick r:id="rId5" action="ppaction://program"/>
              <a:extLst>
                <a:ext uri="{FF2B5EF4-FFF2-40B4-BE49-F238E27FC236}">
                  <a16:creationId xmlns:a16="http://schemas.microsoft.com/office/drawing/2014/main" id="{02A2D2EC-DBD2-D8EC-4541-B4E66CAF9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562C562-C67F-02FE-1B74-B8CC4E59AC80}"/>
              </a:ext>
            </a:extLst>
          </p:cNvPr>
          <p:cNvGrpSpPr/>
          <p:nvPr/>
        </p:nvGrpSpPr>
        <p:grpSpPr>
          <a:xfrm>
            <a:off x="5092596" y="2573564"/>
            <a:ext cx="1355988" cy="286297"/>
            <a:chOff x="2738297" y="4386269"/>
            <a:chExt cx="1355988" cy="286297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C61D1EB2-18F6-97E4-B5F0-06E42F6B1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49" name="Retângulo 5">
              <a:extLst>
                <a:ext uri="{FF2B5EF4-FFF2-40B4-BE49-F238E27FC236}">
                  <a16:creationId xmlns:a16="http://schemas.microsoft.com/office/drawing/2014/main" id="{F3F803F3-E3AF-C78E-2F39-C1AFEBBF1E1B}"/>
                </a:ext>
              </a:extLst>
            </p:cNvPr>
            <p:cNvSpPr/>
            <p:nvPr/>
          </p:nvSpPr>
          <p:spPr>
            <a:xfrm>
              <a:off x="2928581" y="4395567"/>
              <a:ext cx="116570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14" action="ppaction://hlinkpres?slideindex=4&amp;slidetitle=3.1 editable"/>
                </a:rPr>
                <a:t>pip/3.1 editable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0" name="Explosion: 14 Points 49">
            <a:extLst>
              <a:ext uri="{FF2B5EF4-FFF2-40B4-BE49-F238E27FC236}">
                <a16:creationId xmlns:a16="http://schemas.microsoft.com/office/drawing/2014/main" id="{22FB652B-02B9-7588-3066-6B6CDE7086BD}"/>
              </a:ext>
            </a:extLst>
          </p:cNvPr>
          <p:cNvSpPr/>
          <p:nvPr/>
        </p:nvSpPr>
        <p:spPr>
          <a:xfrm>
            <a:off x="6379925" y="1343769"/>
            <a:ext cx="1057748" cy="1867733"/>
          </a:xfrm>
          <a:prstGeom prst="irregularSeal2">
            <a:avLst/>
          </a:prstGeom>
          <a:solidFill>
            <a:sysClr val="windowText" lastClr="00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noProof="0" dirty="0">
                <a:solidFill>
                  <a:srgbClr val="FF0000"/>
                </a:solidFill>
                <a:latin typeface="Calibri" panose="020F0502020204030204"/>
              </a:rPr>
              <a:t>step </a:t>
            </a:r>
          </a:p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noProof="0" dirty="0">
                <a:solidFill>
                  <a:srgbClr val="FF0000"/>
                </a:solidFill>
                <a:latin typeface="Calibri" panose="020F0502020204030204"/>
              </a:rPr>
              <a:t>by </a:t>
            </a:r>
          </a:p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noProof="0" dirty="0">
                <a:solidFill>
                  <a:srgbClr val="FF0000"/>
                </a:solidFill>
                <a:latin typeface="Calibri" panose="020F0502020204030204"/>
              </a:rPr>
              <a:t>step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2514F59-6609-8F4B-B7D1-E6ECD4899802}"/>
              </a:ext>
            </a:extLst>
          </p:cNvPr>
          <p:cNvGrpSpPr/>
          <p:nvPr/>
        </p:nvGrpSpPr>
        <p:grpSpPr>
          <a:xfrm>
            <a:off x="7151449" y="2201708"/>
            <a:ext cx="1342482" cy="283293"/>
            <a:chOff x="5611636" y="5954426"/>
            <a:chExt cx="1342483" cy="283293"/>
          </a:xfrm>
        </p:grpSpPr>
        <p:pic>
          <p:nvPicPr>
            <p:cNvPr id="55" name="Picture 54" descr="Icon&#10;&#10;Description automatically generated">
              <a:extLst>
                <a:ext uri="{FF2B5EF4-FFF2-40B4-BE49-F238E27FC236}">
                  <a16:creationId xmlns:a16="http://schemas.microsoft.com/office/drawing/2014/main" id="{D7487D72-E5F2-2A86-A070-B5EF417324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6" name="Retângulo 5">
              <a:extLst>
                <a:ext uri="{FF2B5EF4-FFF2-40B4-BE49-F238E27FC236}">
                  <a16:creationId xmlns:a16="http://schemas.microsoft.com/office/drawing/2014/main" id="{C5E474C7-9875-7C6F-9C10-A5FF55C5E685}"/>
                </a:ext>
              </a:extLst>
            </p:cNvPr>
            <p:cNvSpPr/>
            <p:nvPr/>
          </p:nvSpPr>
          <p:spPr>
            <a:xfrm>
              <a:off x="6107411" y="5954426"/>
              <a:ext cx="84670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16" action="ppaction://hlinkpres?slideindex=1&amp;slidetitle="/>
                </a:rPr>
                <a:t>run details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1" name="Speech Bubble: Rectangle 50">
            <a:extLst>
              <a:ext uri="{FF2B5EF4-FFF2-40B4-BE49-F238E27FC236}">
                <a16:creationId xmlns:a16="http://schemas.microsoft.com/office/drawing/2014/main" id="{2E2E52B1-D862-89CE-DAC0-7B3B2A4A9D6A}"/>
              </a:ext>
            </a:extLst>
          </p:cNvPr>
          <p:cNvSpPr/>
          <p:nvPr/>
        </p:nvSpPr>
        <p:spPr>
          <a:xfrm>
            <a:off x="7418958" y="1529038"/>
            <a:ext cx="1595556" cy="626701"/>
          </a:xfrm>
          <a:prstGeom prst="wedgeRectCallout">
            <a:avLst>
              <a:gd name="adj1" fmla="val -62705"/>
              <a:gd name="adj2" fmla="val -1513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171450" lvl="0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200" kern="0" noProof="1">
                <a:solidFill>
                  <a:prstClr val="white"/>
                </a:solidFill>
                <a:latin typeface="+mj-lt"/>
              </a:rPr>
              <a:t>what </a:t>
            </a:r>
          </a:p>
          <a:p>
            <a:pPr marL="628650" lvl="1" indent="-171450" defTabSz="914369">
              <a:buFont typeface="Arial" panose="020B0604020202020204" pitchFamily="34" charset="0"/>
              <a:buChar char="•"/>
              <a:defRPr/>
            </a:pPr>
            <a:r>
              <a:rPr lang="en-US" sz="1200" kern="0" noProof="1">
                <a:solidFill>
                  <a:prstClr val="white"/>
                </a:solidFill>
                <a:latin typeface="+mj-lt"/>
              </a:rPr>
              <a:t>pip install –e . </a:t>
            </a:r>
          </a:p>
          <a:p>
            <a:pPr marL="171450" indent="-171450" defTabSz="914369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</a:rPr>
              <a:t>does</a:t>
            </a:r>
          </a:p>
        </p:txBody>
      </p:sp>
    </p:spTree>
    <p:extLst>
      <p:ext uri="{BB962C8B-B14F-4D97-AF65-F5344CB8AC3E}">
        <p14:creationId xmlns:p14="http://schemas.microsoft.com/office/powerpoint/2010/main" val="3841629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FBA17E-1B86-F9B8-300B-A4364EEF1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C3939C4A-D843-A4B5-1347-BA1E2A5F9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938" y="939800"/>
            <a:ext cx="3878654" cy="487172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A15B8AF-4519-2BD2-B938-9698D946F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032" y="939800"/>
            <a:ext cx="4509849" cy="200312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2E512D-D4CB-837B-275E-F67AAC61D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5937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5.1 setup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C2892-0F09-9892-E90A-662BADE0CAAC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Arrow: Right 5">
            <a:extLst>
              <a:ext uri="{FF2B5EF4-FFF2-40B4-BE49-F238E27FC236}">
                <a16:creationId xmlns:a16="http://schemas.microsoft.com/office/drawing/2014/main" id="{591ADF25-8302-D3ED-A785-517AC0CFBE86}"/>
              </a:ext>
            </a:extLst>
          </p:cNvPr>
          <p:cNvSpPr/>
          <p:nvPr/>
        </p:nvSpPr>
        <p:spPr>
          <a:xfrm>
            <a:off x="234579" y="233969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55" name="Speech Bubble: Rectangle 54">
            <a:extLst>
              <a:ext uri="{FF2B5EF4-FFF2-40B4-BE49-F238E27FC236}">
                <a16:creationId xmlns:a16="http://schemas.microsoft.com/office/drawing/2014/main" id="{070AB830-C356-F013-206C-0DA6FA3D8D7A}"/>
              </a:ext>
            </a:extLst>
          </p:cNvPr>
          <p:cNvSpPr/>
          <p:nvPr/>
        </p:nvSpPr>
        <p:spPr>
          <a:xfrm>
            <a:off x="973690" y="218729"/>
            <a:ext cx="1074580" cy="257369"/>
          </a:xfrm>
          <a:prstGeom prst="wedgeRectCallout">
            <a:avLst>
              <a:gd name="adj1" fmla="val 5352"/>
              <a:gd name="adj2" fmla="val -2310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when a I run</a:t>
            </a:r>
          </a:p>
        </p:txBody>
      </p:sp>
      <p:sp>
        <p:nvSpPr>
          <p:cNvPr id="56" name="Speech Bubble: Rectangle 55">
            <a:extLst>
              <a:ext uri="{FF2B5EF4-FFF2-40B4-BE49-F238E27FC236}">
                <a16:creationId xmlns:a16="http://schemas.microsoft.com/office/drawing/2014/main" id="{30647333-E720-3E83-F558-0B872AFFCD6B}"/>
              </a:ext>
            </a:extLst>
          </p:cNvPr>
          <p:cNvSpPr/>
          <p:nvPr/>
        </p:nvSpPr>
        <p:spPr>
          <a:xfrm>
            <a:off x="2124884" y="233969"/>
            <a:ext cx="1432050" cy="257369"/>
          </a:xfrm>
          <a:prstGeom prst="wedgeRectCallout">
            <a:avLst>
              <a:gd name="adj1" fmla="val -57488"/>
              <a:gd name="adj2" fmla="val -423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pip install -e .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AF19834-3E75-74D3-0F36-E2D1B0F8E196}"/>
              </a:ext>
            </a:extLst>
          </p:cNvPr>
          <p:cNvGrpSpPr/>
          <p:nvPr/>
        </p:nvGrpSpPr>
        <p:grpSpPr>
          <a:xfrm>
            <a:off x="3633548" y="218285"/>
            <a:ext cx="1355988" cy="286297"/>
            <a:chOff x="2738297" y="4386269"/>
            <a:chExt cx="1355988" cy="286297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AF0C5960-168E-EC1E-66CB-64B39DD91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59" name="Retângulo 5">
              <a:extLst>
                <a:ext uri="{FF2B5EF4-FFF2-40B4-BE49-F238E27FC236}">
                  <a16:creationId xmlns:a16="http://schemas.microsoft.com/office/drawing/2014/main" id="{ABB90F5C-3713-1C79-72C6-9D52A3BFE411}"/>
                </a:ext>
              </a:extLst>
            </p:cNvPr>
            <p:cNvSpPr/>
            <p:nvPr/>
          </p:nvSpPr>
          <p:spPr>
            <a:xfrm>
              <a:off x="2928581" y="4395567"/>
              <a:ext cx="116570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5" action="ppaction://hlinkpres?slideindex=4&amp;slidetitle=3.1 editable"/>
                </a:rPr>
                <a:t>pip/3.1 editable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0" name="Speech Bubble: Rectangle 59">
            <a:extLst>
              <a:ext uri="{FF2B5EF4-FFF2-40B4-BE49-F238E27FC236}">
                <a16:creationId xmlns:a16="http://schemas.microsoft.com/office/drawing/2014/main" id="{92948211-57FC-5A3E-C124-EAFC4D400741}"/>
              </a:ext>
            </a:extLst>
          </p:cNvPr>
          <p:cNvSpPr/>
          <p:nvPr/>
        </p:nvSpPr>
        <p:spPr>
          <a:xfrm>
            <a:off x="973690" y="536738"/>
            <a:ext cx="2876356" cy="257369"/>
          </a:xfrm>
          <a:prstGeom prst="wedgeRectCallout">
            <a:avLst>
              <a:gd name="adj1" fmla="val -31522"/>
              <a:gd name="adj2" fmla="val -8126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it uses the setup file to install my package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6E8ED942-8FFE-7713-18C2-6AEB2F0E8D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9545" y="3159882"/>
            <a:ext cx="5723375" cy="3400639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6999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3C3436-BE30-0F94-BCCB-99C9C41EE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167BD9-997B-ADF2-19E0-80906D7A6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10" y="370850"/>
            <a:ext cx="5605883" cy="519683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80089C-FA56-8AE9-42FD-2CB8133CA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64312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5.2 result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9951E1-3CBF-FA50-8534-A6C9D8F92A76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Arrow: Right 5">
            <a:extLst>
              <a:ext uri="{FF2B5EF4-FFF2-40B4-BE49-F238E27FC236}">
                <a16:creationId xmlns:a16="http://schemas.microsoft.com/office/drawing/2014/main" id="{C477BEBF-5239-D3B9-121B-934EB37C1C36}"/>
              </a:ext>
            </a:extLst>
          </p:cNvPr>
          <p:cNvSpPr/>
          <p:nvPr/>
        </p:nvSpPr>
        <p:spPr>
          <a:xfrm>
            <a:off x="234579" y="233969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DE0955-D676-C07A-18B1-756202E8C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949" y="1783080"/>
            <a:ext cx="5093145" cy="227584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5939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9CABD-212B-9832-F2CA-6503D09D1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7C2B83-E5F3-5FF8-79DA-91E8E34DD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690" y="233969"/>
            <a:ext cx="6634480" cy="1368298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C939B0-1CB4-44BA-1D49-CB063BD12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04939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8. uninstall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2AB216-3FC0-77DC-F7E7-FFE351943AF4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Arrow: Right 5">
            <a:extLst>
              <a:ext uri="{FF2B5EF4-FFF2-40B4-BE49-F238E27FC236}">
                <a16:creationId xmlns:a16="http://schemas.microsoft.com/office/drawing/2014/main" id="{C429BC9E-9412-2E95-E975-368D555A074E}"/>
              </a:ext>
            </a:extLst>
          </p:cNvPr>
          <p:cNvSpPr/>
          <p:nvPr/>
        </p:nvSpPr>
        <p:spPr>
          <a:xfrm>
            <a:off x="234579" y="233969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2847010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79F1D-30B6-EED5-F78B-7C3F6C283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6BA9FF-4E14-178A-8673-A997949C1BDF}"/>
              </a:ext>
            </a:extLst>
          </p:cNvPr>
          <p:cNvSpPr/>
          <p:nvPr/>
        </p:nvSpPr>
        <p:spPr>
          <a:xfrm>
            <a:off x="6830869" y="79515"/>
            <a:ext cx="207692" cy="1258228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B039FA10-5ECC-5B56-F4EE-FB8C824CF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749" y="3394243"/>
            <a:ext cx="5785450" cy="212601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1134E72-CCF2-D2D5-32EC-08047ACD3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145" y="3187146"/>
            <a:ext cx="3935296" cy="188070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8B40398-2EC4-6200-155A-D4FDC0D6C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869" y="701942"/>
            <a:ext cx="3607188" cy="1803594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A445D5-C234-2317-2370-AD481323E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2709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9. run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5BF93C-B3C6-631B-B2A8-725C3B5446E7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Arrow: Right 5">
            <a:extLst>
              <a:ext uri="{FF2B5EF4-FFF2-40B4-BE49-F238E27FC236}">
                <a16:creationId xmlns:a16="http://schemas.microsoft.com/office/drawing/2014/main" id="{EAD8BB66-5D84-D4C0-4BC2-0E642843DB01}"/>
              </a:ext>
            </a:extLst>
          </p:cNvPr>
          <p:cNvSpPr/>
          <p:nvPr/>
        </p:nvSpPr>
        <p:spPr>
          <a:xfrm>
            <a:off x="234579" y="233969"/>
            <a:ext cx="1032460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package</a:t>
            </a: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C9DC211A-9678-AADC-2EB9-0CB1E178F3F1}"/>
              </a:ext>
            </a:extLst>
          </p:cNvPr>
          <p:cNvSpPr/>
          <p:nvPr/>
        </p:nvSpPr>
        <p:spPr>
          <a:xfrm>
            <a:off x="1267039" y="253599"/>
            <a:ext cx="1092213" cy="257369"/>
          </a:xfrm>
          <a:prstGeom prst="wedgeRectCallout">
            <a:avLst>
              <a:gd name="adj1" fmla="val -23888"/>
              <a:gd name="adj2" fmla="val 3807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gatsby serve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20C968F-7DA4-101C-C811-BBEA63C7153F}"/>
              </a:ext>
            </a:extLst>
          </p:cNvPr>
          <p:cNvGrpSpPr/>
          <p:nvPr/>
        </p:nvGrpSpPr>
        <p:grpSpPr>
          <a:xfrm>
            <a:off x="1309869" y="2696510"/>
            <a:ext cx="4709373" cy="299662"/>
            <a:chOff x="1643297" y="4045816"/>
            <a:chExt cx="4709373" cy="299662"/>
          </a:xfrm>
        </p:grpSpPr>
        <p:sp>
          <p:nvSpPr>
            <p:cNvPr id="44" name="CaixaDeTexto 17">
              <a:hlinkClick r:id="rId5" action="ppaction://program"/>
              <a:extLst>
                <a:ext uri="{FF2B5EF4-FFF2-40B4-BE49-F238E27FC236}">
                  <a16:creationId xmlns:a16="http://schemas.microsoft.com/office/drawing/2014/main" id="{19A87E9B-AAAD-5298-6C6F-BA8ADEF2362A}"/>
                </a:ext>
              </a:extLst>
            </p:cNvPr>
            <p:cNvSpPr txBox="1"/>
            <p:nvPr/>
          </p:nvSpPr>
          <p:spPr>
            <a:xfrm>
              <a:off x="1980063" y="4103314"/>
              <a:ext cx="4372607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defTabSz="914369">
                <a:defRPr/>
              </a:pPr>
              <a:r>
                <a:rPr lang="en-US" sz="1200" u="sng" dirty="0">
                  <a:solidFill>
                    <a:srgbClr val="4472C4">
                      <a:lumMod val="50000"/>
                    </a:srgbClr>
                  </a:solidFill>
                  <a:latin typeface="Calibri Light" panose="020F0302020204030204"/>
                  <a:hlinkClick r:id="rId6" action="ppaction://hlinkfile"/>
                </a:rPr>
                <a:t>..\..\..\..\autogen\samples\apps\autogen-studio\frontend\package.json</a:t>
              </a:r>
              <a:endParaRPr lang="en-US" sz="1200" u="sng" dirty="0">
                <a:solidFill>
                  <a:srgbClr val="4472C4">
                    <a:lumMod val="50000"/>
                  </a:srgbClr>
                </a:solidFill>
                <a:latin typeface="Calibri Light" panose="020F0302020204030204"/>
              </a:endParaRPr>
            </a:p>
          </p:txBody>
        </p:sp>
        <p:pic>
          <p:nvPicPr>
            <p:cNvPr id="45" name="Imagem 18">
              <a:hlinkClick r:id="rId5" action="ppaction://program"/>
              <a:extLst>
                <a:ext uri="{FF2B5EF4-FFF2-40B4-BE49-F238E27FC236}">
                  <a16:creationId xmlns:a16="http://schemas.microsoft.com/office/drawing/2014/main" id="{9A2E2516-6371-BF28-5601-19789200E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48" name="Explosion: 14 Points 47">
            <a:extLst>
              <a:ext uri="{FF2B5EF4-FFF2-40B4-BE49-F238E27FC236}">
                <a16:creationId xmlns:a16="http://schemas.microsoft.com/office/drawing/2014/main" id="{1CB6AAFB-211E-2E0D-FA6D-090A549BF8D7}"/>
              </a:ext>
            </a:extLst>
          </p:cNvPr>
          <p:cNvSpPr/>
          <p:nvPr/>
        </p:nvSpPr>
        <p:spPr>
          <a:xfrm>
            <a:off x="4679226" y="3114485"/>
            <a:ext cx="2026425" cy="1245156"/>
          </a:xfrm>
          <a:prstGeom prst="irregularSeal2">
            <a:avLst/>
          </a:prstGeom>
          <a:solidFill>
            <a:sysClr val="windowText" lastClr="000000"/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does not </a:t>
            </a:r>
          </a:p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</a:t>
            </a:r>
          </a:p>
        </p:txBody>
      </p:sp>
      <p:sp>
        <p:nvSpPr>
          <p:cNvPr id="50" name="Retângulo 20">
            <a:extLst>
              <a:ext uri="{FF2B5EF4-FFF2-40B4-BE49-F238E27FC236}">
                <a16:creationId xmlns:a16="http://schemas.microsoft.com/office/drawing/2014/main" id="{6984F32F-47F3-8AAD-AF56-D50A763EEA9C}"/>
              </a:ext>
            </a:extLst>
          </p:cNvPr>
          <p:cNvSpPr/>
          <p:nvPr/>
        </p:nvSpPr>
        <p:spPr>
          <a:xfrm>
            <a:off x="1497682" y="1692539"/>
            <a:ext cx="1872372" cy="22248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020D4179-3C25-568C-14E8-C078196A405F}"/>
              </a:ext>
            </a:extLst>
          </p:cNvPr>
          <p:cNvSpPr/>
          <p:nvPr/>
        </p:nvSpPr>
        <p:spPr>
          <a:xfrm>
            <a:off x="7439239" y="233969"/>
            <a:ext cx="2451559" cy="257369"/>
          </a:xfrm>
          <a:prstGeom prst="wedgeRectCallout">
            <a:avLst>
              <a:gd name="adj1" fmla="val -23888"/>
              <a:gd name="adj2" fmla="val 3807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autogenstudio ui --port 8081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5" name="Arrow: Right 5">
            <a:extLst>
              <a:ext uri="{FF2B5EF4-FFF2-40B4-BE49-F238E27FC236}">
                <a16:creationId xmlns:a16="http://schemas.microsoft.com/office/drawing/2014/main" id="{9A0E0130-F437-C629-141C-ADE1605D16F4}"/>
              </a:ext>
            </a:extLst>
          </p:cNvPr>
          <p:cNvSpPr/>
          <p:nvPr/>
        </p:nvSpPr>
        <p:spPr>
          <a:xfrm>
            <a:off x="6927443" y="243783"/>
            <a:ext cx="473013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dirty="0">
                <a:solidFill>
                  <a:prstClr val="white"/>
                </a:solidFill>
                <a:latin typeface="Calibri Light" panose="020F0302020204030204"/>
              </a:rPr>
              <a:t>cli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DC642F-D18C-A738-D06D-E57B0A67B7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3184" y="5668381"/>
            <a:ext cx="2039978" cy="734757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0" name="Explosion: 14 Points 9">
            <a:extLst>
              <a:ext uri="{FF2B5EF4-FFF2-40B4-BE49-F238E27FC236}">
                <a16:creationId xmlns:a16="http://schemas.microsoft.com/office/drawing/2014/main" id="{7143C921-5FEA-26F3-8DCA-474EF649F1B4}"/>
              </a:ext>
            </a:extLst>
          </p:cNvPr>
          <p:cNvSpPr/>
          <p:nvPr/>
        </p:nvSpPr>
        <p:spPr>
          <a:xfrm>
            <a:off x="3617858" y="5178414"/>
            <a:ext cx="1759207" cy="622578"/>
          </a:xfrm>
          <a:prstGeom prst="irregularSeal2">
            <a:avLst/>
          </a:prstGeom>
          <a:solidFill>
            <a:sysClr val="windowText" lastClr="00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033772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82327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71944</TotalTime>
  <Words>437</Words>
  <Application>Microsoft Office PowerPoint</Application>
  <PresentationFormat>Widescreen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code</vt:lpstr>
      <vt:lpstr>2. tutorial</vt:lpstr>
      <vt:lpstr>3. repository</vt:lpstr>
      <vt:lpstr>4. LLM</vt:lpstr>
      <vt:lpstr>5. install</vt:lpstr>
      <vt:lpstr>5.1 setup</vt:lpstr>
      <vt:lpstr>5.2 result</vt:lpstr>
      <vt:lpstr>8. uninstall</vt:lpstr>
      <vt:lpstr>9. run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1182</cp:revision>
  <dcterms:created xsi:type="dcterms:W3CDTF">2019-03-25T09:18:39Z</dcterms:created>
  <dcterms:modified xsi:type="dcterms:W3CDTF">2024-04-11T23:31:59Z</dcterms:modified>
</cp:coreProperties>
</file>