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380" r:id="rId3"/>
    <p:sldId id="381" r:id="rId4"/>
    <p:sldId id="377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07/03/2024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07/03/2024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07/03/2024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ws.amazon.com/what-is/cloud-infrastructure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cleo.com/blog/knowledge-base-cloud-infrastructur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6.svg"/><Relationship Id="rId1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DF682-7328-3021-E312-D1728ED7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DCA75087-87ED-CD49-C47A-7CFC10F647E2}"/>
              </a:ext>
            </a:extLst>
          </p:cNvPr>
          <p:cNvSpPr/>
          <p:nvPr/>
        </p:nvSpPr>
        <p:spPr>
          <a:xfrm>
            <a:off x="2997750" y="5700204"/>
            <a:ext cx="1239689" cy="534368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scalability,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flexibility,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cost-effectiveness, </a:t>
            </a: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08931241-1F91-96F0-54E9-09BAC350B578}"/>
              </a:ext>
            </a:extLst>
          </p:cNvPr>
          <p:cNvSpPr/>
          <p:nvPr/>
        </p:nvSpPr>
        <p:spPr>
          <a:xfrm>
            <a:off x="2485962" y="2301907"/>
            <a:ext cx="850160" cy="226591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technology </a:t>
            </a: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89BFAB58-863F-2A90-7346-9F974A3A19A1}"/>
              </a:ext>
            </a:extLst>
          </p:cNvPr>
          <p:cNvSpPr/>
          <p:nvPr/>
        </p:nvSpPr>
        <p:spPr>
          <a:xfrm>
            <a:off x="2257551" y="1490751"/>
            <a:ext cx="1432050" cy="534368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servers,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storage devices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networking equipment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B38239-8501-2304-B900-DBB92951EE75}"/>
              </a:ext>
            </a:extLst>
          </p:cNvPr>
          <p:cNvSpPr/>
          <p:nvPr/>
        </p:nvSpPr>
        <p:spPr>
          <a:xfrm>
            <a:off x="1264042" y="1428165"/>
            <a:ext cx="251307" cy="3924000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DB37C-9FA8-2682-AAB7-A4297765B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8186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492E8A-9D79-0DA2-D94E-315073567155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1BAEB12-0F9C-3876-2F0D-55BA537EDEF5}"/>
              </a:ext>
            </a:extLst>
          </p:cNvPr>
          <p:cNvSpPr/>
          <p:nvPr/>
        </p:nvSpPr>
        <p:spPr>
          <a:xfrm>
            <a:off x="843066" y="205349"/>
            <a:ext cx="1236483" cy="688256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collection of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hardware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software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resources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8EE144-F8C8-DF11-19E8-F523C4F93DA5}"/>
              </a:ext>
            </a:extLst>
          </p:cNvPr>
          <p:cNvGrpSpPr/>
          <p:nvPr/>
        </p:nvGrpSpPr>
        <p:grpSpPr>
          <a:xfrm>
            <a:off x="843066" y="889684"/>
            <a:ext cx="1716021" cy="215444"/>
            <a:chOff x="5881666" y="1569745"/>
            <a:chExt cx="1716021" cy="21544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0C8A6CA9-D85A-9D70-F0AD-02E26BDDE17E}"/>
                </a:ext>
              </a:extLst>
            </p:cNvPr>
            <p:cNvSpPr/>
            <p:nvPr/>
          </p:nvSpPr>
          <p:spPr>
            <a:xfrm>
              <a:off x="5981539" y="1569745"/>
              <a:ext cx="161614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aws/what-is/cloud-infrastructure/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261D4A10-95A5-988F-A8DA-EB251C855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9F178053-510A-F978-3633-B43EAB1819B5}"/>
              </a:ext>
            </a:extLst>
          </p:cNvPr>
          <p:cNvSpPr/>
          <p:nvPr/>
        </p:nvSpPr>
        <p:spPr>
          <a:xfrm>
            <a:off x="2325316" y="235416"/>
            <a:ext cx="1021681" cy="534368"/>
          </a:xfrm>
          <a:prstGeom prst="wedgeRectCallout">
            <a:avLst>
              <a:gd name="adj1" fmla="val -72622"/>
              <a:gd name="adj2" fmla="val -183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enable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cloud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computing</a:t>
            </a: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46D5778B-3DDB-D9CC-E9A6-BCCAF39D4933}"/>
              </a:ext>
            </a:extLst>
          </p:cNvPr>
          <p:cNvSpPr/>
          <p:nvPr/>
        </p:nvSpPr>
        <p:spPr>
          <a:xfrm>
            <a:off x="228281" y="255213"/>
            <a:ext cx="58361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D15A5CE-24CC-D15E-65E3-15F15F5B21BC}"/>
              </a:ext>
            </a:extLst>
          </p:cNvPr>
          <p:cNvSpPr/>
          <p:nvPr/>
        </p:nvSpPr>
        <p:spPr>
          <a:xfrm>
            <a:off x="752836" y="5700204"/>
            <a:ext cx="1359915" cy="534368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hosting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services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applications </a:t>
            </a:r>
          </a:p>
        </p:txBody>
      </p:sp>
      <p:sp>
        <p:nvSpPr>
          <p:cNvPr id="16" name="Arrow: Right 5">
            <a:extLst>
              <a:ext uri="{FF2B5EF4-FFF2-40B4-BE49-F238E27FC236}">
                <a16:creationId xmlns:a16="http://schemas.microsoft.com/office/drawing/2014/main" id="{1650830C-69AB-825A-E788-5EFB63085FB0}"/>
              </a:ext>
            </a:extLst>
          </p:cNvPr>
          <p:cNvSpPr/>
          <p:nvPr/>
        </p:nvSpPr>
        <p:spPr>
          <a:xfrm>
            <a:off x="228281" y="1430392"/>
            <a:ext cx="1046888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components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9" name="Arrow: Right 5">
            <a:extLst>
              <a:ext uri="{FF2B5EF4-FFF2-40B4-BE49-F238E27FC236}">
                <a16:creationId xmlns:a16="http://schemas.microsoft.com/office/drawing/2014/main" id="{0BEDE935-D1B0-FEBC-D66A-FA85D165C27C}"/>
              </a:ext>
            </a:extLst>
          </p:cNvPr>
          <p:cNvSpPr/>
          <p:nvPr/>
        </p:nvSpPr>
        <p:spPr>
          <a:xfrm>
            <a:off x="1429482" y="1512626"/>
            <a:ext cx="865748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hardware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7B50D74C-B47F-48FD-2F00-125052C4976C}"/>
              </a:ext>
            </a:extLst>
          </p:cNvPr>
          <p:cNvSpPr/>
          <p:nvPr/>
        </p:nvSpPr>
        <p:spPr>
          <a:xfrm>
            <a:off x="4477697" y="1512626"/>
            <a:ext cx="920692" cy="226591"/>
          </a:xfrm>
          <a:prstGeom prst="wedgeRectCallout">
            <a:avLst>
              <a:gd name="adj1" fmla="val -39744"/>
              <a:gd name="adj2" fmla="val -1419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data centers </a:t>
            </a:r>
          </a:p>
        </p:txBody>
      </p:sp>
      <p:sp>
        <p:nvSpPr>
          <p:cNvPr id="22" name="Arrow: Right 5">
            <a:extLst>
              <a:ext uri="{FF2B5EF4-FFF2-40B4-BE49-F238E27FC236}">
                <a16:creationId xmlns:a16="http://schemas.microsoft.com/office/drawing/2014/main" id="{E8401656-B739-5604-C42D-10CAF992088B}"/>
              </a:ext>
            </a:extLst>
          </p:cNvPr>
          <p:cNvSpPr/>
          <p:nvPr/>
        </p:nvSpPr>
        <p:spPr>
          <a:xfrm>
            <a:off x="1429482" y="2301907"/>
            <a:ext cx="1075742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virtualization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7E2171D4-131D-6822-62E0-B5929A761D99}"/>
              </a:ext>
            </a:extLst>
          </p:cNvPr>
          <p:cNvSpPr/>
          <p:nvPr/>
        </p:nvSpPr>
        <p:spPr>
          <a:xfrm>
            <a:off x="6153810" y="2310862"/>
            <a:ext cx="731538" cy="226591"/>
          </a:xfrm>
          <a:prstGeom prst="wedgeRectCallout">
            <a:avLst>
              <a:gd name="adj1" fmla="val -26093"/>
              <a:gd name="adj2" fmla="val -2565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software 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37197577-D7F3-0E8E-F307-7AFAEE71DCBE}"/>
              </a:ext>
            </a:extLst>
          </p:cNvPr>
          <p:cNvSpPr/>
          <p:nvPr/>
        </p:nvSpPr>
        <p:spPr>
          <a:xfrm>
            <a:off x="5516151" y="1517018"/>
            <a:ext cx="1864860" cy="688256"/>
          </a:xfrm>
          <a:prstGeom prst="wedgeRectCallout">
            <a:avLst>
              <a:gd name="adj1" fmla="val -58039"/>
              <a:gd name="adj2" fmla="val -3012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across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various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geographical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locations</a:t>
            </a: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0F8738CD-8477-F3FF-29F0-C3C09F3808F5}"/>
              </a:ext>
            </a:extLst>
          </p:cNvPr>
          <p:cNvSpPr/>
          <p:nvPr/>
        </p:nvSpPr>
        <p:spPr>
          <a:xfrm>
            <a:off x="3450705" y="2301907"/>
            <a:ext cx="2007528" cy="688256"/>
          </a:xfrm>
          <a:prstGeom prst="wedgeRectCallout">
            <a:avLst>
              <a:gd name="adj1" fmla="val -57878"/>
              <a:gd name="adj2" fmla="val -2999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separates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IT services and functions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from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hardware</a:t>
            </a: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CA95BF5C-A3A7-6CE8-40B2-DAF30DA200E0}"/>
              </a:ext>
            </a:extLst>
          </p:cNvPr>
          <p:cNvSpPr/>
          <p:nvPr/>
        </p:nvSpPr>
        <p:spPr>
          <a:xfrm>
            <a:off x="6982474" y="2301907"/>
            <a:ext cx="1813564" cy="380480"/>
          </a:xfrm>
          <a:prstGeom prst="wedgeRectCallout">
            <a:avLst>
              <a:gd name="adj1" fmla="val -56794"/>
              <a:gd name="adj2" fmla="val -2388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sits on top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of physical hardware </a:t>
            </a: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E8C7EBC4-CF02-5736-DAC5-C9C9FC4A081F}"/>
              </a:ext>
            </a:extLst>
          </p:cNvPr>
          <p:cNvSpPr/>
          <p:nvPr/>
        </p:nvSpPr>
        <p:spPr>
          <a:xfrm>
            <a:off x="8893164" y="2300500"/>
            <a:ext cx="2065236" cy="688256"/>
          </a:xfrm>
          <a:prstGeom prst="wedgeRectCallout">
            <a:avLst>
              <a:gd name="adj1" fmla="val -56794"/>
              <a:gd name="adj2" fmla="val -2388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abstracts the machine's resources,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memory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computing power,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storage</a:t>
            </a:r>
          </a:p>
        </p:txBody>
      </p:sp>
      <p:sp>
        <p:nvSpPr>
          <p:cNvPr id="29" name="Arrow: Right 5">
            <a:extLst>
              <a:ext uri="{FF2B5EF4-FFF2-40B4-BE49-F238E27FC236}">
                <a16:creationId xmlns:a16="http://schemas.microsoft.com/office/drawing/2014/main" id="{2AACAD8E-3E65-D061-DFFB-035C00D9B3D3}"/>
              </a:ext>
            </a:extLst>
          </p:cNvPr>
          <p:cNvSpPr/>
          <p:nvPr/>
        </p:nvSpPr>
        <p:spPr>
          <a:xfrm>
            <a:off x="5229915" y="2310862"/>
            <a:ext cx="921853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hypervisor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D60D9BC5-D6A9-FECE-1ACE-E75A0AB919FA}"/>
              </a:ext>
            </a:extLst>
          </p:cNvPr>
          <p:cNvSpPr/>
          <p:nvPr/>
        </p:nvSpPr>
        <p:spPr>
          <a:xfrm>
            <a:off x="3584964" y="1512787"/>
            <a:ext cx="880175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located in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32" name="Speech Bubble: Rectangle 31">
            <a:extLst>
              <a:ext uri="{FF2B5EF4-FFF2-40B4-BE49-F238E27FC236}">
                <a16:creationId xmlns:a16="http://schemas.microsoft.com/office/drawing/2014/main" id="{0BD37B77-C8BB-1B4F-770F-14B764AEE9C8}"/>
              </a:ext>
            </a:extLst>
          </p:cNvPr>
          <p:cNvSpPr/>
          <p:nvPr/>
        </p:nvSpPr>
        <p:spPr>
          <a:xfrm>
            <a:off x="2165387" y="3156733"/>
            <a:ext cx="1754254" cy="842145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data is stored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across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many disks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in a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single storage array</a:t>
            </a:r>
          </a:p>
        </p:txBody>
      </p:sp>
      <p:sp>
        <p:nvSpPr>
          <p:cNvPr id="33" name="Arrow: Right 5">
            <a:extLst>
              <a:ext uri="{FF2B5EF4-FFF2-40B4-BE49-F238E27FC236}">
                <a16:creationId xmlns:a16="http://schemas.microsoft.com/office/drawing/2014/main" id="{9BA62880-9963-80FE-76AD-6745D49527AB}"/>
              </a:ext>
            </a:extLst>
          </p:cNvPr>
          <p:cNvSpPr/>
          <p:nvPr/>
        </p:nvSpPr>
        <p:spPr>
          <a:xfrm>
            <a:off x="1429482" y="3162089"/>
            <a:ext cx="735905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storage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7B00EF3A-6493-81DB-813D-123317381938}"/>
              </a:ext>
            </a:extLst>
          </p:cNvPr>
          <p:cNvSpPr/>
          <p:nvPr/>
        </p:nvSpPr>
        <p:spPr>
          <a:xfrm>
            <a:off x="5292085" y="3162089"/>
            <a:ext cx="3344433" cy="1303809"/>
          </a:xfrm>
          <a:prstGeom prst="wedgeRectCallout">
            <a:avLst>
              <a:gd name="adj1" fmla="val -50491"/>
              <a:gd name="adj2" fmla="val -21898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ensures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data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is correctly backed up,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is indexed for retrieval </a:t>
            </a:r>
          </a:p>
          <a:p>
            <a:pPr marL="1543050" lvl="3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in case </a:t>
            </a:r>
          </a:p>
          <a:p>
            <a:pPr marL="2000250" lvl="4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storage component fails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outdated backups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are removed regularly</a:t>
            </a:r>
          </a:p>
        </p:txBody>
      </p:sp>
      <p:sp>
        <p:nvSpPr>
          <p:cNvPr id="35" name="Arrow: Right 5">
            <a:extLst>
              <a:ext uri="{FF2B5EF4-FFF2-40B4-BE49-F238E27FC236}">
                <a16:creationId xmlns:a16="http://schemas.microsoft.com/office/drawing/2014/main" id="{F3559BE0-0533-8360-AAE9-DF23052F80EA}"/>
              </a:ext>
            </a:extLst>
          </p:cNvPr>
          <p:cNvSpPr/>
          <p:nvPr/>
        </p:nvSpPr>
        <p:spPr>
          <a:xfrm>
            <a:off x="3663308" y="3188085"/>
            <a:ext cx="1628777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storage management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E93F3931-6D6E-D169-4781-68F27320650B}"/>
              </a:ext>
            </a:extLst>
          </p:cNvPr>
          <p:cNvSpPr/>
          <p:nvPr/>
        </p:nvSpPr>
        <p:spPr>
          <a:xfrm>
            <a:off x="2395882" y="4666581"/>
            <a:ext cx="965576" cy="534368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physical wires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switches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routers</a:t>
            </a:r>
          </a:p>
        </p:txBody>
      </p:sp>
      <p:sp>
        <p:nvSpPr>
          <p:cNvPr id="37" name="Arrow: Right 5">
            <a:extLst>
              <a:ext uri="{FF2B5EF4-FFF2-40B4-BE49-F238E27FC236}">
                <a16:creationId xmlns:a16="http://schemas.microsoft.com/office/drawing/2014/main" id="{CD24E6BC-A2BB-5221-3EA8-3C7324208246}"/>
              </a:ext>
            </a:extLst>
          </p:cNvPr>
          <p:cNvSpPr/>
          <p:nvPr/>
        </p:nvSpPr>
        <p:spPr>
          <a:xfrm>
            <a:off x="1422732" y="4710271"/>
            <a:ext cx="973150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networking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A7C14A59-1D4F-C101-E4EA-2FF48A34CE66}"/>
              </a:ext>
            </a:extLst>
          </p:cNvPr>
          <p:cNvSpPr/>
          <p:nvPr/>
        </p:nvSpPr>
        <p:spPr>
          <a:xfrm>
            <a:off x="4120508" y="4698547"/>
            <a:ext cx="1092213" cy="688256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data storage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applications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microservices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other workloads</a:t>
            </a:r>
          </a:p>
        </p:txBody>
      </p:sp>
      <p:sp>
        <p:nvSpPr>
          <p:cNvPr id="39" name="Arrow: Right 5">
            <a:extLst>
              <a:ext uri="{FF2B5EF4-FFF2-40B4-BE49-F238E27FC236}">
                <a16:creationId xmlns:a16="http://schemas.microsoft.com/office/drawing/2014/main" id="{EA403F6C-AA65-CEBC-AC6F-4F32BF8E1C9B}"/>
              </a:ext>
            </a:extLst>
          </p:cNvPr>
          <p:cNvSpPr/>
          <p:nvPr/>
        </p:nvSpPr>
        <p:spPr>
          <a:xfrm>
            <a:off x="3309266" y="4706590"/>
            <a:ext cx="771171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connect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CD72EBC6-E82B-B283-81EE-7465F128F4EC}"/>
              </a:ext>
            </a:extLst>
          </p:cNvPr>
          <p:cNvSpPr/>
          <p:nvPr/>
        </p:nvSpPr>
        <p:spPr>
          <a:xfrm>
            <a:off x="5291395" y="4698547"/>
            <a:ext cx="1593953" cy="688256"/>
          </a:xfrm>
          <a:prstGeom prst="wedgeRectCallout">
            <a:avLst>
              <a:gd name="adj1" fmla="val -54414"/>
              <a:gd name="adj2" fmla="val -2708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across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different servers </a:t>
            </a:r>
          </a:p>
          <a:p>
            <a:pPr marL="1085850" lvl="2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and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data centers</a:t>
            </a:r>
          </a:p>
        </p:txBody>
      </p:sp>
      <p:sp>
        <p:nvSpPr>
          <p:cNvPr id="41" name="Arrow: Right 5">
            <a:extLst>
              <a:ext uri="{FF2B5EF4-FFF2-40B4-BE49-F238E27FC236}">
                <a16:creationId xmlns:a16="http://schemas.microsoft.com/office/drawing/2014/main" id="{DBF7884B-4E1F-C951-FF44-5F27DA89A944}"/>
              </a:ext>
            </a:extLst>
          </p:cNvPr>
          <p:cNvSpPr/>
          <p:nvPr/>
        </p:nvSpPr>
        <p:spPr>
          <a:xfrm>
            <a:off x="228281" y="5744987"/>
            <a:ext cx="527515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3B3CCD0B-C8B2-CDA8-5154-C5732457866B}"/>
              </a:ext>
            </a:extLst>
          </p:cNvPr>
          <p:cNvSpPr/>
          <p:nvPr/>
        </p:nvSpPr>
        <p:spPr>
          <a:xfrm>
            <a:off x="4909424" y="5708635"/>
            <a:ext cx="1686928" cy="534368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resources can be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scaled up or down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based on demand</a:t>
            </a:r>
          </a:p>
        </p:txBody>
      </p:sp>
      <p:sp>
        <p:nvSpPr>
          <p:cNvPr id="43" name="Arrow: Right 5">
            <a:extLst>
              <a:ext uri="{FF2B5EF4-FFF2-40B4-BE49-F238E27FC236}">
                <a16:creationId xmlns:a16="http://schemas.microsoft.com/office/drawing/2014/main" id="{183C9E3A-B147-89E8-6FB1-40AB5E4F8DCA}"/>
              </a:ext>
            </a:extLst>
          </p:cNvPr>
          <p:cNvSpPr/>
          <p:nvPr/>
        </p:nvSpPr>
        <p:spPr>
          <a:xfrm>
            <a:off x="2125559" y="5756805"/>
            <a:ext cx="873763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allows for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45" name="Arrow: Right 5">
            <a:extLst>
              <a:ext uri="{FF2B5EF4-FFF2-40B4-BE49-F238E27FC236}">
                <a16:creationId xmlns:a16="http://schemas.microsoft.com/office/drawing/2014/main" id="{CDD4623A-FFC8-C00B-BCC1-6330EAF5CA00}"/>
              </a:ext>
            </a:extLst>
          </p:cNvPr>
          <p:cNvSpPr/>
          <p:nvPr/>
        </p:nvSpPr>
        <p:spPr>
          <a:xfrm>
            <a:off x="4369085" y="5744987"/>
            <a:ext cx="54033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how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82D132BE-39B2-C18A-D959-5E0EB5CAD01A}"/>
              </a:ext>
            </a:extLst>
          </p:cNvPr>
          <p:cNvSpPr/>
          <p:nvPr/>
        </p:nvSpPr>
        <p:spPr>
          <a:xfrm>
            <a:off x="6878157" y="5686088"/>
            <a:ext cx="935119" cy="534368"/>
          </a:xfrm>
          <a:prstGeom prst="wedgeRectCallout">
            <a:avLst>
              <a:gd name="adj1" fmla="val -55244"/>
              <a:gd name="adj2" fmla="val -2348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only pay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for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what you use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8DA47B7-012B-E877-2CAA-464636A1A615}"/>
              </a:ext>
            </a:extLst>
          </p:cNvPr>
          <p:cNvGrpSpPr/>
          <p:nvPr/>
        </p:nvGrpSpPr>
        <p:grpSpPr>
          <a:xfrm>
            <a:off x="853379" y="1083154"/>
            <a:ext cx="1558927" cy="215444"/>
            <a:chOff x="5881666" y="1569745"/>
            <a:chExt cx="1558927" cy="215444"/>
          </a:xfrm>
        </p:grpSpPr>
        <p:sp>
          <p:nvSpPr>
            <p:cNvPr id="48" name="Retângulo 5">
              <a:extLst>
                <a:ext uri="{FF2B5EF4-FFF2-40B4-BE49-F238E27FC236}">
                  <a16:creationId xmlns:a16="http://schemas.microsoft.com/office/drawing/2014/main" id="{FD37BB7E-0356-1A3C-73AD-72E6E9B16162}"/>
                </a:ext>
              </a:extLst>
            </p:cNvPr>
            <p:cNvSpPr/>
            <p:nvPr/>
          </p:nvSpPr>
          <p:spPr>
            <a:xfrm>
              <a:off x="5981539" y="1569745"/>
              <a:ext cx="145905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types, requirements, 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beneficts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AA5514C4-5B91-26A2-56F7-3115C9ADD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413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417A5-E064-3C94-F435-BF4A7CDA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6D85-917C-D628-12BE-AA19D0516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8453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sources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14E96-2C75-4753-E618-682208DFFE37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2F336B7A-4612-AF49-F47F-830E7B8208ED}"/>
              </a:ext>
            </a:extLst>
          </p:cNvPr>
          <p:cNvSpPr/>
          <p:nvPr/>
        </p:nvSpPr>
        <p:spPr>
          <a:xfrm>
            <a:off x="811900" y="143174"/>
            <a:ext cx="8248018" cy="1149921"/>
          </a:xfrm>
          <a:prstGeom prst="wedgeRectCallout">
            <a:avLst>
              <a:gd name="adj1" fmla="val -41113"/>
              <a:gd name="adj2" fmla="val -2636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Source: Conversation with Bing, 3/7/2024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(1) What is cloud infrastructure?. https://www.redhat.com/en/topics/cloud-computing/what-is-cloud-infrastructure.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(2) What is Cloud Infrastructure? - Cloud Computing Infrastructure .... https://aws.amazon.com/what-is/cloud-infrastructure/.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(3) Cloud Infrastructure Types, Requirements and Benefits. https://www.cleo.com/blog/knowledge-base-cloud-infrastructure.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(4) What Is Cloud Infrastructure and How Does It Ease Cloud Computing?. https://www.g2.com/articles/cloud-infrastructure.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(5) What is Cloud Computing Infrastructure? | VMware Glossary. https://www.vmware.com/topics/glossary/content/cloud-computing-infrastructure.html.</a:t>
            </a:r>
          </a:p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white"/>
                </a:solidFill>
                <a:latin typeface="Calibri Light" panose="020F0302020204030204"/>
              </a:rPr>
              <a:t>(6) Getty Images. https://www.gettyimages.com/detail/photo/cloud-computing-royalty-free-image/1145589623.</a:t>
            </a: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2FD6066F-9B23-E92A-BCCC-EECC304E7D20}"/>
              </a:ext>
            </a:extLst>
          </p:cNvPr>
          <p:cNvSpPr/>
          <p:nvPr/>
        </p:nvSpPr>
        <p:spPr>
          <a:xfrm>
            <a:off x="228281" y="255213"/>
            <a:ext cx="58361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35075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68669</TotalTime>
  <Words>363</Words>
  <Application>Microsoft Office PowerPoint</Application>
  <PresentationFormat>Widescreen</PresentationFormat>
  <Paragraphs>112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infrastructure</vt:lpstr>
      <vt:lpstr>1.1 sources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1131</cp:revision>
  <dcterms:created xsi:type="dcterms:W3CDTF">2019-03-25T09:18:39Z</dcterms:created>
  <dcterms:modified xsi:type="dcterms:W3CDTF">2024-03-07T14:45:45Z</dcterms:modified>
</cp:coreProperties>
</file>