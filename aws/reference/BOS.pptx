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59" r:id="rId3"/>
    <p:sldId id="388" r:id="rId4"/>
    <p:sldId id="391" r:id="rId5"/>
    <p:sldId id="399" r:id="rId6"/>
    <p:sldId id="395" r:id="rId7"/>
    <p:sldId id="397" r:id="rId8"/>
    <p:sldId id="398" r:id="rId9"/>
    <p:sldId id="377" r:id="rId10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7264" autoAdjust="0"/>
    <p:restoredTop sz="86410" autoAdjust="0"/>
  </p:normalViewPr>
  <p:slideViewPr>
    <p:cSldViewPr snapToGrid="0">
      <p:cViewPr>
        <p:scale>
          <a:sx n="100" d="100"/>
          <a:sy n="100" d="100"/>
        </p:scale>
        <p:origin x="58" y="-45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261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3D7D23-95FE-4191-B08D-3CBB1E1CEEFE}" type="datetimeFigureOut">
              <a:rPr lang="pt-PT" smtClean="0"/>
              <a:t>19/04/2024</a:t>
            </a:fld>
            <a:endParaRPr lang="pt-PT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0636E-53A0-461E-B4DA-47B90EBA88BA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635777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D97C-8255-4BAC-9D42-1F6A6651E287}" type="datetime1">
              <a:rPr lang="pt-PT" smtClean="0"/>
              <a:t>19/04/2024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81197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36660-F7C2-4C37-BD61-E2E985519A54}" type="datetime1">
              <a:rPr lang="pt-PT" smtClean="0"/>
              <a:t>19/04/2024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15900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C553A-1723-4842-A3DB-E76BD21F5C6D}" type="datetime1">
              <a:rPr lang="pt-PT" smtClean="0"/>
              <a:t>19/04/2024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875602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351E-3840-4886-B007-BC84D7C14686}" type="datetime1">
              <a:rPr lang="pt-PT" smtClean="0"/>
              <a:t>19/04/2024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238646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86839-F4ED-436E-9AC9-AC7A0A0CD179}" type="datetime1">
              <a:rPr lang="pt-PT" smtClean="0"/>
              <a:t>19/04/2024</a:t>
            </a:fld>
            <a:endParaRPr lang="pt-PT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63095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82247-1A7C-4F98-8F33-5E4D07EFBF12}" type="datetime1">
              <a:rPr lang="pt-PT" smtClean="0"/>
              <a:t>19/04/2024</a:t>
            </a:fld>
            <a:endParaRPr lang="pt-PT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80028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320DE-3391-4A27-9653-F2BD505B9A08}" type="datetime1">
              <a:rPr lang="pt-PT" smtClean="0"/>
              <a:t>19/04/2024</a:t>
            </a:fld>
            <a:endParaRPr lang="pt-PT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579088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250C8-88B2-4209-BD56-05813AC521DC}" type="datetime1">
              <a:rPr lang="pt-PT" smtClean="0"/>
              <a:t>19/04/2024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12869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47055-2F12-42A4-9432-334276564B1D}" type="datetime1">
              <a:rPr lang="pt-PT" smtClean="0"/>
              <a:t>19/04/2024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011216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8996-E467-4FE1-B165-4002860D0AC7}" type="datetime1">
              <a:rPr lang="pt-PT" smtClean="0"/>
              <a:t>19/04/2024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445231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4532E-E792-4BF5-B399-9E5E16070233}" type="datetime1">
              <a:rPr lang="pt-PT" smtClean="0"/>
              <a:t>19/04/2024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107981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4D900-928E-403C-BF53-CAAB2E2C4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18B940-75D1-4C46-9CFE-6474763922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A2CD6-5FB1-46E7-BBF2-06C11EFE0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19/04/2024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AF7F0-99C0-4949-9F3A-098A33A79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BC4E3-3A90-4903-AA2B-BEE787AB0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6626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A0CBE-4D75-4070-9727-D6568849B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48656-59AB-4DDA-BA5E-906CE3CE4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0D26C-F7F1-4295-850E-F65B6A182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19/04/2024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31830-C80B-4D82-9540-948794ACE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3081E-0503-4818-8F70-5B7EF7115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283780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C5B21-4830-48A5-862B-ABDF25C5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46B740-92E9-4F69-A3BC-3370B88AD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D8454-4F6E-410A-9B06-56F8E8B98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19/04/2024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50F26-960E-41B7-A0CF-5FD4D9392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60EE7-FD8B-4114-B0D7-C530EA445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762260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1C6DB-0704-453E-AA7A-EDB8E503E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81CFE-81A7-43F6-9DE8-5001C3319A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B6F9B9-C2D3-4E58-BF2D-86CBBBCF7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E05F8-F9B8-4595-9172-117938DFF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19/04/2024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670A2-41C2-4D8A-B93D-8F4D34BB2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016F9-4DB7-42E2-8D0A-65B7CD30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947758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96546-7AA6-4539-810A-0AC166A58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A938C-8040-48C6-8939-B3F0A9E7D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760B8-4D37-4E87-8073-042AF52A4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D81F80-B628-4BD3-B94F-CCC211B693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9E79D3-9A2B-4BCE-AF53-894A2D5B8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FA42F1-1652-4482-A407-F5D97A884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19/04/2024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43F25A-7E30-4A66-9495-AA5714A2C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CE7AC5-D765-47F7-89A4-DA8F32904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504636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B22E3-31A6-4D0E-AA4C-B0AA18235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2934A3-5AE1-40D8-8067-9E1D252E9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19/04/2024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FEFDC3-F146-471F-82E0-FB6C2D901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E55F47-05F6-49F9-BE0C-B927C558E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198014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DA7C86-FE30-4F3E-A72C-139359D01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19/04/2024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2663B0-D551-4DBD-BFF2-A571F75E9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62710-B633-46B8-B335-87D5DE318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031262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46708-3CEB-435E-8498-6562E3777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97C09-A03A-43E5-9A11-7273458D3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52C248-11E6-4154-A326-1B8F7D2EE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FDC9D5-C4A3-4FDE-9E36-375F2B348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19/04/2024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2A057-54CB-4E24-80E7-736BFC2E1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39B1B1-0646-4C4C-92B7-B3E145870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222383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9F7D4-D633-427F-9E9A-6B5549734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D3F0D6-3084-4516-AED5-37221D1D77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47CDB-4B6C-48AA-A9BA-59A1994D8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B84827-B00B-446A-B5F1-D65E98FDD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19/04/2024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721318-5825-42BF-9ACA-060A59DCB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A1AE2-4E68-4683-B3D6-D2D421FF7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704687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18B47-6B5B-4C41-A6E1-3490CE204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8EDB63-0281-4D84-A4C5-17B0CFFB29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29AA0-B865-40C8-A653-6197F492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19/04/2024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8ED7A-C5C7-4968-BFBA-53DA7EDE0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9E3A9-78F3-4296-A92C-D732DADD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250174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5582FE-E45E-4458-AC02-44F4A62E36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92EF0A-6E63-4D2C-B998-E3CF727CC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DC659-7D8F-4CAA-ACB0-ED17AC7A0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19/04/2024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14C8E-083A-481C-A107-4A809F2AB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10F76-989E-49D9-B4AD-276E51C7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23644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83CD8-EC5B-4369-8F97-BE1E84F10887}" type="datetime1">
              <a:rPr lang="pt-PT" smtClean="0"/>
              <a:t>19/04/2024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133174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2791A7-C9A5-46D8-9C81-1E4A5947E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E0097-E8D6-43DE-AF41-81E590C1A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8699B-64E4-49C2-80D7-484D6DAA32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AF87E-A15D-4480-B791-15D75F8AF848}" type="datetimeFigureOut">
              <a:rPr lang="pt-PT" smtClean="0"/>
              <a:t>19/04/2024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15122-A6FE-41E7-BB00-91A147638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013BE-7A46-476B-B9E5-FD0F38D9F2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9573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../skunk.pptx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bos/autogen.pptx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hyperlink" Target="bos/orchestrator.pptx" TargetMode="External"/><Relationship Id="rId5" Type="http://schemas.openxmlformats.org/officeDocument/2006/relationships/hyperlink" Target="bos/semantic_kernel.pptx" TargetMode="External"/><Relationship Id="rId4" Type="http://schemas.openxmlformats.org/officeDocument/2006/relationships/hyperlink" Target="bos/studio.pptx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hyperlink" Target="https://github.com/joaomdmoura/crewai/" TargetMode="External"/><Relationship Id="rId2" Type="http://schemas.openxmlformats.org/officeDocument/2006/relationships/hyperlink" Target="https://devblogs.microsoft.com/semantic-kernel/autogen-agents-meet-semantic-kernel/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hyperlink" Target="https://arxiv.org/pdf/2308.08155.pdf" TargetMode="External"/><Relationship Id="rId4" Type="http://schemas.openxmlformats.org/officeDocument/2006/relationships/image" Target="../media/image3.png"/><Relationship Id="rId9" Type="http://schemas.openxmlformats.org/officeDocument/2006/relationships/hyperlink" Target="https://www.crewai.io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reimagined-acorn-wq5w5w9rx9f5696.github.dev/" TargetMode="Externa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cegidgroup-my.sharepoint.com/:w:/g/personal/ctaltas_cegid_com/EfdBhkpX9MtPu0oeAeNE2-MBFnl03lUj7PANJT2FvyVbCA?e=4%3Akw6oL6&amp;sharingv2=true&amp;fromShare=true&amp;at=9&amp;CID=5CCE4CFA-F44E-43DC-AD28-8242CBF31967" TargetMode="Externa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egidgroup-my.sharepoint.com/:x:/r/personal/ctaltas_cegid_com/_layouts/15/Doc.aspx?sourcedoc=%7BBC336D66-050F-4D5E-8B4D-A09B1597F427%7D&amp;file=OKR%20Cegid%20Business%20-%20Wise.xlsx&amp;action=default&amp;mobileredirect=true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bos-studio-frontend.azurewebsites.net/build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5.png"/><Relationship Id="rId3" Type="http://schemas.openxmlformats.org/officeDocument/2006/relationships/hyperlink" Target="https://entityframework-plus.net/" TargetMode="External"/><Relationship Id="rId7" Type="http://schemas.openxmlformats.org/officeDocument/2006/relationships/hyperlink" Target="A1_reference/functionalities.pptx" TargetMode="External"/><Relationship Id="rId12" Type="http://schemas.openxmlformats.org/officeDocument/2006/relationships/image" Target="../media/image14.png"/><Relationship Id="rId2" Type="http://schemas.openxmlformats.org/officeDocument/2006/relationships/image" Target="../media/image10.png"/><Relationship Id="rId16" Type="http://schemas.openxmlformats.org/officeDocument/2006/relationships/hyperlink" Target="../_actions/zig_help.ba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A2_introduction.pptx" TargetMode="External"/><Relationship Id="rId11" Type="http://schemas.openxmlformats.org/officeDocument/2006/relationships/hyperlink" Target="file:///D:\A1_research\C2_c0dice\B1_jmeter\A1_install" TargetMode="External"/><Relationship Id="rId5" Type="http://schemas.openxmlformats.org/officeDocument/2006/relationships/image" Target="../media/image1.png"/><Relationship Id="rId15" Type="http://schemas.openxmlformats.org/officeDocument/2006/relationships/image" Target="../media/image16.png"/><Relationship Id="rId10" Type="http://schemas.openxmlformats.org/officeDocument/2006/relationships/hyperlink" Target="file:///C:\Windows\explorer.exe%20F:\ides\AZ_vStudio2017" TargetMode="External"/><Relationship Id="rId4" Type="http://schemas.openxmlformats.org/officeDocument/2006/relationships/image" Target="../media/image11.png"/><Relationship Id="rId9" Type="http://schemas.openxmlformats.org/officeDocument/2006/relationships/image" Target="../media/image13.svg"/><Relationship Id="rId14" Type="http://schemas.openxmlformats.org/officeDocument/2006/relationships/slide" Target="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7F764-8D4D-421D-979F-2C7A67DE06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585417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1. b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OS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25A99C1-6379-F149-F2BA-AD06BBD2502D}"/>
              </a:ext>
            </a:extLst>
          </p:cNvPr>
          <p:cNvGrpSpPr/>
          <p:nvPr/>
        </p:nvGrpSpPr>
        <p:grpSpPr>
          <a:xfrm>
            <a:off x="10525307" y="125397"/>
            <a:ext cx="1042719" cy="283293"/>
            <a:chOff x="5611636" y="5954426"/>
            <a:chExt cx="1042720" cy="283293"/>
          </a:xfrm>
        </p:grpSpPr>
        <p:pic>
          <p:nvPicPr>
            <p:cNvPr id="4" name="Picture 3" descr="Icon&#10;&#10;Description automatically generated">
              <a:extLst>
                <a:ext uri="{FF2B5EF4-FFF2-40B4-BE49-F238E27FC236}">
                  <a16:creationId xmlns:a16="http://schemas.microsoft.com/office/drawing/2014/main" id="{8CCE1E08-7F3E-411C-D374-F715EEB134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5" name="Retângulo 5">
              <a:extLst>
                <a:ext uri="{FF2B5EF4-FFF2-40B4-BE49-F238E27FC236}">
                  <a16:creationId xmlns:a16="http://schemas.microsoft.com/office/drawing/2014/main" id="{07736282-E5D3-8B8C-CA99-00E73D434310}"/>
                </a:ext>
              </a:extLst>
            </p:cNvPr>
            <p:cNvSpPr/>
            <p:nvPr/>
          </p:nvSpPr>
          <p:spPr>
            <a:xfrm>
              <a:off x="6107411" y="5954426"/>
              <a:ext cx="54694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 action="ppaction://hlinkpres?slideindex=1&amp;slidetitle="/>
                </a:rPr>
                <a:t>skunk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1296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FE852A-EC62-5B2C-D614-5510ED9FC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15FEA-B258-D913-6B8C-45877D2439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745076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1.1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index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ADF28B-52A6-DC3C-F9FE-209B1844152E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CE1BFEE-D24A-5EE0-E9E0-90A345D8CDEC}"/>
              </a:ext>
            </a:extLst>
          </p:cNvPr>
          <p:cNvGrpSpPr/>
          <p:nvPr/>
        </p:nvGrpSpPr>
        <p:grpSpPr>
          <a:xfrm>
            <a:off x="163990" y="207252"/>
            <a:ext cx="1196607" cy="283293"/>
            <a:chOff x="5611636" y="5954426"/>
            <a:chExt cx="1196608" cy="283293"/>
          </a:xfrm>
        </p:grpSpPr>
        <p:pic>
          <p:nvPicPr>
            <p:cNvPr id="4" name="Picture 3" descr="Icon&#10;&#10;Description automatically generated">
              <a:extLst>
                <a:ext uri="{FF2B5EF4-FFF2-40B4-BE49-F238E27FC236}">
                  <a16:creationId xmlns:a16="http://schemas.microsoft.com/office/drawing/2014/main" id="{F27A73BD-6702-756F-C442-5872FAD32D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5" name="Retângulo 5">
              <a:extLst>
                <a:ext uri="{FF2B5EF4-FFF2-40B4-BE49-F238E27FC236}">
                  <a16:creationId xmlns:a16="http://schemas.microsoft.com/office/drawing/2014/main" id="{F96D0A18-8340-82DC-A12C-108E6BD774C9}"/>
                </a:ext>
              </a:extLst>
            </p:cNvPr>
            <p:cNvSpPr/>
            <p:nvPr/>
          </p:nvSpPr>
          <p:spPr>
            <a:xfrm>
              <a:off x="6107411" y="5954426"/>
              <a:ext cx="700833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 action="ppaction://hlinkpres?slideindex=1&amp;slidetitle="/>
                </a:rPr>
                <a:t>autogen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235EC02-F549-6097-3E19-B3041AB62A39}"/>
              </a:ext>
            </a:extLst>
          </p:cNvPr>
          <p:cNvGrpSpPr/>
          <p:nvPr/>
        </p:nvGrpSpPr>
        <p:grpSpPr>
          <a:xfrm>
            <a:off x="163989" y="591652"/>
            <a:ext cx="1069970" cy="283293"/>
            <a:chOff x="5611636" y="5954426"/>
            <a:chExt cx="1069971" cy="283293"/>
          </a:xfrm>
        </p:grpSpPr>
        <p:pic>
          <p:nvPicPr>
            <p:cNvPr id="8" name="Picture 7" descr="Icon&#10;&#10;Description automatically generated">
              <a:extLst>
                <a:ext uri="{FF2B5EF4-FFF2-40B4-BE49-F238E27FC236}">
                  <a16:creationId xmlns:a16="http://schemas.microsoft.com/office/drawing/2014/main" id="{29DA8C1F-7D2F-83B5-4C62-15CDDDB8F4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9" name="Retângulo 5">
              <a:extLst>
                <a:ext uri="{FF2B5EF4-FFF2-40B4-BE49-F238E27FC236}">
                  <a16:creationId xmlns:a16="http://schemas.microsoft.com/office/drawing/2014/main" id="{B16811A2-5CA9-6521-A16C-DF061B423FE0}"/>
                </a:ext>
              </a:extLst>
            </p:cNvPr>
            <p:cNvSpPr/>
            <p:nvPr/>
          </p:nvSpPr>
          <p:spPr>
            <a:xfrm>
              <a:off x="6107411" y="5954426"/>
              <a:ext cx="57419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4" action="ppaction://hlinkpres?slideindex=1&amp;slidetitle="/>
                </a:rPr>
                <a:t>studio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CE873F1-3145-FDE2-C1F6-4B918917EF24}"/>
              </a:ext>
            </a:extLst>
          </p:cNvPr>
          <p:cNvGrpSpPr/>
          <p:nvPr/>
        </p:nvGrpSpPr>
        <p:grpSpPr>
          <a:xfrm>
            <a:off x="163988" y="969758"/>
            <a:ext cx="1675905" cy="283293"/>
            <a:chOff x="5611636" y="5954426"/>
            <a:chExt cx="1675907" cy="283293"/>
          </a:xfrm>
        </p:grpSpPr>
        <p:pic>
          <p:nvPicPr>
            <p:cNvPr id="11" name="Picture 10" descr="Icon&#10;&#10;Description automatically generated">
              <a:extLst>
                <a:ext uri="{FF2B5EF4-FFF2-40B4-BE49-F238E27FC236}">
                  <a16:creationId xmlns:a16="http://schemas.microsoft.com/office/drawing/2014/main" id="{4E77A2F4-58F9-D742-4CAD-D8024D332D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12" name="Retângulo 5">
              <a:extLst>
                <a:ext uri="{FF2B5EF4-FFF2-40B4-BE49-F238E27FC236}">
                  <a16:creationId xmlns:a16="http://schemas.microsoft.com/office/drawing/2014/main" id="{9C431EC9-C0A4-CA58-FAE9-B12799EEBFB7}"/>
                </a:ext>
              </a:extLst>
            </p:cNvPr>
            <p:cNvSpPr/>
            <p:nvPr/>
          </p:nvSpPr>
          <p:spPr>
            <a:xfrm>
              <a:off x="6107411" y="5954426"/>
              <a:ext cx="118013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5" action="ppaction://hlinkpres?slideindex=1&amp;slidetitle="/>
                </a:rPr>
                <a:t>semantic kernel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8499CD3-E3EA-A8EB-0278-32A9A88C4F0C}"/>
              </a:ext>
            </a:extLst>
          </p:cNvPr>
          <p:cNvGrpSpPr/>
          <p:nvPr/>
        </p:nvGrpSpPr>
        <p:grpSpPr>
          <a:xfrm>
            <a:off x="163987" y="1341570"/>
            <a:ext cx="1462705" cy="283293"/>
            <a:chOff x="5611636" y="5954426"/>
            <a:chExt cx="1462707" cy="283293"/>
          </a:xfrm>
        </p:grpSpPr>
        <p:pic>
          <p:nvPicPr>
            <p:cNvPr id="14" name="Picture 13" descr="Icon&#10;&#10;Description automatically generated">
              <a:extLst>
                <a:ext uri="{FF2B5EF4-FFF2-40B4-BE49-F238E27FC236}">
                  <a16:creationId xmlns:a16="http://schemas.microsoft.com/office/drawing/2014/main" id="{0EA32507-7D4C-6064-1296-129C9DD7D1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15" name="Retângulo 5">
              <a:extLst>
                <a:ext uri="{FF2B5EF4-FFF2-40B4-BE49-F238E27FC236}">
                  <a16:creationId xmlns:a16="http://schemas.microsoft.com/office/drawing/2014/main" id="{8F70F361-633E-6797-F6A0-D2737DC8B6FD}"/>
                </a:ext>
              </a:extLst>
            </p:cNvPr>
            <p:cNvSpPr/>
            <p:nvPr/>
          </p:nvSpPr>
          <p:spPr>
            <a:xfrm>
              <a:off x="6107411" y="5954426"/>
              <a:ext cx="96693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6" action="ppaction://hlinkpres?slideindex=1&amp;slidetitle="/>
                </a:rPr>
                <a:t>orchestrator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4190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75991E-9101-355F-90B0-48F0A0270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22417-D6DB-0F33-F857-1C1B173021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884538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1.2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sources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C87E95-B43E-6068-9B0F-ECA7DCA4BEAB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A5E01AB-CBC1-A851-1D55-EAF966D255FB}"/>
              </a:ext>
            </a:extLst>
          </p:cNvPr>
          <p:cNvGrpSpPr/>
          <p:nvPr/>
        </p:nvGrpSpPr>
        <p:grpSpPr>
          <a:xfrm>
            <a:off x="189531" y="1414793"/>
            <a:ext cx="1790409" cy="246292"/>
            <a:chOff x="5881666" y="1590687"/>
            <a:chExt cx="1790409" cy="246292"/>
          </a:xfrm>
        </p:grpSpPr>
        <p:sp>
          <p:nvSpPr>
            <p:cNvPr id="11" name="Retângulo 5">
              <a:extLst>
                <a:ext uri="{FF2B5EF4-FFF2-40B4-BE49-F238E27FC236}">
                  <a16:creationId xmlns:a16="http://schemas.microsoft.com/office/drawing/2014/main" id="{804DC6D1-883E-A6A3-2BEE-75B093C350D9}"/>
                </a:ext>
              </a:extLst>
            </p:cNvPr>
            <p:cNvSpPr/>
            <p:nvPr/>
          </p:nvSpPr>
          <p:spPr>
            <a:xfrm>
              <a:off x="6035088" y="1590758"/>
              <a:ext cx="1636987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2"/>
                </a:rPr>
                <a:t>auto gen vs semantic kernel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12" name="Picture 11" descr="Icon&#10;&#10;Description automatically generated">
              <a:extLst>
                <a:ext uri="{FF2B5EF4-FFF2-40B4-BE49-F238E27FC236}">
                  <a16:creationId xmlns:a16="http://schemas.microsoft.com/office/drawing/2014/main" id="{F149B0C2-E3CD-F162-9330-8238526BF8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69333BE4-1944-B93E-65BE-1DC1F14876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994" y="1788307"/>
            <a:ext cx="4476453" cy="202577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AE903AD9-6516-5544-957E-3FB66C1B3CFA}"/>
              </a:ext>
            </a:extLst>
          </p:cNvPr>
          <p:cNvGrpSpPr/>
          <p:nvPr/>
        </p:nvGrpSpPr>
        <p:grpSpPr>
          <a:xfrm>
            <a:off x="189531" y="203596"/>
            <a:ext cx="1198901" cy="246292"/>
            <a:chOff x="5881666" y="1590687"/>
            <a:chExt cx="1198901" cy="246292"/>
          </a:xfrm>
        </p:grpSpPr>
        <p:sp>
          <p:nvSpPr>
            <p:cNvPr id="16" name="Retângulo 5">
              <a:extLst>
                <a:ext uri="{FF2B5EF4-FFF2-40B4-BE49-F238E27FC236}">
                  <a16:creationId xmlns:a16="http://schemas.microsoft.com/office/drawing/2014/main" id="{DF077789-D8B7-CF38-C75C-2845031689DC}"/>
                </a:ext>
              </a:extLst>
            </p:cNvPr>
            <p:cNvSpPr/>
            <p:nvPr/>
          </p:nvSpPr>
          <p:spPr>
            <a:xfrm>
              <a:off x="6035088" y="1590758"/>
              <a:ext cx="104547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5"/>
                </a:rPr>
                <a:t>auto gen - paper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17" name="Picture 16" descr="Icon&#10;&#10;Description automatically generated">
              <a:extLst>
                <a:ext uri="{FF2B5EF4-FFF2-40B4-BE49-F238E27FC236}">
                  <a16:creationId xmlns:a16="http://schemas.microsoft.com/office/drawing/2014/main" id="{B8328746-0414-79BF-E39E-2485E333A5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52BEB424-9F6C-5934-6A42-7C760DC59D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994" y="545666"/>
            <a:ext cx="3343742" cy="747817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14ACC7DB-61CE-46DB-F6EA-DF4BCDD68BD1}"/>
              </a:ext>
            </a:extLst>
          </p:cNvPr>
          <p:cNvGrpSpPr/>
          <p:nvPr/>
        </p:nvGrpSpPr>
        <p:grpSpPr>
          <a:xfrm>
            <a:off x="189531" y="2159300"/>
            <a:ext cx="1109133" cy="246292"/>
            <a:chOff x="5881666" y="1590687"/>
            <a:chExt cx="1109133" cy="246292"/>
          </a:xfrm>
        </p:grpSpPr>
        <p:sp>
          <p:nvSpPr>
            <p:cNvPr id="21" name="Retângulo 5">
              <a:extLst>
                <a:ext uri="{FF2B5EF4-FFF2-40B4-BE49-F238E27FC236}">
                  <a16:creationId xmlns:a16="http://schemas.microsoft.com/office/drawing/2014/main" id="{DE028070-85F4-DC00-9CC6-FC1226B09523}"/>
                </a:ext>
              </a:extLst>
            </p:cNvPr>
            <p:cNvSpPr/>
            <p:nvPr/>
          </p:nvSpPr>
          <p:spPr>
            <a:xfrm>
              <a:off x="6035088" y="1590758"/>
              <a:ext cx="955711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7"/>
                </a:rPr>
                <a:t>crew ai: github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22" name="Picture 21" descr="Icon&#10;&#10;Description automatically generated">
              <a:extLst>
                <a:ext uri="{FF2B5EF4-FFF2-40B4-BE49-F238E27FC236}">
                  <a16:creationId xmlns:a16="http://schemas.microsoft.com/office/drawing/2014/main" id="{1479CBB2-E834-01EA-5AD6-5907D99DCC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3BEFB3E9-990E-7FB3-2872-28848EE1C4C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0994" y="2574079"/>
            <a:ext cx="3794741" cy="467845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7EA19B19-7582-7133-26C2-4BA311826CFD}"/>
              </a:ext>
            </a:extLst>
          </p:cNvPr>
          <p:cNvGrpSpPr/>
          <p:nvPr/>
        </p:nvGrpSpPr>
        <p:grpSpPr>
          <a:xfrm>
            <a:off x="3734563" y="3171182"/>
            <a:ext cx="711588" cy="246292"/>
            <a:chOff x="5881666" y="1590687"/>
            <a:chExt cx="711588" cy="246292"/>
          </a:xfrm>
        </p:grpSpPr>
        <p:sp>
          <p:nvSpPr>
            <p:cNvPr id="26" name="Retângulo 5">
              <a:extLst>
                <a:ext uri="{FF2B5EF4-FFF2-40B4-BE49-F238E27FC236}">
                  <a16:creationId xmlns:a16="http://schemas.microsoft.com/office/drawing/2014/main" id="{CA46471C-F706-248F-7F8A-ED50FCC568FD}"/>
                </a:ext>
              </a:extLst>
            </p:cNvPr>
            <p:cNvSpPr/>
            <p:nvPr/>
          </p:nvSpPr>
          <p:spPr>
            <a:xfrm>
              <a:off x="6035088" y="1590758"/>
              <a:ext cx="558166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9"/>
                </a:rPr>
                <a:t>crew ai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27" name="Picture 26" descr="Icon&#10;&#10;Description automatically generated">
              <a:extLst>
                <a:ext uri="{FF2B5EF4-FFF2-40B4-BE49-F238E27FC236}">
                  <a16:creationId xmlns:a16="http://schemas.microsoft.com/office/drawing/2014/main" id="{CD2ED5E9-27F2-8C96-5700-86EBDF4BD5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67599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1FF403-D52B-2536-ABDC-B167D5B84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9AA41-0C41-F2F1-B78E-3845B1874C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011302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2. credentials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8AEA78EC-FC09-6CB5-C423-20F45FA08B2C}"/>
              </a:ext>
            </a:extLst>
          </p:cNvPr>
          <p:cNvSpPr/>
          <p:nvPr/>
        </p:nvSpPr>
        <p:spPr>
          <a:xfrm>
            <a:off x="1543046" y="1702717"/>
            <a:ext cx="5764967" cy="1365365"/>
          </a:xfrm>
          <a:prstGeom prst="wedgeRectCallout">
            <a:avLst>
              <a:gd name="adj1" fmla="val -23888"/>
              <a:gd name="adj2" fmla="val 38073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R="0" lvl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</a:rPr>
              <a:t>{</a:t>
            </a:r>
          </a:p>
          <a:p>
            <a:pPr marR="0" lvl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</a:rPr>
              <a:t>  "model": "gpt-4",</a:t>
            </a:r>
          </a:p>
          <a:p>
            <a:pPr marR="0" lvl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</a:rPr>
              <a:t>  "api_key": "4ec89f49dd5b44b49c458c99d5e63c33",</a:t>
            </a:r>
          </a:p>
          <a:p>
            <a:pPr marR="0" lvl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</a:rPr>
              <a:t>  "base_url": "https://francecentral.api.cognitive.microsoft.com/",</a:t>
            </a:r>
          </a:p>
          <a:p>
            <a:pPr marR="0" lvl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</a:rPr>
              <a:t>  "api_type": "azure",</a:t>
            </a:r>
          </a:p>
          <a:p>
            <a:pPr marR="0" lvl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</a:rPr>
              <a:t>  "api_version": "2023-12-01-preview"</a:t>
            </a:r>
          </a:p>
          <a:p>
            <a:pPr marR="0" lvl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CA76A3-DB81-529B-9A59-7C71F3FDD969}"/>
              </a:ext>
            </a:extLst>
          </p:cNvPr>
          <p:cNvSpPr/>
          <p:nvPr/>
        </p:nvSpPr>
        <p:spPr>
          <a:xfrm>
            <a:off x="97840" y="89728"/>
            <a:ext cx="207692" cy="6660000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8" name="Arrow: Right 5">
            <a:extLst>
              <a:ext uri="{FF2B5EF4-FFF2-40B4-BE49-F238E27FC236}">
                <a16:creationId xmlns:a16="http://schemas.microsoft.com/office/drawing/2014/main" id="{6B04494B-0165-1C78-1A25-DC9A05545AF3}"/>
              </a:ext>
            </a:extLst>
          </p:cNvPr>
          <p:cNvSpPr/>
          <p:nvPr/>
        </p:nvSpPr>
        <p:spPr>
          <a:xfrm>
            <a:off x="247693" y="1702717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D76291E-09ED-ACB6-8EE3-016E9B70DAED}"/>
              </a:ext>
            </a:extLst>
          </p:cNvPr>
          <p:cNvGrpSpPr/>
          <p:nvPr/>
        </p:nvGrpSpPr>
        <p:grpSpPr>
          <a:xfrm>
            <a:off x="4563437" y="3182708"/>
            <a:ext cx="2075743" cy="246292"/>
            <a:chOff x="5881666" y="1590687"/>
            <a:chExt cx="2075743" cy="246292"/>
          </a:xfrm>
        </p:grpSpPr>
        <p:sp>
          <p:nvSpPr>
            <p:cNvPr id="29" name="Retângulo 5">
              <a:extLst>
                <a:ext uri="{FF2B5EF4-FFF2-40B4-BE49-F238E27FC236}">
                  <a16:creationId xmlns:a16="http://schemas.microsoft.com/office/drawing/2014/main" id="{0EF224C5-CEA2-B6DD-A84A-FE39F0DFD025}"/>
                </a:ext>
              </a:extLst>
            </p:cNvPr>
            <p:cNvSpPr/>
            <p:nvPr/>
          </p:nvSpPr>
          <p:spPr>
            <a:xfrm>
              <a:off x="6035088" y="1590758"/>
              <a:ext cx="1922321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2"/>
                </a:rPr>
                <a:t>autogen repository vsCode online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30" name="Picture 29" descr="Icon&#10;&#10;Description automatically generated">
              <a:extLst>
                <a:ext uri="{FF2B5EF4-FFF2-40B4-BE49-F238E27FC236}">
                  <a16:creationId xmlns:a16="http://schemas.microsoft.com/office/drawing/2014/main" id="{5852CA1E-A27D-C9D7-BBCC-CDA3093C60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2211F8B2-9910-39B5-926F-DD6ED6D8C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046" y="3724229"/>
            <a:ext cx="4387970" cy="2368700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9C4D4BDD-F907-F991-46D6-CFDE3DA77DCB}"/>
              </a:ext>
            </a:extLst>
          </p:cNvPr>
          <p:cNvSpPr/>
          <p:nvPr/>
        </p:nvSpPr>
        <p:spPr>
          <a:xfrm>
            <a:off x="6096000" y="3942710"/>
            <a:ext cx="1517009" cy="257369"/>
          </a:xfrm>
          <a:prstGeom prst="wedgeRectCallout">
            <a:avLst>
              <a:gd name="adj1" fmla="val -60281"/>
              <a:gd name="adj2" fmla="val 44777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R="0" lvl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</a:rPr>
              <a:t>github</a:t>
            </a:r>
            <a:r>
              <a:rPr kumimoji="0" lang="en-US" sz="1200" b="0" i="0" u="none" strike="noStrike" kern="0" cap="none" spc="0" normalizeH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</a:rPr>
              <a:t> codespaces</a:t>
            </a:r>
            <a:endParaRPr kumimoji="0" lang="en-US" sz="12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204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B9BE4D-8094-4188-F8AD-BA4CE5D27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8161D-3CC5-DE0D-5CF2-0A7EF4E4D5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167756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3. requirements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290513-17D6-39D3-F646-F41F297C1CE7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939EA96-9BD8-0841-FE5C-4D46CD756546}"/>
              </a:ext>
            </a:extLst>
          </p:cNvPr>
          <p:cNvGrpSpPr/>
          <p:nvPr/>
        </p:nvGrpSpPr>
        <p:grpSpPr>
          <a:xfrm>
            <a:off x="3631810" y="1962594"/>
            <a:ext cx="1969945" cy="246292"/>
            <a:chOff x="5881666" y="1590687"/>
            <a:chExt cx="1969945" cy="246292"/>
          </a:xfrm>
        </p:grpSpPr>
        <p:sp>
          <p:nvSpPr>
            <p:cNvPr id="11" name="Retângulo 5">
              <a:extLst>
                <a:ext uri="{FF2B5EF4-FFF2-40B4-BE49-F238E27FC236}">
                  <a16:creationId xmlns:a16="http://schemas.microsoft.com/office/drawing/2014/main" id="{BE72B7AF-3DBD-C4A3-97B5-398E1DBCDC59}"/>
                </a:ext>
              </a:extLst>
            </p:cNvPr>
            <p:cNvSpPr/>
            <p:nvPr/>
          </p:nvSpPr>
          <p:spPr>
            <a:xfrm>
              <a:off x="6035088" y="1590758"/>
              <a:ext cx="181652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2"/>
                </a:rPr>
                <a:t>cegidgroup-my.sharepoint.com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12" name="Picture 11" descr="Icon&#10;&#10;Description automatically generated">
              <a:extLst>
                <a:ext uri="{FF2B5EF4-FFF2-40B4-BE49-F238E27FC236}">
                  <a16:creationId xmlns:a16="http://schemas.microsoft.com/office/drawing/2014/main" id="{078BAAA4-F450-83D3-7AE8-D5A828F086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F1FD3127-892E-E6AB-6607-4C38EE4F5E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102" y="239720"/>
            <a:ext cx="4516999" cy="1610751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7" name="Arrow: Right 5">
            <a:extLst>
              <a:ext uri="{FF2B5EF4-FFF2-40B4-BE49-F238E27FC236}">
                <a16:creationId xmlns:a16="http://schemas.microsoft.com/office/drawing/2014/main" id="{A8B63CF8-DFF4-1823-B2EA-D71F5ABE3AB6}"/>
              </a:ext>
            </a:extLst>
          </p:cNvPr>
          <p:cNvSpPr/>
          <p:nvPr/>
        </p:nvSpPr>
        <p:spPr>
          <a:xfrm>
            <a:off x="163991" y="239720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</p:spTree>
    <p:extLst>
      <p:ext uri="{BB962C8B-B14F-4D97-AF65-F5344CB8AC3E}">
        <p14:creationId xmlns:p14="http://schemas.microsoft.com/office/powerpoint/2010/main" val="4059874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D20235-D01E-F522-6FCB-8C05246F5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CD93C7F-42DF-8057-CC50-1AB38593F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102" y="239720"/>
            <a:ext cx="8925464" cy="826973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ED4CD9-2E24-2E94-D16E-E8D23E2B10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994311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3.1 use cases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04FE06-E989-288D-6150-83FD9EC78293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5B6ACCE-5C89-5D39-8ACB-090EA92A3809}"/>
              </a:ext>
            </a:extLst>
          </p:cNvPr>
          <p:cNvGrpSpPr/>
          <p:nvPr/>
        </p:nvGrpSpPr>
        <p:grpSpPr>
          <a:xfrm>
            <a:off x="8784656" y="1225063"/>
            <a:ext cx="1157223" cy="246292"/>
            <a:chOff x="5881666" y="1590687"/>
            <a:chExt cx="1157223" cy="246292"/>
          </a:xfrm>
        </p:grpSpPr>
        <p:sp>
          <p:nvSpPr>
            <p:cNvPr id="11" name="Retângulo 5">
              <a:extLst>
                <a:ext uri="{FF2B5EF4-FFF2-40B4-BE49-F238E27FC236}">
                  <a16:creationId xmlns:a16="http://schemas.microsoft.com/office/drawing/2014/main" id="{986544B0-205D-F922-E185-1615CE916A8D}"/>
                </a:ext>
              </a:extLst>
            </p:cNvPr>
            <p:cNvSpPr/>
            <p:nvPr/>
          </p:nvSpPr>
          <p:spPr>
            <a:xfrm>
              <a:off x="6035088" y="1590758"/>
              <a:ext cx="1003801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/>
                </a:rPr>
                <a:t>excel: use cases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12" name="Picture 11" descr="Icon&#10;&#10;Description automatically generated">
              <a:extLst>
                <a:ext uri="{FF2B5EF4-FFF2-40B4-BE49-F238E27FC236}">
                  <a16:creationId xmlns:a16="http://schemas.microsoft.com/office/drawing/2014/main" id="{AF8C1E09-2D1B-0972-E902-7F68063C9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  <p:sp>
        <p:nvSpPr>
          <p:cNvPr id="7" name="Arrow: Right 5">
            <a:extLst>
              <a:ext uri="{FF2B5EF4-FFF2-40B4-BE49-F238E27FC236}">
                <a16:creationId xmlns:a16="http://schemas.microsoft.com/office/drawing/2014/main" id="{539BFDE6-A810-B46F-33C3-2A5F2225BE97}"/>
              </a:ext>
            </a:extLst>
          </p:cNvPr>
          <p:cNvSpPr/>
          <p:nvPr/>
        </p:nvSpPr>
        <p:spPr>
          <a:xfrm>
            <a:off x="163991" y="239720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</p:spTree>
    <p:extLst>
      <p:ext uri="{BB962C8B-B14F-4D97-AF65-F5344CB8AC3E}">
        <p14:creationId xmlns:p14="http://schemas.microsoft.com/office/powerpoint/2010/main" val="3850896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340402-7C08-554C-D7DB-456E2673B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6C438E2E-56D3-AC76-08F1-320B315DB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102" y="239720"/>
            <a:ext cx="4474030" cy="2916076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CCB4411-2B3F-0B54-A7BB-55D701C749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014765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4. studio POC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721EEA-2AEA-86DC-D606-D4A0493752D8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7" name="Arrow: Right 5">
            <a:extLst>
              <a:ext uri="{FF2B5EF4-FFF2-40B4-BE49-F238E27FC236}">
                <a16:creationId xmlns:a16="http://schemas.microsoft.com/office/drawing/2014/main" id="{19D49CB9-9969-CFCA-2E77-474FB70142ED}"/>
              </a:ext>
            </a:extLst>
          </p:cNvPr>
          <p:cNvSpPr/>
          <p:nvPr/>
        </p:nvSpPr>
        <p:spPr>
          <a:xfrm>
            <a:off x="163991" y="239720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A81525E-3B9E-D7C6-F6A8-049AA24906CA}"/>
              </a:ext>
            </a:extLst>
          </p:cNvPr>
          <p:cNvGrpSpPr/>
          <p:nvPr/>
        </p:nvGrpSpPr>
        <p:grpSpPr>
          <a:xfrm>
            <a:off x="4066471" y="3314166"/>
            <a:ext cx="1442557" cy="246292"/>
            <a:chOff x="5881666" y="1590687"/>
            <a:chExt cx="1442557" cy="246292"/>
          </a:xfrm>
        </p:grpSpPr>
        <p:sp>
          <p:nvSpPr>
            <p:cNvPr id="8" name="Retângulo 5">
              <a:extLst>
                <a:ext uri="{FF2B5EF4-FFF2-40B4-BE49-F238E27FC236}">
                  <a16:creationId xmlns:a16="http://schemas.microsoft.com/office/drawing/2014/main" id="{73F587DA-B449-6342-7D8C-D58E0B310830}"/>
                </a:ext>
              </a:extLst>
            </p:cNvPr>
            <p:cNvSpPr/>
            <p:nvPr/>
          </p:nvSpPr>
          <p:spPr>
            <a:xfrm>
              <a:off x="6035088" y="1590758"/>
              <a:ext cx="128913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/>
                </a:rPr>
                <a:t>aiOS auto gen studio 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9" name="Picture 8" descr="Icon&#10;&#10;Description automatically generated">
              <a:extLst>
                <a:ext uri="{FF2B5EF4-FFF2-40B4-BE49-F238E27FC236}">
                  <a16:creationId xmlns:a16="http://schemas.microsoft.com/office/drawing/2014/main" id="{982B1C14-69F3-BC20-52F0-FC867851F1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97461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EF66BF9-1205-4921-9848-E01F172B1E41}"/>
              </a:ext>
            </a:extLst>
          </p:cNvPr>
          <p:cNvSpPr/>
          <p:nvPr/>
        </p:nvSpPr>
        <p:spPr>
          <a:xfrm>
            <a:off x="161745" y="641132"/>
            <a:ext cx="207692" cy="59908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Arrow: Right 5">
            <a:extLst>
              <a:ext uri="{FF2B5EF4-FFF2-40B4-BE49-F238E27FC236}">
                <a16:creationId xmlns:a16="http://schemas.microsoft.com/office/drawing/2014/main" id="{37D7CF4F-FF2A-4394-89CF-6DD9FAFE9EDE}"/>
              </a:ext>
            </a:extLst>
          </p:cNvPr>
          <p:cNvSpPr/>
          <p:nvPr/>
        </p:nvSpPr>
        <p:spPr>
          <a:xfrm>
            <a:off x="282327" y="740052"/>
            <a:ext cx="1434814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2540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new project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1340E3-E6E7-40FD-BFE9-9758DA67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745" y="185083"/>
            <a:ext cx="1352165" cy="369332"/>
          </a:xfrm>
          <a:gradFill>
            <a:gsLst>
              <a:gs pos="0">
                <a:srgbClr val="4472C4">
                  <a:lumMod val="5000"/>
                  <a:lumOff val="95000"/>
                </a:srgbClr>
              </a:gs>
              <a:gs pos="74000">
                <a:srgbClr val="4472C4">
                  <a:lumMod val="45000"/>
                  <a:lumOff val="55000"/>
                </a:srgbClr>
              </a:gs>
              <a:gs pos="83000">
                <a:srgbClr val="4472C4">
                  <a:lumMod val="45000"/>
                  <a:lumOff val="55000"/>
                </a:srgbClr>
              </a:gs>
              <a:gs pos="100000">
                <a:srgbClr val="4472C4">
                  <a:lumMod val="30000"/>
                  <a:lumOff val="70000"/>
                </a:srgbClr>
              </a:gs>
            </a:gsLst>
            <a:lin ang="5400000" scaled="1"/>
          </a:gradFill>
          <a:ln w="254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2000" dirty="0">
                <a:solidFill>
                  <a:sysClr val="windowText" lastClr="000000"/>
                </a:solidFill>
                <a:latin typeface="Calibri Light" panose="020F0302020204030204"/>
              </a:rPr>
              <a:t>Z. template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41A7F36-A6A2-4B0F-BFF3-546E7A3EE687}"/>
              </a:ext>
            </a:extLst>
          </p:cNvPr>
          <p:cNvSpPr/>
          <p:nvPr/>
        </p:nvSpPr>
        <p:spPr>
          <a:xfrm>
            <a:off x="3990477" y="641131"/>
            <a:ext cx="251307" cy="3081938"/>
          </a:xfrm>
          <a:prstGeom prst="roundRect">
            <a:avLst/>
          </a:prstGeom>
          <a:solidFill>
            <a:schemeClr val="tx1"/>
          </a:solidFill>
          <a:ln w="25400">
            <a:solidFill>
              <a:schemeClr val="accent6">
                <a:lumMod val="75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eta para a Direita 19">
            <a:extLst>
              <a:ext uri="{FF2B5EF4-FFF2-40B4-BE49-F238E27FC236}">
                <a16:creationId xmlns:a16="http://schemas.microsoft.com/office/drawing/2014/main" id="{ECA516AD-C913-468A-98D2-3DA2573FC6F1}"/>
              </a:ext>
            </a:extLst>
          </p:cNvPr>
          <p:cNvSpPr/>
          <p:nvPr/>
        </p:nvSpPr>
        <p:spPr>
          <a:xfrm flipH="1">
            <a:off x="297492" y="1258802"/>
            <a:ext cx="1490957" cy="276999"/>
          </a:xfrm>
          <a:custGeom>
            <a:avLst/>
            <a:gdLst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0 h 412685"/>
              <a:gd name="connsiteX1" fmla="*/ 2332036 w 2607159"/>
              <a:gd name="connsiteY1" fmla="*/ 0 h 412685"/>
              <a:gd name="connsiteX2" fmla="*/ 2607159 w 2607159"/>
              <a:gd name="connsiteY2" fmla="*/ 137562 h 412685"/>
              <a:gd name="connsiteX3" fmla="*/ 2332036 w 2607159"/>
              <a:gd name="connsiteY3" fmla="*/ 412685 h 412685"/>
              <a:gd name="connsiteX4" fmla="*/ 2332036 w 2607159"/>
              <a:gd name="connsiteY4" fmla="*/ 275123 h 412685"/>
              <a:gd name="connsiteX5" fmla="*/ 0 w 2607159"/>
              <a:gd name="connsiteY5" fmla="*/ 275123 h 412685"/>
              <a:gd name="connsiteX6" fmla="*/ 0 w 2607159"/>
              <a:gd name="connsiteY6" fmla="*/ 0 h 412685"/>
              <a:gd name="connsiteX0" fmla="*/ 0 w 2607159"/>
              <a:gd name="connsiteY0" fmla="*/ 0 h 275123"/>
              <a:gd name="connsiteX1" fmla="*/ 2332036 w 2607159"/>
              <a:gd name="connsiteY1" fmla="*/ 0 h 275123"/>
              <a:gd name="connsiteX2" fmla="*/ 2607159 w 2607159"/>
              <a:gd name="connsiteY2" fmla="*/ 137562 h 275123"/>
              <a:gd name="connsiteX3" fmla="*/ 2332036 w 2607159"/>
              <a:gd name="connsiteY3" fmla="*/ 275123 h 275123"/>
              <a:gd name="connsiteX4" fmla="*/ 0 w 2607159"/>
              <a:gd name="connsiteY4" fmla="*/ 275123 h 275123"/>
              <a:gd name="connsiteX5" fmla="*/ 0 w 2607159"/>
              <a:gd name="connsiteY5" fmla="*/ 0 h 275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07159" h="275123">
                <a:moveTo>
                  <a:pt x="0" y="0"/>
                </a:moveTo>
                <a:lnTo>
                  <a:pt x="2332036" y="0"/>
                </a:lnTo>
                <a:lnTo>
                  <a:pt x="2607159" y="137562"/>
                </a:lnTo>
                <a:lnTo>
                  <a:pt x="2332036" y="275123"/>
                </a:lnTo>
                <a:lnTo>
                  <a:pt x="0" y="27512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25400">
            <a:solidFill>
              <a:schemeClr val="accent2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0" rIns="36000" bIns="0" rtlCol="0" anchor="ctr">
            <a:spAutoFit/>
          </a:bodyPr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ExecuteAsync</a:t>
            </a:r>
          </a:p>
        </p:txBody>
      </p:sp>
      <p:sp>
        <p:nvSpPr>
          <p:cNvPr id="39" name="Explosion: 14 Points 38">
            <a:extLst>
              <a:ext uri="{FF2B5EF4-FFF2-40B4-BE49-F238E27FC236}">
                <a16:creationId xmlns:a16="http://schemas.microsoft.com/office/drawing/2014/main" id="{726CC03A-7D6C-46EA-92A0-86DDE1A0107D}"/>
              </a:ext>
            </a:extLst>
          </p:cNvPr>
          <p:cNvSpPr/>
          <p:nvPr/>
        </p:nvSpPr>
        <p:spPr>
          <a:xfrm>
            <a:off x="328733" y="6044547"/>
            <a:ext cx="1625594" cy="622578"/>
          </a:xfrm>
          <a:prstGeom prst="irregularSeal2">
            <a:avLst/>
          </a:prstGeom>
          <a:solidFill>
            <a:schemeClr val="tx1"/>
          </a:solidFill>
          <a:ln>
            <a:solidFill>
              <a:srgbClr val="FF0000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success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41003E8-A938-463D-86F0-FCED56AC68C0}"/>
              </a:ext>
            </a:extLst>
          </p:cNvPr>
          <p:cNvSpPr/>
          <p:nvPr/>
        </p:nvSpPr>
        <p:spPr>
          <a:xfrm>
            <a:off x="283909" y="4930886"/>
            <a:ext cx="495300" cy="465224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FA1939-92C3-48AC-93EE-5C93B552D70D}"/>
              </a:ext>
            </a:extLst>
          </p:cNvPr>
          <p:cNvSpPr txBox="1"/>
          <p:nvPr/>
        </p:nvSpPr>
        <p:spPr>
          <a:xfrm>
            <a:off x="826994" y="4729870"/>
            <a:ext cx="598241" cy="769441"/>
          </a:xfrm>
          <a:prstGeom prst="rect">
            <a:avLst/>
          </a:prstGeom>
          <a:noFill/>
          <a:effectLst>
            <a:outerShdw blurRad="50800" dist="88900" dir="2700000" algn="tl" rotWithShape="0">
              <a:schemeClr val="bg1">
                <a:alpha val="40000"/>
              </a:schemeClr>
            </a:outerShdw>
          </a:effectLst>
        </p:spPr>
        <p:txBody>
          <a:bodyPr wrap="none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4400" b="1" i="0" u="none" strike="noStrike" kern="1200" cap="none" spc="0" normalizeH="0" baseline="0" noProof="0" dirty="0">
                <a:ln>
                  <a:noFill/>
                </a:ln>
                <a:solidFill>
                  <a:srgbClr val="0645AD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⊂</a:t>
            </a:r>
            <a:endParaRPr kumimoji="0" lang="pt-PT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42" name="Speech Bubble: Rectangle 41">
            <a:extLst>
              <a:ext uri="{FF2B5EF4-FFF2-40B4-BE49-F238E27FC236}">
                <a16:creationId xmlns:a16="http://schemas.microsoft.com/office/drawing/2014/main" id="{79007EFE-5D7A-41BC-9914-0012C2E39275}"/>
              </a:ext>
            </a:extLst>
          </p:cNvPr>
          <p:cNvSpPr/>
          <p:nvPr/>
        </p:nvSpPr>
        <p:spPr>
          <a:xfrm>
            <a:off x="2157928" y="1244459"/>
            <a:ext cx="1430895" cy="288147"/>
          </a:xfrm>
          <a:prstGeom prst="wedgeRectCallout">
            <a:avLst/>
          </a:prstGeom>
          <a:solidFill>
            <a:schemeClr val="tx1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36000" tIns="36000" rIns="36000" bIns="36000" rtlCol="0" anchor="t">
            <a:spAutoFit/>
          </a:bodyPr>
          <a:lstStyle/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square post-it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F173AA0-1DC6-4E8A-8BC2-7BC8E1E52403}"/>
              </a:ext>
            </a:extLst>
          </p:cNvPr>
          <p:cNvSpPr txBox="1"/>
          <p:nvPr/>
        </p:nvSpPr>
        <p:spPr>
          <a:xfrm>
            <a:off x="596511" y="1816814"/>
            <a:ext cx="2825197" cy="954107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rtlCol="0">
            <a:spAutoFit/>
          </a:bodyPr>
          <a:lstStyle/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slash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</a:t>
            </a:r>
          </a:p>
          <a:p>
            <a:pPr marL="800073" marR="0" lvl="1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followed </a:t>
            </a:r>
          </a:p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by </a:t>
            </a:r>
          </a:p>
          <a:p>
            <a:pPr marL="800073" marR="0" lvl="1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two consecutive asterisks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445998E-B9E0-450B-B4CB-45822AEF0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781" y="1056976"/>
            <a:ext cx="2819089" cy="1233604"/>
          </a:xfrm>
          <a:prstGeom prst="rect">
            <a:avLst/>
          </a:prstGeom>
          <a:ln w="50800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127000" dir="2700000" algn="tl" rotWithShape="0">
              <a:schemeClr val="bg1">
                <a:alpha val="40000"/>
              </a:schemeClr>
            </a:outerShdw>
          </a:effec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08A7C638-5E21-411A-8DB8-B34B86A5195B}"/>
              </a:ext>
            </a:extLst>
          </p:cNvPr>
          <p:cNvGrpSpPr/>
          <p:nvPr/>
        </p:nvGrpSpPr>
        <p:grpSpPr>
          <a:xfrm>
            <a:off x="282327" y="4179726"/>
            <a:ext cx="1757548" cy="289586"/>
            <a:chOff x="5881666" y="1590687"/>
            <a:chExt cx="1757548" cy="289586"/>
          </a:xfrm>
        </p:grpSpPr>
        <p:sp>
          <p:nvSpPr>
            <p:cNvPr id="22" name="Retângulo 5">
              <a:extLst>
                <a:ext uri="{FF2B5EF4-FFF2-40B4-BE49-F238E27FC236}">
                  <a16:creationId xmlns:a16="http://schemas.microsoft.com/office/drawing/2014/main" id="{D6D9B7B9-E922-474A-9604-497F2E4C0AAE}"/>
                </a:ext>
              </a:extLst>
            </p:cNvPr>
            <p:cNvSpPr/>
            <p:nvPr/>
          </p:nvSpPr>
          <p:spPr>
            <a:xfrm>
              <a:off x="6081095" y="1603274"/>
              <a:ext cx="155811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3"/>
                </a:rPr>
                <a:t>entity framework plus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3" name="Picture 22" descr="Icon&#10;&#10;Description automatically generated">
              <a:extLst>
                <a:ext uri="{FF2B5EF4-FFF2-40B4-BE49-F238E27FC236}">
                  <a16:creationId xmlns:a16="http://schemas.microsoft.com/office/drawing/2014/main" id="{24B73C90-D5FA-44E4-A9BA-5A25A7089D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2A5372C-BF23-4DD1-B84D-A97DCF885AD8}"/>
              </a:ext>
            </a:extLst>
          </p:cNvPr>
          <p:cNvGrpSpPr/>
          <p:nvPr/>
        </p:nvGrpSpPr>
        <p:grpSpPr>
          <a:xfrm>
            <a:off x="238309" y="3772837"/>
            <a:ext cx="1452384" cy="283293"/>
            <a:chOff x="5611636" y="5954426"/>
            <a:chExt cx="1452385" cy="283293"/>
          </a:xfrm>
        </p:grpSpPr>
        <p:pic>
          <p:nvPicPr>
            <p:cNvPr id="28" name="Picture 27" descr="Icon&#10;&#10;Description automatically generated">
              <a:extLst>
                <a:ext uri="{FF2B5EF4-FFF2-40B4-BE49-F238E27FC236}">
                  <a16:creationId xmlns:a16="http://schemas.microsoft.com/office/drawing/2014/main" id="{C14A7DDB-9D0A-42FA-8AE2-ECECEE19F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29" name="Retângulo 5">
              <a:extLst>
                <a:ext uri="{FF2B5EF4-FFF2-40B4-BE49-F238E27FC236}">
                  <a16:creationId xmlns:a16="http://schemas.microsoft.com/office/drawing/2014/main" id="{2C3464DC-863E-4361-935F-522237E7A133}"/>
                </a:ext>
              </a:extLst>
            </p:cNvPr>
            <p:cNvSpPr/>
            <p:nvPr/>
          </p:nvSpPr>
          <p:spPr>
            <a:xfrm>
              <a:off x="6107411" y="5954426"/>
              <a:ext cx="95661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6" action="ppaction://hlinkpres?slideindex=1&amp;slidetitle="/>
                </a:rPr>
                <a:t>introduction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3DBE82E-A82D-4677-8A19-683B4B93F017}"/>
              </a:ext>
            </a:extLst>
          </p:cNvPr>
          <p:cNvGrpSpPr/>
          <p:nvPr/>
        </p:nvGrpSpPr>
        <p:grpSpPr>
          <a:xfrm>
            <a:off x="304221" y="3307233"/>
            <a:ext cx="1355442" cy="330654"/>
            <a:chOff x="421365" y="4900305"/>
            <a:chExt cx="1355443" cy="330654"/>
          </a:xfrm>
        </p:grpSpPr>
        <p:sp>
          <p:nvSpPr>
            <p:cNvPr id="32" name="Retângulo 5">
              <a:extLst>
                <a:ext uri="{FF2B5EF4-FFF2-40B4-BE49-F238E27FC236}">
                  <a16:creationId xmlns:a16="http://schemas.microsoft.com/office/drawing/2014/main" id="{6A7CEFA0-0CCF-4F88-9B65-C6508FBF8450}"/>
                </a:ext>
              </a:extLst>
            </p:cNvPr>
            <p:cNvSpPr/>
            <p:nvPr/>
          </p:nvSpPr>
          <p:spPr>
            <a:xfrm>
              <a:off x="702474" y="4953960"/>
              <a:ext cx="107433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7" action="ppaction://hlinkpres?slideindex=1&amp;slidetitle="/>
                </a:rPr>
                <a:t>functionalities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CEB76E67-591A-4CE5-8666-F4DF923D567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21365" y="4900305"/>
              <a:ext cx="276999" cy="276999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89B9DD3-97AA-4CD5-8C66-FFB990370CCC}"/>
              </a:ext>
            </a:extLst>
          </p:cNvPr>
          <p:cNvGrpSpPr/>
          <p:nvPr/>
        </p:nvGrpSpPr>
        <p:grpSpPr>
          <a:xfrm>
            <a:off x="290665" y="2916452"/>
            <a:ext cx="3350796" cy="299662"/>
            <a:chOff x="1643297" y="4045816"/>
            <a:chExt cx="3350796" cy="299662"/>
          </a:xfrm>
        </p:grpSpPr>
        <p:sp>
          <p:nvSpPr>
            <p:cNvPr id="35" name="CaixaDeTexto 17">
              <a:hlinkClick r:id="rId10" action="ppaction://program"/>
              <a:extLst>
                <a:ext uri="{FF2B5EF4-FFF2-40B4-BE49-F238E27FC236}">
                  <a16:creationId xmlns:a16="http://schemas.microsoft.com/office/drawing/2014/main" id="{C4FEBFE7-3F98-4DDB-B986-E3F0FBEC1A0E}"/>
                </a:ext>
              </a:extLst>
            </p:cNvPr>
            <p:cNvSpPr txBox="1"/>
            <p:nvPr/>
          </p:nvSpPr>
          <p:spPr>
            <a:xfrm>
              <a:off x="1980063" y="4103314"/>
              <a:ext cx="3014030" cy="184666"/>
            </a:xfrm>
            <a:prstGeom prst="rect">
              <a:avLst/>
            </a:prstGeom>
            <a:noFill/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sng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50000"/>
                    </a:srgbClr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1" action="ppaction://hlinkfile"/>
                </a:rPr>
                <a:t>D:\A1_research\C2_c0dice\B1_jmeter\A1_install</a:t>
              </a:r>
              <a:endPara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  <p:pic>
          <p:nvPicPr>
            <p:cNvPr id="37" name="Imagem 18">
              <a:hlinkClick r:id="rId10" action="ppaction://program"/>
              <a:extLst>
                <a:ext uri="{FF2B5EF4-FFF2-40B4-BE49-F238E27FC236}">
                  <a16:creationId xmlns:a16="http://schemas.microsoft.com/office/drawing/2014/main" id="{9DA85EDB-3BB2-4480-9EAC-60E04204F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3297" y="4045816"/>
              <a:ext cx="295651" cy="299662"/>
            </a:xfrm>
            <a:prstGeom prst="rect">
              <a:avLst/>
            </a:prstGeom>
          </p:spPr>
        </p:pic>
      </p:grpSp>
      <p:sp>
        <p:nvSpPr>
          <p:cNvPr id="24" name="Texto Explicativo 1 23"/>
          <p:cNvSpPr/>
          <p:nvPr/>
        </p:nvSpPr>
        <p:spPr>
          <a:xfrm flipH="1">
            <a:off x="321498" y="5499311"/>
            <a:ext cx="1682631" cy="442035"/>
          </a:xfrm>
          <a:prstGeom prst="borderCallout1">
            <a:avLst>
              <a:gd name="adj1" fmla="val 57951"/>
              <a:gd name="adj2" fmla="val -2146"/>
              <a:gd name="adj3" fmla="val -108706"/>
              <a:gd name="adj4" fmla="val -25813"/>
            </a:avLst>
          </a:prstGeom>
          <a:solidFill>
            <a:schemeClr val="tx1"/>
          </a:solidFill>
          <a:ln w="25400">
            <a:solidFill>
              <a:schemeClr val="tx2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spAutoFit/>
          </a:bodyPr>
          <a:lstStyle/>
          <a:p>
            <a:pPr marL="228592" marR="0" lvl="0" indent="-228592" algn="just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every key-frame</a:t>
            </a:r>
          </a:p>
          <a:p>
            <a:pPr marL="228592" marR="0" lvl="0" indent="-228592" algn="just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defines the operation </a:t>
            </a:r>
          </a:p>
        </p:txBody>
      </p:sp>
      <p:cxnSp>
        <p:nvCxnSpPr>
          <p:cNvPr id="26" name="Conector Angulado 25"/>
          <p:cNvCxnSpPr>
            <a:stCxn id="3" idx="1"/>
          </p:cNvCxnSpPr>
          <p:nvPr/>
        </p:nvCxnSpPr>
        <p:spPr>
          <a:xfrm rot="10800000" flipH="1">
            <a:off x="3949147" y="3636580"/>
            <a:ext cx="3460441" cy="742678"/>
          </a:xfrm>
          <a:prstGeom prst="bentConnector3">
            <a:avLst>
              <a:gd name="adj1" fmla="val 32839"/>
            </a:avLst>
          </a:prstGeom>
          <a:ln w="95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tângulo 20"/>
          <p:cNvSpPr/>
          <p:nvPr/>
        </p:nvSpPr>
        <p:spPr>
          <a:xfrm>
            <a:off x="4241784" y="2693963"/>
            <a:ext cx="2047445" cy="4449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peech Bubble: Rectangle 43">
            <a:extLst>
              <a:ext uri="{FF2B5EF4-FFF2-40B4-BE49-F238E27FC236}">
                <a16:creationId xmlns:a16="http://schemas.microsoft.com/office/drawing/2014/main" id="{F6BD38D4-616B-4E52-AF29-D8B40FBECD17}"/>
              </a:ext>
            </a:extLst>
          </p:cNvPr>
          <p:cNvSpPr/>
          <p:nvPr/>
        </p:nvSpPr>
        <p:spPr>
          <a:xfrm>
            <a:off x="9116363" y="1155794"/>
            <a:ext cx="973655" cy="442035"/>
          </a:xfrm>
          <a:prstGeom prst="wedgeRectCallout">
            <a:avLst>
              <a:gd name="adj1" fmla="val 37971"/>
              <a:gd name="adj2" fmla="val 86512"/>
            </a:avLst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download </a:t>
            </a:r>
          </a:p>
          <a:p>
            <a:pPr marL="685776" marR="0" lvl="1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exe</a:t>
            </a:r>
          </a:p>
        </p:txBody>
      </p:sp>
      <p:sp>
        <p:nvSpPr>
          <p:cNvPr id="46" name="Speech Bubble: Rectangle 45">
            <a:extLst>
              <a:ext uri="{FF2B5EF4-FFF2-40B4-BE49-F238E27FC236}">
                <a16:creationId xmlns:a16="http://schemas.microsoft.com/office/drawing/2014/main" id="{15AAAA5B-560F-4C04-8412-8AC4C406E504}"/>
              </a:ext>
            </a:extLst>
          </p:cNvPr>
          <p:cNvSpPr/>
          <p:nvPr/>
        </p:nvSpPr>
        <p:spPr>
          <a:xfrm>
            <a:off x="8424446" y="1351608"/>
            <a:ext cx="412540" cy="246221"/>
          </a:xfrm>
          <a:prstGeom prst="wedgeRectCallout">
            <a:avLst>
              <a:gd name="adj1" fmla="val 50293"/>
              <a:gd name="adj2" fmla="val 102854"/>
            </a:avLst>
          </a:prstGeom>
          <a:solidFill>
            <a:schemeClr val="tx1"/>
          </a:solidFill>
          <a:ln w="1270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0" rIns="36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why</a:t>
            </a:r>
          </a:p>
        </p:txBody>
      </p:sp>
      <p:sp>
        <p:nvSpPr>
          <p:cNvPr id="47" name="Speech Bubble: Rectangle 46">
            <a:extLst>
              <a:ext uri="{FF2B5EF4-FFF2-40B4-BE49-F238E27FC236}">
                <a16:creationId xmlns:a16="http://schemas.microsoft.com/office/drawing/2014/main" id="{FB1F092E-1B0D-4BB5-806F-AA343368C3AF}"/>
              </a:ext>
            </a:extLst>
          </p:cNvPr>
          <p:cNvSpPr/>
          <p:nvPr/>
        </p:nvSpPr>
        <p:spPr>
          <a:xfrm>
            <a:off x="10325013" y="1155794"/>
            <a:ext cx="973655" cy="442035"/>
          </a:xfrm>
          <a:prstGeom prst="wedgeRectCallout">
            <a:avLst>
              <a:gd name="adj1" fmla="val 37971"/>
              <a:gd name="adj2" fmla="val 86512"/>
            </a:avLst>
          </a:prstGeom>
          <a:solidFill>
            <a:schemeClr val="tx1"/>
          </a:solidFill>
          <a:ln>
            <a:solidFill>
              <a:schemeClr val="accent2">
                <a:lumMod val="75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download </a:t>
            </a:r>
          </a:p>
          <a:p>
            <a:pPr marL="685776" marR="0" lvl="1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E284B9F-C4D8-A57A-BF8B-CF836910A207}"/>
              </a:ext>
            </a:extLst>
          </p:cNvPr>
          <p:cNvGrpSpPr/>
          <p:nvPr/>
        </p:nvGrpSpPr>
        <p:grpSpPr>
          <a:xfrm>
            <a:off x="1797877" y="3763539"/>
            <a:ext cx="944016" cy="286297"/>
            <a:chOff x="2738297" y="4386269"/>
            <a:chExt cx="944016" cy="28629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D5766B8-790D-759C-ADD6-4326FD84DB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1E1F20"/>
                </a:clrFrom>
                <a:clrTo>
                  <a:srgbClr val="1E1F2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738297" y="4386269"/>
              <a:ext cx="217052" cy="274320"/>
            </a:xfrm>
            <a:prstGeom prst="rect">
              <a:avLst/>
            </a:prstGeom>
          </p:spPr>
        </p:pic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CC32A992-D5D5-61BD-D9A8-230175E6B43D}"/>
                </a:ext>
              </a:extLst>
            </p:cNvPr>
            <p:cNvSpPr/>
            <p:nvPr/>
          </p:nvSpPr>
          <p:spPr>
            <a:xfrm>
              <a:off x="2928581" y="4395567"/>
              <a:ext cx="75373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4" action="ppaction://hlinksldjump"/>
                </a:rPr>
                <a:t>build-exe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416EAEF-D73C-1B4B-6613-895962B3B06F}"/>
              </a:ext>
            </a:extLst>
          </p:cNvPr>
          <p:cNvGrpSpPr/>
          <p:nvPr/>
        </p:nvGrpSpPr>
        <p:grpSpPr>
          <a:xfrm>
            <a:off x="304221" y="4578790"/>
            <a:ext cx="616475" cy="215444"/>
            <a:chOff x="3185324" y="4875184"/>
            <a:chExt cx="616475" cy="215444"/>
          </a:xfrm>
        </p:grpSpPr>
        <p:pic>
          <p:nvPicPr>
            <p:cNvPr id="8" name="Picture 2" descr="Citekeeper Is A Crowdsourced - Play Icon White Png (841x764), Png Download">
              <a:extLst>
                <a:ext uri="{FF2B5EF4-FFF2-40B4-BE49-F238E27FC236}">
                  <a16:creationId xmlns:a16="http://schemas.microsoft.com/office/drawing/2014/main" id="{53F747F5-8112-4BCE-7DCC-A69372F4C7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5324" y="4899831"/>
              <a:ext cx="182880" cy="166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etângulo 5">
              <a:extLst>
                <a:ext uri="{FF2B5EF4-FFF2-40B4-BE49-F238E27FC236}">
                  <a16:creationId xmlns:a16="http://schemas.microsoft.com/office/drawing/2014/main" id="{13F14E3A-2447-8E89-E7FE-CE197AD1B9F0}"/>
                </a:ext>
              </a:extLst>
            </p:cNvPr>
            <p:cNvSpPr/>
            <p:nvPr/>
          </p:nvSpPr>
          <p:spPr>
            <a:xfrm>
              <a:off x="3304547" y="4875184"/>
              <a:ext cx="497252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6" action="ppaction://hlinkfile"/>
                </a:rPr>
                <a:t>zig help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</p:grpSp>
      <p:sp>
        <p:nvSpPr>
          <p:cNvPr id="3" name="Right Brace 2">
            <a:extLst>
              <a:ext uri="{FF2B5EF4-FFF2-40B4-BE49-F238E27FC236}">
                <a16:creationId xmlns:a16="http://schemas.microsoft.com/office/drawing/2014/main" id="{28F89B6D-FD21-4FB5-B0CE-885E5C11A610}"/>
              </a:ext>
            </a:extLst>
          </p:cNvPr>
          <p:cNvSpPr/>
          <p:nvPr/>
        </p:nvSpPr>
        <p:spPr>
          <a:xfrm>
            <a:off x="3829878" y="4179726"/>
            <a:ext cx="119270" cy="399064"/>
          </a:xfrm>
          <a:prstGeom prst="rightBrac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073845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70092</TotalTime>
  <Words>172</Words>
  <Application>Microsoft Office PowerPoint</Application>
  <PresentationFormat>Widescreen</PresentationFormat>
  <Paragraphs>56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Consolas</vt:lpstr>
      <vt:lpstr>Wingdings</vt:lpstr>
      <vt:lpstr>Tema do Office</vt:lpstr>
      <vt:lpstr>Office Theme</vt:lpstr>
      <vt:lpstr>1. bOS</vt:lpstr>
      <vt:lpstr>1.1 index</vt:lpstr>
      <vt:lpstr>1.2 sources</vt:lpstr>
      <vt:lpstr>2. credentials</vt:lpstr>
      <vt:lpstr>3. requirements</vt:lpstr>
      <vt:lpstr>3.1 use cases</vt:lpstr>
      <vt:lpstr>4. studio POC</vt:lpstr>
      <vt:lpstr>Z. 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Evaristo</dc:creator>
  <cp:lastModifiedBy>Evaristo</cp:lastModifiedBy>
  <cp:revision>1157</cp:revision>
  <dcterms:created xsi:type="dcterms:W3CDTF">2019-03-25T09:18:39Z</dcterms:created>
  <dcterms:modified xsi:type="dcterms:W3CDTF">2024-04-19T06:04:13Z</dcterms:modified>
</cp:coreProperties>
</file>