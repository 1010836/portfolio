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59" r:id="rId3"/>
    <p:sldId id="383" r:id="rId4"/>
    <p:sldId id="384" r:id="rId5"/>
    <p:sldId id="390" r:id="rId6"/>
    <p:sldId id="385" r:id="rId7"/>
    <p:sldId id="391" r:id="rId8"/>
    <p:sldId id="392" r:id="rId9"/>
    <p:sldId id="400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386" r:id="rId18"/>
    <p:sldId id="387" r:id="rId19"/>
    <p:sldId id="388" r:id="rId20"/>
    <p:sldId id="389" r:id="rId21"/>
    <p:sldId id="377" r:id="rId2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11" d="100"/>
          <a:sy n="111" d="100"/>
        </p:scale>
        <p:origin x="96" y="11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14/03/2024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14/03/2024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14/03/2024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lexicon/infrastructure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vector-database/#:~:text=A%20vector%20database%20indexes%20and%20stores%20vector%20embeddings%20for%20fast%20retrieval%20and%20similarity%20search%2C%20with%20capabilities%20like%20CRUD%20operations%2C%20metadata%20filtering%2C%20horizontal%20scaling%2C%20and%20serverles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vector-database/#:~:text=How%20does%20a%20vector%20database%20work%3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aws.amazon.com/lambda/serverless-architectures-learn-more/#:~:text=What%20is%20a%20serverless%20architecture,management%20is%20done%20by%20AWS.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aws.amazon.com/serverles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vector-database/#:~:text=different%20similarity%20measure.-,Serverless%20Vector%20Databases,-Serverless%20represents%20the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The%20freshness%20layer%20keeps%20our%20data%20up%20to%20date%20so%20we%20can%20begin%20querying%20quickly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vector-database/#:~:text=We%20must%20avoid%20colocating%20different%20types%20of%20users%20on%20the%20same%20hardware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pinecone.io/learn/vector-database/#:~:text=of%20our%20database.-,Algorithms,-Several%20algorithms%20can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vector-database/#:~:text=about%20HNSW.-,Similarity%20Measures,-Building%20on%20the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vector-database/#:~:text=similarity%20measures.-,Filtering,-Every%20vector%20stored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pinecone.io/learn/vector-search-filtering/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vector-database/#:~:text=similarity%20measures.-,Filtering,-Every%20vector%20stored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vector-database/#:~:text=operating%20the%20database.-,Performance%20and%20Fault%20tolerance,-Performance%20and%20fault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vector-database/#:~:text=in%20higher%20latency.-,Monitoring,-To%20effectively%20manage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zero.com/blog/horizontal-vs-vertical-scaling/#:~:text=Horizontal%20scaling%20(aka%20scaling%20out,server%20may%20be%20your%20solution.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pinecone.io/learn/vector-embeddings-for-developers/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hyperlink" Target="https://www.pinecone.io/learn/vector-database/#:~:text=a%20type%20of%20vector%20data%20representation%20that%20carries%20within%20it%20semantic%20information%20that%E2%80%99s%20critical%20for%20the%20AI%20to%20gain%20understanding%20and%20maintain%20a%20long%2Dterm%20memory%20they%20can%20draw%20upon%20when%20executing%20complex%20tasks.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hyperlink" Target="https://www.pinecone.io/learn/vector-embeddings-for-developers/#:~:text=The%20embedding%20model%20is%20basically%20this%20neural%20network%20with%20the%20last%20layer%20removed.%20Instead%20of%20getting%20a%20specific%20labeled%20value%20for%20an%20input%2C%20we%20get%20a%20vector%20embedding." TargetMode="External"/><Relationship Id="rId7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aws.amazon.com/what-is/embeddings-in-machine-learning/#:~:text=of%20distributed%20objects.-,What%20are%20embedding%20models%3F,-Embedding%20models%20are" TargetMode="External"/><Relationship Id="rId5" Type="http://schemas.openxmlformats.org/officeDocument/2006/relationships/image" Target="../media/image32.png"/><Relationship Id="rId4" Type="http://schemas.openxmlformats.org/officeDocument/2006/relationships/image" Target="../media/image3.png"/><Relationship Id="rId9" Type="http://schemas.openxmlformats.org/officeDocument/2006/relationships/hyperlink" Target="https://www.tensorflow.org/text/tutorials/word2vec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vector-database/#:~:text=What%E2%80%99s%20the%20difference%20between%20a%20vector%20index%20and%20a%20vector%20database%3F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1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40.png"/><Relationship Id="rId2" Type="http://schemas.openxmlformats.org/officeDocument/2006/relationships/image" Target="../media/image37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42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39.svg"/><Relationship Id="rId14" Type="http://schemas.openxmlformats.org/officeDocument/2006/relationships/slide" Target="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0BBCAC-FC0C-6D7B-BE6E-7D56D2AF8F6E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6444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lexicon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CF5FF5-170C-85DB-E4BF-356999893333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46E425C8-8504-99BF-EB87-0CE46537C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162EF09E-C3B6-4554-B35D-D59642F597DA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336289-1C40-F097-5F4E-52532715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C199BC-1293-6CA6-6995-1A812A4919C7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D23039-CCDB-04A5-0DB4-D76F79C7F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4507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1.1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index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A60C73-DB46-38ED-0222-72FC393DA392}"/>
              </a:ext>
            </a:extLst>
          </p:cNvPr>
          <p:cNvGrpSpPr/>
          <p:nvPr/>
        </p:nvGrpSpPr>
        <p:grpSpPr>
          <a:xfrm>
            <a:off x="151687" y="545229"/>
            <a:ext cx="1541250" cy="283293"/>
            <a:chOff x="5611636" y="5954426"/>
            <a:chExt cx="1541250" cy="283293"/>
          </a:xfrm>
        </p:grpSpPr>
        <p:pic>
          <p:nvPicPr>
            <p:cNvPr id="13" name="Picture 12" descr="Icon&#10;&#10;Description automatically generated">
              <a:extLst>
                <a:ext uri="{FF2B5EF4-FFF2-40B4-BE49-F238E27FC236}">
                  <a16:creationId xmlns:a16="http://schemas.microsoft.com/office/drawing/2014/main" id="{E85EA974-1D6C-1375-92B4-24359F9E6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4" name="Retângulo 5">
              <a:extLst>
                <a:ext uri="{FF2B5EF4-FFF2-40B4-BE49-F238E27FC236}">
                  <a16:creationId xmlns:a16="http://schemas.microsoft.com/office/drawing/2014/main" id="{70F49838-3E75-753C-1B4B-30C751CDE6FC}"/>
                </a:ext>
              </a:extLst>
            </p:cNvPr>
            <p:cNvSpPr/>
            <p:nvPr/>
          </p:nvSpPr>
          <p:spPr>
            <a:xfrm>
              <a:off x="6107407" y="5954426"/>
              <a:ext cx="104547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infrastructure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5531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41EB8-4F55-67F6-9247-DF8CEA7C1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ector Database">
            <a:extLst>
              <a:ext uri="{FF2B5EF4-FFF2-40B4-BE49-F238E27FC236}">
                <a16:creationId xmlns:a16="http://schemas.microsoft.com/office/drawing/2014/main" id="{B98CA092-2EEF-D4BB-C233-2DD8F6538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427" y="1819201"/>
            <a:ext cx="6549209" cy="2513941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5843C3-D478-53BA-AF63-DA4768A4F1D3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B38C0-AEAC-B44E-17FB-679946B74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31933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vector database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15B8F9-EFEB-F041-D683-9E31A32CF17E}"/>
              </a:ext>
            </a:extLst>
          </p:cNvPr>
          <p:cNvGrpSpPr/>
          <p:nvPr/>
        </p:nvGrpSpPr>
        <p:grpSpPr>
          <a:xfrm>
            <a:off x="5109032" y="1344302"/>
            <a:ext cx="1381356" cy="289586"/>
            <a:chOff x="5881666" y="1590687"/>
            <a:chExt cx="1381356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47500C51-F349-4026-0EE7-4EAD313E8150}"/>
                </a:ext>
              </a:extLst>
            </p:cNvPr>
            <p:cNvSpPr/>
            <p:nvPr/>
          </p:nvSpPr>
          <p:spPr>
            <a:xfrm>
              <a:off x="6081095" y="1603274"/>
              <a:ext cx="11819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vector database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FA46A903-4345-EEA8-180E-759342AFB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4" name="Arrow: Right 5">
            <a:extLst>
              <a:ext uri="{FF2B5EF4-FFF2-40B4-BE49-F238E27FC236}">
                <a16:creationId xmlns:a16="http://schemas.microsoft.com/office/drawing/2014/main" id="{7C132814-A2CF-0F9A-5E1A-D045F9305ED0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8AC8A9C1-E92B-6F2E-613E-94855BAAC834}"/>
              </a:ext>
            </a:extLst>
          </p:cNvPr>
          <p:cNvSpPr/>
          <p:nvPr/>
        </p:nvSpPr>
        <p:spPr>
          <a:xfrm>
            <a:off x="925211" y="229681"/>
            <a:ext cx="1525024" cy="996033"/>
          </a:xfrm>
          <a:prstGeom prst="wedgeRectCallout">
            <a:avLst>
              <a:gd name="adj1" fmla="val 12405"/>
              <a:gd name="adj2" fmla="val 26752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A vector database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indexes </a:t>
            </a:r>
          </a:p>
          <a:p>
            <a:pPr marL="1142992" lvl="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and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stores </a:t>
            </a:r>
          </a:p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vector embeddings 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0A6F041D-90A1-352A-0D51-3A3FC6ED52D5}"/>
              </a:ext>
            </a:extLst>
          </p:cNvPr>
          <p:cNvSpPr/>
          <p:nvPr/>
        </p:nvSpPr>
        <p:spPr>
          <a:xfrm>
            <a:off x="2596531" y="242212"/>
            <a:ext cx="1837610" cy="811367"/>
          </a:xfrm>
          <a:prstGeom prst="wedgeRectCallout">
            <a:avLst>
              <a:gd name="adj1" fmla="val -58642"/>
              <a:gd name="adj2" fmla="val -30850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for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fast retrieval </a:t>
            </a:r>
          </a:p>
          <a:p>
            <a:pPr marL="1142992" lvl="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and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similarity search, 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0F9AC945-CCB7-D75D-2707-324BE28505CA}"/>
              </a:ext>
            </a:extLst>
          </p:cNvPr>
          <p:cNvSpPr/>
          <p:nvPr/>
        </p:nvSpPr>
        <p:spPr>
          <a:xfrm>
            <a:off x="4542171" y="242212"/>
            <a:ext cx="1948217" cy="996033"/>
          </a:xfrm>
          <a:prstGeom prst="wedgeRectCallout">
            <a:avLst>
              <a:gd name="adj1" fmla="val -58642"/>
              <a:gd name="adj2" fmla="val -30850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with capabilities like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CRUD operations,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metadata filtering,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horizontal scaling,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serverless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7337270-FD04-1320-D0CC-7B14F952CE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211" y="4580680"/>
            <a:ext cx="9557410" cy="1966096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039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893E0D-3EBC-BD3E-7D8E-FE30054EF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C43D8F6-EF5F-2FC7-89E2-868AF50D4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11" y="255334"/>
            <a:ext cx="6722853" cy="540341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E7D78D-1712-6D99-31C0-A84B9DC9C865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34380A-85EA-FE70-8D9B-BE4ABE616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8082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2.1 how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EC6E14-7DA4-0A1A-CF6F-76B2E89A6A0D}"/>
              </a:ext>
            </a:extLst>
          </p:cNvPr>
          <p:cNvGrpSpPr/>
          <p:nvPr/>
        </p:nvGrpSpPr>
        <p:grpSpPr>
          <a:xfrm>
            <a:off x="5195296" y="958989"/>
            <a:ext cx="2577003" cy="289586"/>
            <a:chOff x="5881666" y="1590687"/>
            <a:chExt cx="2577003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7EC4F1AA-A866-8945-73A8-2C790E042954}"/>
                </a:ext>
              </a:extLst>
            </p:cNvPr>
            <p:cNvSpPr/>
            <p:nvPr/>
          </p:nvSpPr>
          <p:spPr>
            <a:xfrm>
              <a:off x="6081095" y="1603274"/>
              <a:ext cx="237757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How does a vector database work?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E4E0E740-01D6-57A5-3515-75B177F5B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4" name="Arrow: Right 5">
            <a:extLst>
              <a:ext uri="{FF2B5EF4-FFF2-40B4-BE49-F238E27FC236}">
                <a16:creationId xmlns:a16="http://schemas.microsoft.com/office/drawing/2014/main" id="{0C0DA2FC-4AD4-CF07-9AF8-378A5108DD09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BA7BCB-E6DA-2205-4B9E-418BD1667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211" y="1512154"/>
            <a:ext cx="7062158" cy="1314559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B2FCA7-D165-8B1F-1E6E-DF314ACD00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111" y="3428999"/>
            <a:ext cx="8350370" cy="1852722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181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F33B2-363B-F474-3098-E5823EDEC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CA36101-D621-9E40-0788-AF3371F44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11" y="293012"/>
            <a:ext cx="5581707" cy="1310192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143517-07EB-BD9E-AFE7-FAD3034F1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74" y="2443931"/>
            <a:ext cx="3827408" cy="122382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F6F351-BC3B-F1AD-64FE-B0690A4527F8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5FAC36-2ACC-B271-0C6B-EC65AB05D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4609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serverless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F74A492-2E53-A82D-C07F-FB8A96106689}"/>
              </a:ext>
            </a:extLst>
          </p:cNvPr>
          <p:cNvGrpSpPr/>
          <p:nvPr/>
        </p:nvGrpSpPr>
        <p:grpSpPr>
          <a:xfrm>
            <a:off x="2534087" y="3777284"/>
            <a:ext cx="2213122" cy="289586"/>
            <a:chOff x="5881666" y="1590687"/>
            <a:chExt cx="2213122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AA62AF81-A016-6A5C-1160-9F0791D8516D}"/>
                </a:ext>
              </a:extLst>
            </p:cNvPr>
            <p:cNvSpPr/>
            <p:nvPr/>
          </p:nvSpPr>
          <p:spPr>
            <a:xfrm>
              <a:off x="6081095" y="1603274"/>
              <a:ext cx="201369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/>
                </a:rPr>
                <a:t>aws.amazon.com/serverless/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0A41E4B8-B77C-5F5D-4D14-E51FA5983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4" name="Arrow: Right 5">
            <a:extLst>
              <a:ext uri="{FF2B5EF4-FFF2-40B4-BE49-F238E27FC236}">
                <a16:creationId xmlns:a16="http://schemas.microsoft.com/office/drawing/2014/main" id="{C15E6661-965B-6138-ED44-9DE76D2FA660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E2F365-B167-C01A-7AD9-D29F7AD69D8E}"/>
              </a:ext>
            </a:extLst>
          </p:cNvPr>
          <p:cNvGrpSpPr/>
          <p:nvPr/>
        </p:nvGrpSpPr>
        <p:grpSpPr>
          <a:xfrm>
            <a:off x="4361366" y="1707771"/>
            <a:ext cx="2134574" cy="289586"/>
            <a:chOff x="5881666" y="1590687"/>
            <a:chExt cx="2134574" cy="289586"/>
          </a:xfrm>
        </p:grpSpPr>
        <p:sp>
          <p:nvSpPr>
            <p:cNvPr id="17" name="Retângulo 5">
              <a:extLst>
                <a:ext uri="{FF2B5EF4-FFF2-40B4-BE49-F238E27FC236}">
                  <a16:creationId xmlns:a16="http://schemas.microsoft.com/office/drawing/2014/main" id="{A9390C50-8DED-EDF8-4C39-349FC286DBED}"/>
                </a:ext>
              </a:extLst>
            </p:cNvPr>
            <p:cNvSpPr/>
            <p:nvPr/>
          </p:nvSpPr>
          <p:spPr>
            <a:xfrm>
              <a:off x="6081095" y="1603274"/>
              <a:ext cx="19351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6"/>
                </a:rPr>
                <a:t>aws/serverless/architecture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Picture 17" descr="Icon&#10;&#10;Description automatically generated">
              <a:extLst>
                <a:ext uri="{FF2B5EF4-FFF2-40B4-BE49-F238E27FC236}">
                  <a16:creationId xmlns:a16="http://schemas.microsoft.com/office/drawing/2014/main" id="{33EB4EB1-3325-C821-C4FE-939D7AFA2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213D76D7-4A26-DAEC-3E92-5F956CD029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7483" y="2398211"/>
            <a:ext cx="3504905" cy="1379073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115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069EA-F5C7-5520-2356-3AF9ECA53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D5D56B-59D2-61DA-17AE-3711BFAC5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23" y="252853"/>
            <a:ext cx="7125419" cy="188448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842B4C1-D988-27F0-02AC-34702747D4DF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8735D5-9DEF-53A0-5A5B-F099DE0A6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8309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 pinecone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26B4A90-8E80-DB6A-E6CE-8005AF2566A2}"/>
              </a:ext>
            </a:extLst>
          </p:cNvPr>
          <p:cNvGrpSpPr/>
          <p:nvPr/>
        </p:nvGrpSpPr>
        <p:grpSpPr>
          <a:xfrm>
            <a:off x="5921393" y="2333797"/>
            <a:ext cx="2213122" cy="289586"/>
            <a:chOff x="5881666" y="1590687"/>
            <a:chExt cx="2213122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F0BB3067-98CA-6F66-46FB-1B6C5AF8F59D}"/>
                </a:ext>
              </a:extLst>
            </p:cNvPr>
            <p:cNvSpPr/>
            <p:nvPr/>
          </p:nvSpPr>
          <p:spPr>
            <a:xfrm>
              <a:off x="6081095" y="1603274"/>
              <a:ext cx="201369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Serverless Vector Databases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FDBFC9D9-5E19-AA05-ABF0-663A02560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4" name="Arrow: Right 5">
            <a:extLst>
              <a:ext uri="{FF2B5EF4-FFF2-40B4-BE49-F238E27FC236}">
                <a16:creationId xmlns:a16="http://schemas.microsoft.com/office/drawing/2014/main" id="{EDBF87C7-1CBF-B5EE-1880-B11318D715C2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678475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B6047-D2C0-8E11-9E78-4ECC924A9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6325446-B457-1572-6198-68B033826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02" y="274221"/>
            <a:ext cx="8059142" cy="48998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DD50FB8-D53B-96A6-99FA-E51656520EC6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5DFA27-B9C3-3400-27EB-3F44219B1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12402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3.1.1 partitions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Arrow: Right 5">
            <a:extLst>
              <a:ext uri="{FF2B5EF4-FFF2-40B4-BE49-F238E27FC236}">
                <a16:creationId xmlns:a16="http://schemas.microsoft.com/office/drawing/2014/main" id="{B622F2A6-2BC1-2484-DA5E-145A151AE356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pic>
        <p:nvPicPr>
          <p:cNvPr id="13" name="Picture 2" descr="Chart demonstrating Voronoi tessalations">
            <a:extLst>
              <a:ext uri="{FF2B5EF4-FFF2-40B4-BE49-F238E27FC236}">
                <a16:creationId xmlns:a16="http://schemas.microsoft.com/office/drawing/2014/main" id="{95CD00F9-0361-A276-65A2-65BCAA6B9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090" y="2559689"/>
            <a:ext cx="2623256" cy="1923691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375968-BBA1-4C25-D695-4A207A81F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02" y="1178747"/>
            <a:ext cx="8465388" cy="95369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6" name="Retângulo 20">
            <a:extLst>
              <a:ext uri="{FF2B5EF4-FFF2-40B4-BE49-F238E27FC236}">
                <a16:creationId xmlns:a16="http://schemas.microsoft.com/office/drawing/2014/main" id="{CC45E3CA-539D-23D7-38AD-A57129077DA5}"/>
              </a:ext>
            </a:extLst>
          </p:cNvPr>
          <p:cNvSpPr/>
          <p:nvPr/>
        </p:nvSpPr>
        <p:spPr>
          <a:xfrm>
            <a:off x="1756686" y="1210618"/>
            <a:ext cx="824798" cy="24741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611293F-AD04-8E96-72D4-DFD04C739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1469" y="2655486"/>
            <a:ext cx="6924136" cy="63303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8067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D149A-9F27-F505-06D6-72911CC94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Freshness layer diagram demonstrating the query being sent to both the freshness layer and the existing, parititioned index">
            <a:extLst>
              <a:ext uri="{FF2B5EF4-FFF2-40B4-BE49-F238E27FC236}">
                <a16:creationId xmlns:a16="http://schemas.microsoft.com/office/drawing/2014/main" id="{F17DFB84-66F4-E99F-4E56-E21823333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1" y="207626"/>
            <a:ext cx="4906246" cy="292465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3865CE-5324-009A-6C3C-4F9094793F03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42D7D-61DE-DCE9-C9E2-AE5E5D033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11537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3.1.1 freshness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000F40-3B4C-9D76-B0EC-5F76CD209926}"/>
              </a:ext>
            </a:extLst>
          </p:cNvPr>
          <p:cNvGrpSpPr/>
          <p:nvPr/>
        </p:nvGrpSpPr>
        <p:grpSpPr>
          <a:xfrm>
            <a:off x="4909227" y="3236911"/>
            <a:ext cx="980412" cy="289586"/>
            <a:chOff x="5881666" y="1590687"/>
            <a:chExt cx="980412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38D024B7-519E-6983-7603-859B51865433}"/>
                </a:ext>
              </a:extLst>
            </p:cNvPr>
            <p:cNvSpPr/>
            <p:nvPr/>
          </p:nvSpPr>
          <p:spPr>
            <a:xfrm>
              <a:off x="6081095" y="1603274"/>
              <a:ext cx="78098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file"/>
                </a:rPr>
                <a:t>freshness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67931E22-5313-3179-A96D-F5CBA515E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4" name="Arrow: Right 5">
            <a:extLst>
              <a:ext uri="{FF2B5EF4-FFF2-40B4-BE49-F238E27FC236}">
                <a16:creationId xmlns:a16="http://schemas.microsoft.com/office/drawing/2014/main" id="{5950A649-D131-F454-1E12-938FF77528C2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5759ED-A0B2-E34D-92A4-57C05A7303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211" y="3784377"/>
            <a:ext cx="9074988" cy="104623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0063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C28F8-EE04-0CB1-CBCF-ABB42A175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2DB8783-D62B-CB15-3557-05EB08DAF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11" y="242212"/>
            <a:ext cx="8201536" cy="94612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B1F6B9B-E361-52FC-6DF5-47373DC624BE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F261F-BDF8-D2D6-6B20-2E0AA5B0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34376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3.1.2 multitenancy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B79AAF-3A30-1648-3726-0844CACD8E04}"/>
              </a:ext>
            </a:extLst>
          </p:cNvPr>
          <p:cNvGrpSpPr/>
          <p:nvPr/>
        </p:nvGrpSpPr>
        <p:grpSpPr>
          <a:xfrm>
            <a:off x="8054993" y="1270089"/>
            <a:ext cx="1206436" cy="289586"/>
            <a:chOff x="5881666" y="1590687"/>
            <a:chExt cx="1206436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30631EEB-8ABA-81CF-AA85-362F90DCAA45}"/>
                </a:ext>
              </a:extLst>
            </p:cNvPr>
            <p:cNvSpPr/>
            <p:nvPr/>
          </p:nvSpPr>
          <p:spPr>
            <a:xfrm>
              <a:off x="6081095" y="1603274"/>
              <a:ext cx="100700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multitenancy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2BA2C065-0338-9159-AB2A-1672E8D64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4" name="Arrow: Right 5">
            <a:extLst>
              <a:ext uri="{FF2B5EF4-FFF2-40B4-BE49-F238E27FC236}">
                <a16:creationId xmlns:a16="http://schemas.microsoft.com/office/drawing/2014/main" id="{E4AF0917-09EE-44A2-3985-D230DAC7492F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FB8066-B504-A7B1-B20A-CB38093BA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211" y="1810893"/>
            <a:ext cx="8131834" cy="73925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5920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87BA8D-83AC-A9C1-5EA4-9A91E24CC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EA64FD9A-7A0E-EB8F-D248-5F9EAEB509A4}"/>
              </a:ext>
            </a:extLst>
          </p:cNvPr>
          <p:cNvSpPr/>
          <p:nvPr/>
        </p:nvSpPr>
        <p:spPr>
          <a:xfrm>
            <a:off x="925211" y="261842"/>
            <a:ext cx="2985360" cy="811367"/>
          </a:xfrm>
          <a:prstGeom prst="wedgeRectCallout">
            <a:avLst>
              <a:gd name="adj1" fmla="val 9287"/>
              <a:gd name="adj2" fmla="val 160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Random Projection</a:t>
            </a:r>
          </a:p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Product Quantization</a:t>
            </a:r>
          </a:p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Locality-sensitive hashing</a:t>
            </a:r>
          </a:p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Hierarchical Navigable Small World (HNSW)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2D45F-CB54-E68B-A3DE-EFAB5EB7C017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CDB9A7-4C22-FC2B-6005-7651C6198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22104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3.1.3  algorithms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C5748F6-1675-C96E-220C-FF7961880661}"/>
              </a:ext>
            </a:extLst>
          </p:cNvPr>
          <p:cNvGrpSpPr/>
          <p:nvPr/>
        </p:nvGrpSpPr>
        <p:grpSpPr>
          <a:xfrm>
            <a:off x="2948155" y="1092839"/>
            <a:ext cx="1050944" cy="289586"/>
            <a:chOff x="5881666" y="1590687"/>
            <a:chExt cx="1050944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E60B9FFC-6B51-21A2-3A4D-2D34BBA47C9C}"/>
                </a:ext>
              </a:extLst>
            </p:cNvPr>
            <p:cNvSpPr/>
            <p:nvPr/>
          </p:nvSpPr>
          <p:spPr>
            <a:xfrm>
              <a:off x="6081095" y="1603274"/>
              <a:ext cx="85151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algorithms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3929DB57-13B6-1987-6544-5E770E239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4" name="Arrow: Right 5">
            <a:extLst>
              <a:ext uri="{FF2B5EF4-FFF2-40B4-BE49-F238E27FC236}">
                <a16:creationId xmlns:a16="http://schemas.microsoft.com/office/drawing/2014/main" id="{812CE2FE-7F08-C80D-EB15-27928E975C36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6" name="Explosion: 14 Points 5">
            <a:extLst>
              <a:ext uri="{FF2B5EF4-FFF2-40B4-BE49-F238E27FC236}">
                <a16:creationId xmlns:a16="http://schemas.microsoft.com/office/drawing/2014/main" id="{E860F59D-FAAD-A9D9-4722-F88562B41163}"/>
              </a:ext>
            </a:extLst>
          </p:cNvPr>
          <p:cNvSpPr/>
          <p:nvPr/>
        </p:nvSpPr>
        <p:spPr>
          <a:xfrm>
            <a:off x="1632709" y="1868990"/>
            <a:ext cx="1863123" cy="1245156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 </a:t>
            </a:r>
          </a:p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238350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2C962-DEE9-F34C-6F8C-A3D043B69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4867E7-E276-04C4-B8B3-93DD68CC1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59" y="300552"/>
            <a:ext cx="5975230" cy="1854512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5F14DB-BF2D-64FB-9256-715E4257A5A8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BDA6D-0D78-1378-B174-DB56A5FC0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75336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3.1.4  similarity measures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4C0F579-EC9E-0567-DCAA-1F694490095A}"/>
              </a:ext>
            </a:extLst>
          </p:cNvPr>
          <p:cNvGrpSpPr/>
          <p:nvPr/>
        </p:nvGrpSpPr>
        <p:grpSpPr>
          <a:xfrm>
            <a:off x="5421061" y="2253500"/>
            <a:ext cx="1597569" cy="289586"/>
            <a:chOff x="5881666" y="1590687"/>
            <a:chExt cx="1597569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F64D4607-8B14-7767-AC82-C5438AD66978}"/>
                </a:ext>
              </a:extLst>
            </p:cNvPr>
            <p:cNvSpPr/>
            <p:nvPr/>
          </p:nvSpPr>
          <p:spPr>
            <a:xfrm>
              <a:off x="6081095" y="1603274"/>
              <a:ext cx="139814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similarity measures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05EA91A7-F135-9D89-BB67-EF89BDB43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4" name="Arrow: Right 5">
            <a:extLst>
              <a:ext uri="{FF2B5EF4-FFF2-40B4-BE49-F238E27FC236}">
                <a16:creationId xmlns:a16="http://schemas.microsoft.com/office/drawing/2014/main" id="{C34CBB6D-D67F-9415-3462-0F309AEDC395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14" name="Explosion: 14 Points 13">
            <a:extLst>
              <a:ext uri="{FF2B5EF4-FFF2-40B4-BE49-F238E27FC236}">
                <a16:creationId xmlns:a16="http://schemas.microsoft.com/office/drawing/2014/main" id="{3E8DDE5F-F9F0-BD32-2E9B-3948253A42C8}"/>
              </a:ext>
            </a:extLst>
          </p:cNvPr>
          <p:cNvSpPr/>
          <p:nvPr/>
        </p:nvSpPr>
        <p:spPr>
          <a:xfrm>
            <a:off x="2437842" y="3111194"/>
            <a:ext cx="1863123" cy="1245156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 </a:t>
            </a:r>
          </a:p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3968803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3DB3A4-2E38-BD7D-3FE8-67A46728C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Post-filtering and Pre-filtering">
            <a:extLst>
              <a:ext uri="{FF2B5EF4-FFF2-40B4-BE49-F238E27FC236}">
                <a16:creationId xmlns:a16="http://schemas.microsoft.com/office/drawing/2014/main" id="{E9FB1EB6-F72E-5C8E-C009-07470E545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11" y="242212"/>
            <a:ext cx="4502910" cy="2861093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2A194DB-5523-73B2-1D3D-90CA823D4FAF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87DB3-4729-AED0-219F-3E96685D1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4240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3.1.5  filtering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57F90-DDC1-E029-3558-F5D787C8BBA4}"/>
              </a:ext>
            </a:extLst>
          </p:cNvPr>
          <p:cNvGrpSpPr/>
          <p:nvPr/>
        </p:nvGrpSpPr>
        <p:grpSpPr>
          <a:xfrm>
            <a:off x="4681268" y="3242520"/>
            <a:ext cx="869805" cy="289586"/>
            <a:chOff x="5881666" y="1590687"/>
            <a:chExt cx="869805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FDA43E2D-B00E-995B-CC43-5CDAFE3915BF}"/>
                </a:ext>
              </a:extLst>
            </p:cNvPr>
            <p:cNvSpPr/>
            <p:nvPr/>
          </p:nvSpPr>
          <p:spPr>
            <a:xfrm>
              <a:off x="6081095" y="1603274"/>
              <a:ext cx="67037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filtering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9CAC2E64-CBD2-24D7-8C41-65F079CF7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4" name="Arrow: Right 5">
            <a:extLst>
              <a:ext uri="{FF2B5EF4-FFF2-40B4-BE49-F238E27FC236}">
                <a16:creationId xmlns:a16="http://schemas.microsoft.com/office/drawing/2014/main" id="{9EEFC96B-C7AE-8A84-0245-366C9B29AB13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14" name="Explosion: 14 Points 13">
            <a:extLst>
              <a:ext uri="{FF2B5EF4-FFF2-40B4-BE49-F238E27FC236}">
                <a16:creationId xmlns:a16="http://schemas.microsoft.com/office/drawing/2014/main" id="{725F10DD-5534-2AE4-BB30-CC85D88C6188}"/>
              </a:ext>
            </a:extLst>
          </p:cNvPr>
          <p:cNvSpPr/>
          <p:nvPr/>
        </p:nvSpPr>
        <p:spPr>
          <a:xfrm>
            <a:off x="6198827" y="1506681"/>
            <a:ext cx="1863123" cy="1245156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 </a:t>
            </a:r>
          </a:p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research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164E36-1A17-B152-7466-853FA3EE3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44" y="3830602"/>
            <a:ext cx="5750944" cy="128210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B3379F1-FE77-BEA1-5B49-67AC297FD73A}"/>
              </a:ext>
            </a:extLst>
          </p:cNvPr>
          <p:cNvGrpSpPr/>
          <p:nvPr/>
        </p:nvGrpSpPr>
        <p:grpSpPr>
          <a:xfrm>
            <a:off x="4958268" y="5278996"/>
            <a:ext cx="1830004" cy="289586"/>
            <a:chOff x="5881666" y="1590687"/>
            <a:chExt cx="1830004" cy="289586"/>
          </a:xfrm>
        </p:grpSpPr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B6200A01-A3D1-BF78-826F-BD16C19B7F2A}"/>
                </a:ext>
              </a:extLst>
            </p:cNvPr>
            <p:cNvSpPr/>
            <p:nvPr/>
          </p:nvSpPr>
          <p:spPr>
            <a:xfrm>
              <a:off x="6081095" y="1603274"/>
              <a:ext cx="163057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6"/>
                </a:rPr>
                <a:t>vector-search-filtering/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3" name="Picture 12" descr="Icon&#10;&#10;Description automatically generated">
              <a:extLst>
                <a:ext uri="{FF2B5EF4-FFF2-40B4-BE49-F238E27FC236}">
                  <a16:creationId xmlns:a16="http://schemas.microsoft.com/office/drawing/2014/main" id="{5E95C1CB-BF7B-07BA-5426-4B6E41B28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079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B5EABC-3FBC-2DA7-C1AD-1CA8814D5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Database Operations">
            <a:extLst>
              <a:ext uri="{FF2B5EF4-FFF2-40B4-BE49-F238E27FC236}">
                <a16:creationId xmlns:a16="http://schemas.microsoft.com/office/drawing/2014/main" id="{5C10D36C-764C-B427-6F53-7FC16C236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417" y="287546"/>
            <a:ext cx="5297372" cy="4764657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C19F098-56BE-C977-9821-0AA730B8BF82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3F21C4-A60E-F56A-BCF2-657FB2465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22533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3.1.6  operations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721C482-1573-8F26-D74B-69954BBD8927}"/>
              </a:ext>
            </a:extLst>
          </p:cNvPr>
          <p:cNvGrpSpPr/>
          <p:nvPr/>
        </p:nvGrpSpPr>
        <p:grpSpPr>
          <a:xfrm>
            <a:off x="5365212" y="5113387"/>
            <a:ext cx="869805" cy="289586"/>
            <a:chOff x="5881666" y="1590687"/>
            <a:chExt cx="869805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5EE2FD48-57B7-025E-93F3-6868D8248185}"/>
                </a:ext>
              </a:extLst>
            </p:cNvPr>
            <p:cNvSpPr/>
            <p:nvPr/>
          </p:nvSpPr>
          <p:spPr>
            <a:xfrm>
              <a:off x="6081095" y="1603274"/>
              <a:ext cx="67037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filtering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ADF9A139-4B0F-4B68-DC21-DB1F8F013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4" name="Arrow: Right 5">
            <a:extLst>
              <a:ext uri="{FF2B5EF4-FFF2-40B4-BE49-F238E27FC236}">
                <a16:creationId xmlns:a16="http://schemas.microsoft.com/office/drawing/2014/main" id="{6A0586F6-7B96-9B0F-24CA-10825FB97A0B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1320051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5BD3CD-1A56-BA5F-5F26-AFAAC3918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9ED09A-6019-1BC1-F267-AED6B8B1A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11" y="289702"/>
            <a:ext cx="7827034" cy="2447837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CC4470-B37D-4E50-5B6F-08BA60611557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94D77-3464-47DA-4149-1D8E31268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245657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3.1.6.1  performance/fault tolerance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61D98A1-8BBB-BB23-4482-E2261ECB584E}"/>
              </a:ext>
            </a:extLst>
          </p:cNvPr>
          <p:cNvGrpSpPr/>
          <p:nvPr/>
        </p:nvGrpSpPr>
        <p:grpSpPr>
          <a:xfrm>
            <a:off x="6499942" y="2864767"/>
            <a:ext cx="2416703" cy="289586"/>
            <a:chOff x="5881666" y="1590687"/>
            <a:chExt cx="2416703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4894480D-B37F-7ECA-C0BB-6CCD3525E13D}"/>
                </a:ext>
              </a:extLst>
            </p:cNvPr>
            <p:cNvSpPr/>
            <p:nvPr/>
          </p:nvSpPr>
          <p:spPr>
            <a:xfrm>
              <a:off x="6081095" y="1603274"/>
              <a:ext cx="221727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performance and fault tolerance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4DD719CD-E5DD-4EC4-5BB6-298499185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4" name="Arrow: Right 5">
            <a:extLst>
              <a:ext uri="{FF2B5EF4-FFF2-40B4-BE49-F238E27FC236}">
                <a16:creationId xmlns:a16="http://schemas.microsoft.com/office/drawing/2014/main" id="{86BDCA73-8285-282F-3B3E-24C256C4B7CE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3575368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49CED-802A-A233-AF7A-29D7C95A5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3174C9-1353-FFB0-61F2-20064A2CB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90" y="242212"/>
            <a:ext cx="8919713" cy="2050574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7804916-52EB-3E71-44C8-2E8031A4FFFC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1F016-F389-084E-5656-5D85A0F14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364604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3.1.6.2  monitoring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3BE933-5CB3-8C06-A51D-25C7C1A41E4D}"/>
              </a:ext>
            </a:extLst>
          </p:cNvPr>
          <p:cNvGrpSpPr/>
          <p:nvPr/>
        </p:nvGrpSpPr>
        <p:grpSpPr>
          <a:xfrm>
            <a:off x="7730644" y="2882020"/>
            <a:ext cx="1078196" cy="289586"/>
            <a:chOff x="5881666" y="1590687"/>
            <a:chExt cx="1078196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1558E7CA-BEB7-EEF1-EC4F-9BD0C823DC6D}"/>
                </a:ext>
              </a:extLst>
            </p:cNvPr>
            <p:cNvSpPr/>
            <p:nvPr/>
          </p:nvSpPr>
          <p:spPr>
            <a:xfrm>
              <a:off x="6081095" y="1603274"/>
              <a:ext cx="87876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monitoring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644C2E01-55EB-106D-4966-D81713E31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4" name="Arrow: Right 5">
            <a:extLst>
              <a:ext uri="{FF2B5EF4-FFF2-40B4-BE49-F238E27FC236}">
                <a16:creationId xmlns:a16="http://schemas.microsoft.com/office/drawing/2014/main" id="{D13657EE-8796-E044-83C3-5F506B7F14EC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2756450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28996-4261-C3C2-348D-E13F72183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620BE7-C999-5EFA-CF6C-BF3DB499C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06" y="293012"/>
            <a:ext cx="3121585" cy="236157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199308-BFDB-D2E8-67FA-124BD0F5DFE2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051F94-3380-2FEA-D563-C2DBB7104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5065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 scaling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Arrow: Right 5">
            <a:extLst>
              <a:ext uri="{FF2B5EF4-FFF2-40B4-BE49-F238E27FC236}">
                <a16:creationId xmlns:a16="http://schemas.microsoft.com/office/drawing/2014/main" id="{154125A7-FDF1-63B9-BD09-8C5740C7CEF5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B5A08F-EF6C-3212-6DC9-CE6F21396376}"/>
              </a:ext>
            </a:extLst>
          </p:cNvPr>
          <p:cNvGrpSpPr/>
          <p:nvPr/>
        </p:nvGrpSpPr>
        <p:grpSpPr>
          <a:xfrm>
            <a:off x="2232942" y="2812527"/>
            <a:ext cx="1909649" cy="246221"/>
            <a:chOff x="5881666" y="1590687"/>
            <a:chExt cx="1909649" cy="246221"/>
          </a:xfrm>
        </p:grpSpPr>
        <p:sp>
          <p:nvSpPr>
            <p:cNvPr id="17" name="Retângulo 5">
              <a:extLst>
                <a:ext uri="{FF2B5EF4-FFF2-40B4-BE49-F238E27FC236}">
                  <a16:creationId xmlns:a16="http://schemas.microsoft.com/office/drawing/2014/main" id="{31DD1E2B-817B-898D-12A0-67FC77958BB9}"/>
                </a:ext>
              </a:extLst>
            </p:cNvPr>
            <p:cNvSpPr/>
            <p:nvPr/>
          </p:nvSpPr>
          <p:spPr>
            <a:xfrm>
              <a:off x="6067766" y="1590687"/>
              <a:ext cx="172354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Horizontal Vs. Vertical Scaling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Picture 17" descr="Icon&#10;&#10;Description automatically generated">
              <a:extLst>
                <a:ext uri="{FF2B5EF4-FFF2-40B4-BE49-F238E27FC236}">
                  <a16:creationId xmlns:a16="http://schemas.microsoft.com/office/drawing/2014/main" id="{39500253-4D2B-04F5-4937-65C3152CE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50457968-CAD5-992F-1479-9D10F6899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594" y="242213"/>
            <a:ext cx="3882204" cy="245498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9DA55A9-4103-68A0-4F3D-1E4D694FC0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1847" y="3221068"/>
            <a:ext cx="4068554" cy="334392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9982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0CBED0-3FCD-5A52-5358-009F98A0D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xplosion: 14 Points 2">
            <a:extLst>
              <a:ext uri="{FF2B5EF4-FFF2-40B4-BE49-F238E27FC236}">
                <a16:creationId xmlns:a16="http://schemas.microsoft.com/office/drawing/2014/main" id="{656B8935-3173-A071-4881-363F31DB8757}"/>
              </a:ext>
            </a:extLst>
          </p:cNvPr>
          <p:cNvSpPr/>
          <p:nvPr/>
        </p:nvSpPr>
        <p:spPr>
          <a:xfrm>
            <a:off x="352738" y="149092"/>
            <a:ext cx="2382720" cy="1245156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 more</a:t>
            </a:r>
          </a:p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dirty="0">
                <a:solidFill>
                  <a:srgbClr val="FF0000"/>
                </a:solidFill>
                <a:latin typeface="Calibri" panose="020F0502020204030204"/>
              </a:rPr>
              <a:t>research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DD912B-1975-BF6B-E992-03C162F8AEDA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1638A7-5BE2-C035-38E7-F44FF7AEA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45931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 vector embedding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Arrow: Right 5">
            <a:extLst>
              <a:ext uri="{FF2B5EF4-FFF2-40B4-BE49-F238E27FC236}">
                <a16:creationId xmlns:a16="http://schemas.microsoft.com/office/drawing/2014/main" id="{38230DF9-51A7-C5EA-9AA2-624609288B30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6496443-387B-3A3A-78F9-100F8F8723D3}"/>
              </a:ext>
            </a:extLst>
          </p:cNvPr>
          <p:cNvGrpSpPr/>
          <p:nvPr/>
        </p:nvGrpSpPr>
        <p:grpSpPr>
          <a:xfrm>
            <a:off x="639931" y="1432035"/>
            <a:ext cx="2233455" cy="246221"/>
            <a:chOff x="5881666" y="1590687"/>
            <a:chExt cx="2233455" cy="246221"/>
          </a:xfrm>
        </p:grpSpPr>
        <p:sp>
          <p:nvSpPr>
            <p:cNvPr id="17" name="Retângulo 5">
              <a:extLst>
                <a:ext uri="{FF2B5EF4-FFF2-40B4-BE49-F238E27FC236}">
                  <a16:creationId xmlns:a16="http://schemas.microsoft.com/office/drawing/2014/main" id="{24F98684-13FD-2BB4-675A-2E94A1058CCD}"/>
                </a:ext>
              </a:extLst>
            </p:cNvPr>
            <p:cNvSpPr/>
            <p:nvPr/>
          </p:nvSpPr>
          <p:spPr>
            <a:xfrm>
              <a:off x="6067766" y="1590687"/>
              <a:ext cx="204735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vector-embeddings-for-developers/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Picture 17" descr="Icon&#10;&#10;Description automatically generated">
              <a:extLst>
                <a:ext uri="{FF2B5EF4-FFF2-40B4-BE49-F238E27FC236}">
                  <a16:creationId xmlns:a16="http://schemas.microsoft.com/office/drawing/2014/main" id="{DE22FAC8-F01A-6C12-4BB7-3ADFA229A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3832B8B-02D7-BF31-EE8D-A9BCCAD292C8}"/>
              </a:ext>
            </a:extLst>
          </p:cNvPr>
          <p:cNvGrpSpPr/>
          <p:nvPr/>
        </p:nvGrpSpPr>
        <p:grpSpPr>
          <a:xfrm>
            <a:off x="8824457" y="2875255"/>
            <a:ext cx="633658" cy="246221"/>
            <a:chOff x="5881666" y="1590687"/>
            <a:chExt cx="633658" cy="246221"/>
          </a:xfrm>
        </p:grpSpPr>
        <p:sp>
          <p:nvSpPr>
            <p:cNvPr id="7" name="Retângulo 5">
              <a:extLst>
                <a:ext uri="{FF2B5EF4-FFF2-40B4-BE49-F238E27FC236}">
                  <a16:creationId xmlns:a16="http://schemas.microsoft.com/office/drawing/2014/main" id="{F408D26A-90F4-954B-79C3-7630709FB9F3}"/>
                </a:ext>
              </a:extLst>
            </p:cNvPr>
            <p:cNvSpPr/>
            <p:nvPr/>
          </p:nvSpPr>
          <p:spPr>
            <a:xfrm>
              <a:off x="6067766" y="1590687"/>
              <a:ext cx="44755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/>
                </a:rPr>
                <a:t>what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ABF4ADB3-8CF8-D574-3D87-F58882AAB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D7D386C-FA47-3CFE-F370-60B3CB1E5F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655" y="1929311"/>
            <a:ext cx="8902460" cy="78777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5516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61DB7-A8B1-C604-1BCE-90732C201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56CBD0D-F072-FFB0-2CF0-00357E91B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73" y="242212"/>
            <a:ext cx="6734355" cy="497501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5098458-BD05-B856-54B6-DE7A5528869A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72D4D-1093-CE9A-ECB0-A85753C37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46065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 embedding model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Arrow: Right 5">
            <a:extLst>
              <a:ext uri="{FF2B5EF4-FFF2-40B4-BE49-F238E27FC236}">
                <a16:creationId xmlns:a16="http://schemas.microsoft.com/office/drawing/2014/main" id="{F99245A6-7964-585D-88FF-1820A250BDB9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D0E7B07-BA46-A7F6-AF39-27FA5FE7F514}"/>
              </a:ext>
            </a:extLst>
          </p:cNvPr>
          <p:cNvGrpSpPr/>
          <p:nvPr/>
        </p:nvGrpSpPr>
        <p:grpSpPr>
          <a:xfrm>
            <a:off x="6265710" y="878928"/>
            <a:ext cx="1522227" cy="289586"/>
            <a:chOff x="5881666" y="1590687"/>
            <a:chExt cx="1522227" cy="289586"/>
          </a:xfrm>
        </p:grpSpPr>
        <p:sp>
          <p:nvSpPr>
            <p:cNvPr id="17" name="Retângulo 5">
              <a:extLst>
                <a:ext uri="{FF2B5EF4-FFF2-40B4-BE49-F238E27FC236}">
                  <a16:creationId xmlns:a16="http://schemas.microsoft.com/office/drawing/2014/main" id="{B57F6C07-0E1C-86CF-E86F-F9A5D1265AF2}"/>
                </a:ext>
              </a:extLst>
            </p:cNvPr>
            <p:cNvSpPr/>
            <p:nvPr/>
          </p:nvSpPr>
          <p:spPr>
            <a:xfrm>
              <a:off x="6081095" y="1603274"/>
              <a:ext cx="132279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embedding model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Picture 17" descr="Icon&#10;&#10;Description automatically generated">
              <a:extLst>
                <a:ext uri="{FF2B5EF4-FFF2-40B4-BE49-F238E27FC236}">
                  <a16:creationId xmlns:a16="http://schemas.microsoft.com/office/drawing/2014/main" id="{13346DBB-190C-8809-97C2-5A2D44370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E46AF25-72CB-81F0-B56C-34A3A3B58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73" y="1390785"/>
            <a:ext cx="6423804" cy="95621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53A0BC5-DE86-D8F6-AE22-353F410CC23B}"/>
              </a:ext>
            </a:extLst>
          </p:cNvPr>
          <p:cNvGrpSpPr/>
          <p:nvPr/>
        </p:nvGrpSpPr>
        <p:grpSpPr>
          <a:xfrm>
            <a:off x="5952284" y="2437064"/>
            <a:ext cx="629355" cy="289586"/>
            <a:chOff x="5881666" y="1590687"/>
            <a:chExt cx="629355" cy="289586"/>
          </a:xfrm>
        </p:grpSpPr>
        <p:sp>
          <p:nvSpPr>
            <p:cNvPr id="14" name="Retângulo 5">
              <a:extLst>
                <a:ext uri="{FF2B5EF4-FFF2-40B4-BE49-F238E27FC236}">
                  <a16:creationId xmlns:a16="http://schemas.microsoft.com/office/drawing/2014/main" id="{88B2B32A-A6A0-5F35-ECD3-A4BD48A2A2E4}"/>
                </a:ext>
              </a:extLst>
            </p:cNvPr>
            <p:cNvSpPr/>
            <p:nvPr/>
          </p:nvSpPr>
          <p:spPr>
            <a:xfrm>
              <a:off x="6081095" y="1603274"/>
              <a:ext cx="42992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6"/>
                </a:rPr>
                <a:t>aws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9" name="Picture 18" descr="Icon&#10;&#10;Description automatically generated">
              <a:extLst>
                <a:ext uri="{FF2B5EF4-FFF2-40B4-BE49-F238E27FC236}">
                  <a16:creationId xmlns:a16="http://schemas.microsoft.com/office/drawing/2014/main" id="{1D2FBDA3-752A-40DD-43D6-26975D461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AE756E79-40B4-4484-B515-9A1FC2C9E2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211" y="2884113"/>
            <a:ext cx="6096000" cy="143135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1EF4449-193B-72BA-CD46-E9DE9B9BFC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211" y="4629873"/>
            <a:ext cx="6473684" cy="109500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4" name="Seta para a Direita 19">
            <a:extLst>
              <a:ext uri="{FF2B5EF4-FFF2-40B4-BE49-F238E27FC236}">
                <a16:creationId xmlns:a16="http://schemas.microsoft.com/office/drawing/2014/main" id="{C51C0280-D7C4-7CCE-99E8-BB6FC38F40F3}"/>
              </a:ext>
            </a:extLst>
          </p:cNvPr>
          <p:cNvSpPr/>
          <p:nvPr/>
        </p:nvSpPr>
        <p:spPr>
          <a:xfrm flipH="1">
            <a:off x="6649953" y="2522089"/>
            <a:ext cx="2160949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ED7D31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research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this page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F36F4D-8481-B861-41C3-B2FC4BAFD515}"/>
              </a:ext>
            </a:extLst>
          </p:cNvPr>
          <p:cNvGrpSpPr/>
          <p:nvPr/>
        </p:nvGrpSpPr>
        <p:grpSpPr>
          <a:xfrm>
            <a:off x="7787937" y="3591600"/>
            <a:ext cx="2870353" cy="289586"/>
            <a:chOff x="5881666" y="1590687"/>
            <a:chExt cx="2870353" cy="289586"/>
          </a:xfrm>
        </p:grpSpPr>
        <p:sp>
          <p:nvSpPr>
            <p:cNvPr id="26" name="Retângulo 5">
              <a:extLst>
                <a:ext uri="{FF2B5EF4-FFF2-40B4-BE49-F238E27FC236}">
                  <a16:creationId xmlns:a16="http://schemas.microsoft.com/office/drawing/2014/main" id="{5D66DF13-1605-77E0-2BE6-749C0F6D5634}"/>
                </a:ext>
              </a:extLst>
            </p:cNvPr>
            <p:cNvSpPr/>
            <p:nvPr/>
          </p:nvSpPr>
          <p:spPr>
            <a:xfrm>
              <a:off x="6081095" y="1603274"/>
              <a:ext cx="267092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9"/>
                </a:rPr>
                <a:t>tensorflow.org/text/tutorials/word2vec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7" name="Picture 26" descr="Icon&#10;&#10;Description automatically generated">
              <a:extLst>
                <a:ext uri="{FF2B5EF4-FFF2-40B4-BE49-F238E27FC236}">
                  <a16:creationId xmlns:a16="http://schemas.microsoft.com/office/drawing/2014/main" id="{67CD2002-D1AE-7D37-BED6-B0A8E1AC9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28" name="Arrow: Right 5">
            <a:extLst>
              <a:ext uri="{FF2B5EF4-FFF2-40B4-BE49-F238E27FC236}">
                <a16:creationId xmlns:a16="http://schemas.microsoft.com/office/drawing/2014/main" id="{40299D39-6A98-8111-C120-A074B0B1FC49}"/>
              </a:ext>
            </a:extLst>
          </p:cNvPr>
          <p:cNvSpPr/>
          <p:nvPr/>
        </p:nvSpPr>
        <p:spPr>
          <a:xfrm>
            <a:off x="6851084" y="3604187"/>
            <a:ext cx="88338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267407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F42FB8-1EAF-9B7E-6421-BF346B9C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582FA1F-DB9E-9889-6A47-85FA27934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11" y="242212"/>
            <a:ext cx="7326701" cy="890287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BC6EFB-98CC-741B-B10C-8EA3FEF2494B}"/>
              </a:ext>
            </a:extLst>
          </p:cNvPr>
          <p:cNvSpPr/>
          <p:nvPr/>
        </p:nvSpPr>
        <p:spPr>
          <a:xfrm>
            <a:off x="72021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72252-5B74-B1A9-42F9-16581C188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9158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7. vector index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C84F8A-A1E4-5228-B989-7040866B312D}"/>
              </a:ext>
            </a:extLst>
          </p:cNvPr>
          <p:cNvGrpSpPr/>
          <p:nvPr/>
        </p:nvGrpSpPr>
        <p:grpSpPr>
          <a:xfrm>
            <a:off x="3728677" y="1271714"/>
            <a:ext cx="4734645" cy="289586"/>
            <a:chOff x="5881666" y="1590687"/>
            <a:chExt cx="4734645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60F0FDA2-C5FD-CEC0-6A88-8966C5FDD12A}"/>
                </a:ext>
              </a:extLst>
            </p:cNvPr>
            <p:cNvSpPr/>
            <p:nvPr/>
          </p:nvSpPr>
          <p:spPr>
            <a:xfrm>
              <a:off x="6081095" y="1603274"/>
              <a:ext cx="453521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What’s the difference between a vector index and a vector database?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F8ED31E3-E30C-686D-5B78-B674AFDEC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4" name="Arrow: Right 5">
            <a:extLst>
              <a:ext uri="{FF2B5EF4-FFF2-40B4-BE49-F238E27FC236}">
                <a16:creationId xmlns:a16="http://schemas.microsoft.com/office/drawing/2014/main" id="{1ABF37D3-ED08-6E68-2693-D0E85B5BD2D1}"/>
              </a:ext>
            </a:extLst>
          </p:cNvPr>
          <p:cNvSpPr/>
          <p:nvPr/>
        </p:nvSpPr>
        <p:spPr>
          <a:xfrm>
            <a:off x="186100" y="24221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18CFEC-403F-E821-49DD-9E76AEC33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83" y="2289304"/>
            <a:ext cx="9178506" cy="1139695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5" name="Explosion: 14 Points 14">
            <a:extLst>
              <a:ext uri="{FF2B5EF4-FFF2-40B4-BE49-F238E27FC236}">
                <a16:creationId xmlns:a16="http://schemas.microsoft.com/office/drawing/2014/main" id="{17EB2B0C-6A8B-90BD-D9C9-8037D130E332}"/>
              </a:ext>
            </a:extLst>
          </p:cNvPr>
          <p:cNvSpPr/>
          <p:nvPr/>
        </p:nvSpPr>
        <p:spPr>
          <a:xfrm>
            <a:off x="3928106" y="3500565"/>
            <a:ext cx="2687055" cy="1867733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read source </a:t>
            </a:r>
          </a:p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more </a:t>
            </a:r>
          </a:p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differences</a:t>
            </a:r>
          </a:p>
        </p:txBody>
      </p:sp>
    </p:spTree>
    <p:extLst>
      <p:ext uri="{BB962C8B-B14F-4D97-AF65-F5344CB8AC3E}">
        <p14:creationId xmlns:p14="http://schemas.microsoft.com/office/powerpoint/2010/main" val="1075872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4889" y="6009451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61442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69205</TotalTime>
  <Words>256</Words>
  <Application>Microsoft Office PowerPoint</Application>
  <PresentationFormat>Widescreen</PresentationFormat>
  <Paragraphs>114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lexicon</vt:lpstr>
      <vt:lpstr>1.1 index</vt:lpstr>
      <vt:lpstr>2. vector database</vt:lpstr>
      <vt:lpstr>2.1 how</vt:lpstr>
      <vt:lpstr>3. serverless</vt:lpstr>
      <vt:lpstr>3.1 pinecone</vt:lpstr>
      <vt:lpstr>3.1.1 partitions</vt:lpstr>
      <vt:lpstr>3.1.1 freshness</vt:lpstr>
      <vt:lpstr>3.1.2 multitenancy</vt:lpstr>
      <vt:lpstr>3.1.3  algorithms</vt:lpstr>
      <vt:lpstr>3.1.4  similarity measures</vt:lpstr>
      <vt:lpstr>3.1.5  filtering</vt:lpstr>
      <vt:lpstr>3.1.6  operations</vt:lpstr>
      <vt:lpstr>3.1.6.1  performance/fault tolerance</vt:lpstr>
      <vt:lpstr>3.1.6.2  monitoring</vt:lpstr>
      <vt:lpstr>4. scaling</vt:lpstr>
      <vt:lpstr>5. vector embedding</vt:lpstr>
      <vt:lpstr>6. embedding model</vt:lpstr>
      <vt:lpstr>7. vector index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1147</cp:revision>
  <dcterms:created xsi:type="dcterms:W3CDTF">2019-03-25T09:18:39Z</dcterms:created>
  <dcterms:modified xsi:type="dcterms:W3CDTF">2024-03-14T18:19:50Z</dcterms:modified>
</cp:coreProperties>
</file>