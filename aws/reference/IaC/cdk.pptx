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59" r:id="rId3"/>
    <p:sldId id="382" r:id="rId4"/>
    <p:sldId id="380" r:id="rId5"/>
    <p:sldId id="385" r:id="rId6"/>
    <p:sldId id="388" r:id="rId7"/>
    <p:sldId id="392" r:id="rId8"/>
    <p:sldId id="386" r:id="rId9"/>
    <p:sldId id="390" r:id="rId10"/>
    <p:sldId id="387" r:id="rId11"/>
    <p:sldId id="391" r:id="rId12"/>
    <p:sldId id="384" r:id="rId13"/>
    <p:sldId id="379" r:id="rId14"/>
    <p:sldId id="381" r:id="rId15"/>
    <p:sldId id="383" r:id="rId16"/>
    <p:sldId id="394" r:id="rId17"/>
    <p:sldId id="393" r:id="rId18"/>
    <p:sldId id="389" r:id="rId19"/>
    <p:sldId id="395" r:id="rId20"/>
    <p:sldId id="396" r:id="rId21"/>
    <p:sldId id="397" r:id="rId22"/>
    <p:sldId id="398" r:id="rId23"/>
    <p:sldId id="399" r:id="rId24"/>
    <p:sldId id="377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01/04/2024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01/04/2024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IaC.pptx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cdk/v2/guide/home.html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IAM/latest/UserGuide/security-creds.html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hyperlink" Target="https://docs.aws.amazon.com/IAM/latest/UserGuide/getting-set-up.html" TargetMode="External"/><Relationship Id="rId12" Type="http://schemas.openxmlformats.org/officeDocument/2006/relationships/hyperlink" Target="https://docs.aws.amazon.com/cdk/v2/guide/getting_started.html#getting_started_install" TargetMode="External"/><Relationship Id="rId17" Type="http://schemas.openxmlformats.org/officeDocument/2006/relationships/image" Target="../media/image10.png"/><Relationship Id="rId2" Type="http://schemas.openxmlformats.org/officeDocument/2006/relationships/image" Target="../media/image4.png"/><Relationship Id="rId16" Type="http://schemas.openxmlformats.org/officeDocument/2006/relationships/hyperlink" Target="../../../cdk_opensearch/.commands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hyperlink" Target="https://docs.aws.amazon.com/cdk/v2/guide/getting_started.html#getting_started_auth" TargetMode="External"/><Relationship Id="rId5" Type="http://schemas.openxmlformats.org/officeDocument/2006/relationships/image" Target="../media/image6.png"/><Relationship Id="rId15" Type="http://schemas.openxmlformats.org/officeDocument/2006/relationships/hyperlink" Target="file:///C:\Windows\explorer.exe%20F:\ides\AZ_vStudio2017" TargetMode="External"/><Relationship Id="rId10" Type="http://schemas.openxmlformats.org/officeDocument/2006/relationships/hyperlink" Target="../aws/cli.pptx" TargetMode="External"/><Relationship Id="rId4" Type="http://schemas.openxmlformats.org/officeDocument/2006/relationships/hyperlink" Target="https://docs.aws.amazon.com/cdk/v2/guide/getting_started.html#getting_started_account" TargetMode="External"/><Relationship Id="rId9" Type="http://schemas.openxmlformats.org/officeDocument/2006/relationships/image" Target="../media/image8.png"/><Relationship Id="rId14" Type="http://schemas.openxmlformats.org/officeDocument/2006/relationships/hyperlink" Target="https://docs.aws.amazon.com/cdk/v2/guide/getting_started.html#getting_started_bootstra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toolkit-for-vscode/latest/userguide/aws-cdk-apps.html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dk/v2/guide/work-with-cdk-python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2yeaxazqu9ejn.cloudfront.net/2022/06/24/aws-cdk-and-python-step-by-step-tutorial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aws.amazon.com/cdk/api/v2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dk/v2/guide/serverless_example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hyperlink" Target="https://www.google.com/search?q=boto3+vs+aws-cdk-lib&amp;oq=boto3+vs+aws-cdk-lib&amp;gs_lcrp=EgZjaHJvbWUyBggAEEUYOTIKCAEQABiABBiiBDIKCAIQABiiBBiJBdIBCDMwMzlqMGoxqAIAsAIA&amp;sourceid=chrome&amp;ie=UTF-8" TargetMode="External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hyperlink" Target="https://docs.aws.amazon.com/cdk/api/v2/python/modules.html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dk/api/v2/docs/aws-cdk-lib.aws_s3.Bucket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vops.dev/create-an-s3-bucket-with-aws-cdk-e012b43c3511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miro.com/app/board/uXjVKdH9WZE=/" TargetMode="External"/><Relationship Id="rId2" Type="http://schemas.openxmlformats.org/officeDocument/2006/relationships/hyperlink" Target="https://community.aws/content/2bi5tqITxIperTzMsD3ohYbPIA4/easy-rag-with-amazon-bedrock-knowledge-base?lang=en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ws-samples/generative-ai-demo-using-amazon-sagemaker-jumpstart-kr/tree/main/blogs/rag-chatbot-using-bedrock-claude-and-kendra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rNWqJXmOSKo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dk/v2/guide/ecs_example.html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30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33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32.svg"/><Relationship Id="rId14" Type="http://schemas.openxmlformats.org/officeDocument/2006/relationships/slide" Target="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4854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c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dk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34FA45-B157-1EDC-1366-C9C87EFB93D9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6CBDB20E-D4F4-A041-AA00-0C74AE46A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E8C8776D-4E87-611C-D719-EDF588305BAE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AF84D7-8CC4-C6DA-2FBE-8531F8A8F837}"/>
              </a:ext>
            </a:extLst>
          </p:cNvPr>
          <p:cNvGrpSpPr/>
          <p:nvPr/>
        </p:nvGrpSpPr>
        <p:grpSpPr>
          <a:xfrm>
            <a:off x="10525307" y="511477"/>
            <a:ext cx="874404" cy="283293"/>
            <a:chOff x="5611636" y="5954426"/>
            <a:chExt cx="874405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E44528E2-6CEC-F557-306D-F575A7C8D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0C1A0B8-1DBD-36D3-8B7C-95188FEFD79C}"/>
                </a:ext>
              </a:extLst>
            </p:cNvPr>
            <p:cNvSpPr/>
            <p:nvPr/>
          </p:nvSpPr>
          <p:spPr>
            <a:xfrm>
              <a:off x="6107411" y="5954426"/>
              <a:ext cx="37863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IaC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8DCCE-E79F-741E-FFB8-B042A487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A5B2F7-6C6B-37EF-8123-2040B55B0993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F6588-6C03-74D2-A92A-074B87737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6767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42728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CB81F2-543C-65EE-3038-7ECB3704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0B264F-3745-85D7-FD77-6C53D6FFB422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FA856-2416-79D1-7A8E-1F123C1A9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4854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what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555563-05A9-C5B5-654C-8350512A7E97}"/>
              </a:ext>
            </a:extLst>
          </p:cNvPr>
          <p:cNvGrpSpPr/>
          <p:nvPr/>
        </p:nvGrpSpPr>
        <p:grpSpPr>
          <a:xfrm>
            <a:off x="2310943" y="837403"/>
            <a:ext cx="1123080" cy="289586"/>
            <a:chOff x="5881666" y="1590687"/>
            <a:chExt cx="1123080" cy="289586"/>
          </a:xfrm>
        </p:grpSpPr>
        <p:sp>
          <p:nvSpPr>
            <p:cNvPr id="4" name="Retângulo 5">
              <a:extLst>
                <a:ext uri="{FF2B5EF4-FFF2-40B4-BE49-F238E27FC236}">
                  <a16:creationId xmlns:a16="http://schemas.microsoft.com/office/drawing/2014/main" id="{144AE412-8780-5B5F-BFB1-E5645BD17949}"/>
                </a:ext>
              </a:extLst>
            </p:cNvPr>
            <p:cNvSpPr/>
            <p:nvPr/>
          </p:nvSpPr>
          <p:spPr>
            <a:xfrm>
              <a:off x="6081095" y="1603274"/>
              <a:ext cx="92365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what is CDK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696124FF-E23D-BE39-D437-DCB77C388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038A4D-3EA0-D5BC-4B91-986C2FEFE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599" y="1402080"/>
            <a:ext cx="3838575" cy="285661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D8519C50-E7F3-FF98-80B7-376A63B28385}"/>
              </a:ext>
            </a:extLst>
          </p:cNvPr>
          <p:cNvSpPr/>
          <p:nvPr/>
        </p:nvSpPr>
        <p:spPr>
          <a:xfrm>
            <a:off x="482508" y="179433"/>
            <a:ext cx="2913224" cy="626701"/>
          </a:xfrm>
          <a:prstGeom prst="wedgeRectCallout">
            <a:avLst>
              <a:gd name="adj1" fmla="val -55564"/>
              <a:gd name="adj2" fmla="val -3267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lvl="0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is an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open-source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software development framework 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CEF11FE-19E9-292B-E591-9B893B3C0E9D}"/>
              </a:ext>
            </a:extLst>
          </p:cNvPr>
          <p:cNvSpPr/>
          <p:nvPr/>
        </p:nvSpPr>
        <p:spPr>
          <a:xfrm>
            <a:off x="3464468" y="170829"/>
            <a:ext cx="2029970" cy="811367"/>
          </a:xfrm>
          <a:prstGeom prst="wedgeRectCallout">
            <a:avLst>
              <a:gd name="adj1" fmla="val -55321"/>
              <a:gd name="adj2" fmla="val -3056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for defining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cloud infrastructure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in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code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C7901F8-7B02-0694-F056-25D435E6A66F}"/>
              </a:ext>
            </a:extLst>
          </p:cNvPr>
          <p:cNvSpPr/>
          <p:nvPr/>
        </p:nvSpPr>
        <p:spPr>
          <a:xfrm>
            <a:off x="5563174" y="179433"/>
            <a:ext cx="1629219" cy="626701"/>
          </a:xfrm>
          <a:prstGeom prst="wedgeRectCallout">
            <a:avLst>
              <a:gd name="adj1" fmla="val -58042"/>
              <a:gd name="adj2" fmla="val -3230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provisioning it 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through </a:t>
            </a:r>
          </a:p>
          <a:p>
            <a:pPr marL="228592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AWS CloudFormation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4217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F1B12-3E8A-9CBF-C1E3-F50B3822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180286BD-1DBE-2276-FD6B-819883F76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7" y="3956960"/>
            <a:ext cx="3671436" cy="30004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3A063F3-CF73-4B3F-6FF9-0B62D1F0F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52" y="1440491"/>
            <a:ext cx="3448532" cy="30484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0AC34D-5327-FD01-4F4A-DD81F70A0B43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1DC23-BD4E-FD02-CFEC-F36A1D294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95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install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0E3254C-FFD9-B88E-4F5E-6F610B112D6D}"/>
              </a:ext>
            </a:extLst>
          </p:cNvPr>
          <p:cNvGrpSpPr/>
          <p:nvPr/>
        </p:nvGrpSpPr>
        <p:grpSpPr>
          <a:xfrm>
            <a:off x="1515730" y="573529"/>
            <a:ext cx="639833" cy="246221"/>
            <a:chOff x="5881666" y="1557576"/>
            <a:chExt cx="639833" cy="246221"/>
          </a:xfrm>
        </p:grpSpPr>
        <p:sp>
          <p:nvSpPr>
            <p:cNvPr id="51" name="Retângulo 5">
              <a:extLst>
                <a:ext uri="{FF2B5EF4-FFF2-40B4-BE49-F238E27FC236}">
                  <a16:creationId xmlns:a16="http://schemas.microsoft.com/office/drawing/2014/main" id="{84746944-9265-2B43-B762-0BECD62D34D9}"/>
                </a:ext>
              </a:extLst>
            </p:cNvPr>
            <p:cNvSpPr/>
            <p:nvPr/>
          </p:nvSpPr>
          <p:spPr>
            <a:xfrm>
              <a:off x="6017835" y="1557576"/>
              <a:ext cx="5036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step 1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2" name="Picture 51" descr="Icon&#10;&#10;Description automatically generated">
              <a:extLst>
                <a:ext uri="{FF2B5EF4-FFF2-40B4-BE49-F238E27FC236}">
                  <a16:creationId xmlns:a16="http://schemas.microsoft.com/office/drawing/2014/main" id="{4D36A0DC-B8AE-7918-0C65-4D24B0DE2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83F58F9-0AD4-A14B-2472-6A90AFFD4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27" y="206094"/>
            <a:ext cx="2955423" cy="2829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838626B2-865C-39D6-35E4-233EAC902AA6}"/>
              </a:ext>
            </a:extLst>
          </p:cNvPr>
          <p:cNvSpPr/>
          <p:nvPr/>
        </p:nvSpPr>
        <p:spPr>
          <a:xfrm>
            <a:off x="265591" y="176006"/>
            <a:ext cx="389729" cy="343089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BE830B-DA8A-277E-34BA-071F6AE2BED4}"/>
              </a:ext>
            </a:extLst>
          </p:cNvPr>
          <p:cNvGrpSpPr/>
          <p:nvPr/>
        </p:nvGrpSpPr>
        <p:grpSpPr>
          <a:xfrm>
            <a:off x="1515730" y="793765"/>
            <a:ext cx="2289323" cy="246221"/>
            <a:chOff x="5881666" y="1557576"/>
            <a:chExt cx="2289323" cy="246221"/>
          </a:xfrm>
        </p:grpSpPr>
        <p:sp>
          <p:nvSpPr>
            <p:cNvPr id="18" name="Retângulo 5">
              <a:extLst>
                <a:ext uri="{FF2B5EF4-FFF2-40B4-BE49-F238E27FC236}">
                  <a16:creationId xmlns:a16="http://schemas.microsoft.com/office/drawing/2014/main" id="{A1DD5BC7-710C-FFCC-2304-AF010C95CED8}"/>
                </a:ext>
              </a:extLst>
            </p:cNvPr>
            <p:cNvSpPr/>
            <p:nvPr/>
          </p:nvSpPr>
          <p:spPr>
            <a:xfrm>
              <a:off x="6017835" y="1557576"/>
              <a:ext cx="215315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/>
                </a:rPr>
                <a:t>IAM/latest/User Guide/getting-set-up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Picture 18" descr="Icon&#10;&#10;Description automatically generated">
              <a:extLst>
                <a:ext uri="{FF2B5EF4-FFF2-40B4-BE49-F238E27FC236}">
                  <a16:creationId xmlns:a16="http://schemas.microsoft.com/office/drawing/2014/main" id="{47E769BB-602B-ED7F-B178-51E73CAE4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F2C1A2-A935-B7D8-2F36-7FA9F14266C8}"/>
              </a:ext>
            </a:extLst>
          </p:cNvPr>
          <p:cNvGrpSpPr/>
          <p:nvPr/>
        </p:nvGrpSpPr>
        <p:grpSpPr>
          <a:xfrm>
            <a:off x="1515730" y="1041665"/>
            <a:ext cx="2289323" cy="246221"/>
            <a:chOff x="5881666" y="1557576"/>
            <a:chExt cx="2289323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D6799B34-FEB5-BF2A-D041-09ACF9777BF7}"/>
                </a:ext>
              </a:extLst>
            </p:cNvPr>
            <p:cNvSpPr/>
            <p:nvPr/>
          </p:nvSpPr>
          <p:spPr>
            <a:xfrm>
              <a:off x="6017835" y="1557576"/>
              <a:ext cx="215315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8"/>
                </a:rPr>
                <a:t>IAM/latest/User Guide/security-creds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05B222CA-8A2D-8D35-64C4-435F70417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28689B-6009-C15E-0D2B-5DBAC0738090}"/>
              </a:ext>
            </a:extLst>
          </p:cNvPr>
          <p:cNvGrpSpPr/>
          <p:nvPr/>
        </p:nvGrpSpPr>
        <p:grpSpPr>
          <a:xfrm>
            <a:off x="4357046" y="1459213"/>
            <a:ext cx="1245381" cy="286297"/>
            <a:chOff x="2738297" y="4386269"/>
            <a:chExt cx="1245381" cy="28629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20041FD-455D-2252-2DCF-406E87D03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25" name="Retângulo 5">
              <a:extLst>
                <a:ext uri="{FF2B5EF4-FFF2-40B4-BE49-F238E27FC236}">
                  <a16:creationId xmlns:a16="http://schemas.microsoft.com/office/drawing/2014/main" id="{BF748D18-A6EA-AD38-D257-F6A1EF4B7848}"/>
                </a:ext>
              </a:extLst>
            </p:cNvPr>
            <p:cNvSpPr/>
            <p:nvPr/>
          </p:nvSpPr>
          <p:spPr>
            <a:xfrm>
              <a:off x="2928581" y="4395567"/>
              <a:ext cx="10550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10" action="ppaction://hlinkpres?slideindex=1&amp;slidetitle="/>
                </a:rPr>
                <a:t>..\aws\cli.pptx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72139413-DC0F-13C9-6A8E-7A23382AC593}"/>
              </a:ext>
            </a:extLst>
          </p:cNvPr>
          <p:cNvSpPr/>
          <p:nvPr/>
        </p:nvSpPr>
        <p:spPr>
          <a:xfrm>
            <a:off x="225784" y="1382856"/>
            <a:ext cx="389729" cy="343089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400" kern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Calibri Light" panose="020F0302020204030204"/>
              </a:rPr>
              <a:t>2</a:t>
            </a:r>
            <a:endParaRPr kumimoji="0" lang="pt-PT" sz="1400" b="0" i="0" u="none" strike="noStrike" kern="0" cap="none" spc="0" normalizeH="0" baseline="0" noProof="0" dirty="0">
              <a:ln w="0"/>
              <a:solidFill>
                <a:prstClr val="white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3E4B36-3E04-0FE2-C483-82DCE772DCEF}"/>
              </a:ext>
            </a:extLst>
          </p:cNvPr>
          <p:cNvGrpSpPr/>
          <p:nvPr/>
        </p:nvGrpSpPr>
        <p:grpSpPr>
          <a:xfrm>
            <a:off x="3553597" y="1818626"/>
            <a:ext cx="639833" cy="246221"/>
            <a:chOff x="5881666" y="1557576"/>
            <a:chExt cx="639833" cy="246221"/>
          </a:xfrm>
        </p:grpSpPr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97ED5B2A-A15A-0544-5E08-043E5DD00668}"/>
                </a:ext>
              </a:extLst>
            </p:cNvPr>
            <p:cNvSpPr/>
            <p:nvPr/>
          </p:nvSpPr>
          <p:spPr>
            <a:xfrm>
              <a:off x="6017835" y="1557576"/>
              <a:ext cx="5036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1"/>
                </a:rPr>
                <a:t>step 2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0" name="Picture 29" descr="Icon&#10;&#10;Description automatically generated">
              <a:extLst>
                <a:ext uri="{FF2B5EF4-FFF2-40B4-BE49-F238E27FC236}">
                  <a16:creationId xmlns:a16="http://schemas.microsoft.com/office/drawing/2014/main" id="{608BF9BE-49EF-9427-38EB-D9B1E3F80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E3641D2E-CEEA-7F3F-781E-41FB43AC7BA9}"/>
              </a:ext>
            </a:extLst>
          </p:cNvPr>
          <p:cNvSpPr/>
          <p:nvPr/>
        </p:nvSpPr>
        <p:spPr>
          <a:xfrm>
            <a:off x="239365" y="2679428"/>
            <a:ext cx="389729" cy="343089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3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DF95772-06FC-8F3B-2797-5E2BDF61D90C}"/>
              </a:ext>
            </a:extLst>
          </p:cNvPr>
          <p:cNvGrpSpPr/>
          <p:nvPr/>
        </p:nvGrpSpPr>
        <p:grpSpPr>
          <a:xfrm>
            <a:off x="3330633" y="3115513"/>
            <a:ext cx="639833" cy="246221"/>
            <a:chOff x="5881666" y="1557576"/>
            <a:chExt cx="639833" cy="246221"/>
          </a:xfrm>
        </p:grpSpPr>
        <p:sp>
          <p:nvSpPr>
            <p:cNvPr id="36" name="Retângulo 5">
              <a:extLst>
                <a:ext uri="{FF2B5EF4-FFF2-40B4-BE49-F238E27FC236}">
                  <a16:creationId xmlns:a16="http://schemas.microsoft.com/office/drawing/2014/main" id="{0F501DE3-B571-8B1A-70C6-E0E910FEE776}"/>
                </a:ext>
              </a:extLst>
            </p:cNvPr>
            <p:cNvSpPr/>
            <p:nvPr/>
          </p:nvSpPr>
          <p:spPr>
            <a:xfrm>
              <a:off x="6017835" y="1557576"/>
              <a:ext cx="5036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2"/>
                </a:rPr>
                <a:t>step 3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7" name="Picture 36" descr="Icon&#10;&#10;Description automatically generated">
              <a:extLst>
                <a:ext uri="{FF2B5EF4-FFF2-40B4-BE49-F238E27FC236}">
                  <a16:creationId xmlns:a16="http://schemas.microsoft.com/office/drawing/2014/main" id="{A08C73CB-2927-F9FE-F198-0402DE752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B8CDB669-1750-1178-8EFD-FE0883FFAA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552" y="2705624"/>
            <a:ext cx="3173580" cy="25731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7FEAB9F8-0541-27FA-21F4-5A49059C3167}"/>
              </a:ext>
            </a:extLst>
          </p:cNvPr>
          <p:cNvSpPr/>
          <p:nvPr/>
        </p:nvSpPr>
        <p:spPr>
          <a:xfrm>
            <a:off x="1515730" y="1944076"/>
            <a:ext cx="1408005" cy="442035"/>
          </a:xfrm>
          <a:prstGeom prst="wedgeRectCallout">
            <a:avLst>
              <a:gd name="adj1" fmla="val -40586"/>
              <a:gd name="adj2" fmla="val -8392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use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access key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41" name="Speech Bubble: Rectangle 40">
            <a:extLst>
              <a:ext uri="{FF2B5EF4-FFF2-40B4-BE49-F238E27FC236}">
                <a16:creationId xmlns:a16="http://schemas.microsoft.com/office/drawing/2014/main" id="{B483EBD4-FA70-A7C1-3C2E-89B0EEC2DB80}"/>
              </a:ext>
            </a:extLst>
          </p:cNvPr>
          <p:cNvSpPr/>
          <p:nvPr/>
        </p:nvSpPr>
        <p:spPr>
          <a:xfrm>
            <a:off x="905577" y="3144311"/>
            <a:ext cx="2111723" cy="626701"/>
          </a:xfrm>
          <a:prstGeom prst="wedgeRectCallout">
            <a:avLst>
              <a:gd name="adj1" fmla="val -49132"/>
              <a:gd name="adj2" fmla="val -75703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npm install -g aws-cdk</a:t>
            </a: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cdk –version</a:t>
            </a: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npm uninstall -g aws-cdk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D12D282-E9C0-F3C6-4472-CFA6223057A7}"/>
              </a:ext>
            </a:extLst>
          </p:cNvPr>
          <p:cNvGrpSpPr/>
          <p:nvPr/>
        </p:nvGrpSpPr>
        <p:grpSpPr>
          <a:xfrm>
            <a:off x="3825739" y="4369110"/>
            <a:ext cx="639833" cy="246221"/>
            <a:chOff x="5881666" y="1557576"/>
            <a:chExt cx="639833" cy="246221"/>
          </a:xfrm>
        </p:grpSpPr>
        <p:sp>
          <p:nvSpPr>
            <p:cNvPr id="43" name="Retângulo 5">
              <a:extLst>
                <a:ext uri="{FF2B5EF4-FFF2-40B4-BE49-F238E27FC236}">
                  <a16:creationId xmlns:a16="http://schemas.microsoft.com/office/drawing/2014/main" id="{EA5A3ECD-23B3-1C17-CEAF-DEB1F671051D}"/>
                </a:ext>
              </a:extLst>
            </p:cNvPr>
            <p:cNvSpPr/>
            <p:nvPr/>
          </p:nvSpPr>
          <p:spPr>
            <a:xfrm>
              <a:off x="6017835" y="1557576"/>
              <a:ext cx="50366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14"/>
                </a:rPr>
                <a:t>step 4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Picture 43" descr="Icon&#10;&#10;Description automatically generated">
              <a:extLst>
                <a:ext uri="{FF2B5EF4-FFF2-40B4-BE49-F238E27FC236}">
                  <a16:creationId xmlns:a16="http://schemas.microsoft.com/office/drawing/2014/main" id="{911DBAB4-D524-C5BD-55BA-66A4768E1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180000" cy="180000"/>
            </a:xfrm>
            <a:prstGeom prst="rect">
              <a:avLst/>
            </a:prstGeom>
          </p:spPr>
        </p:pic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6D448894-91EA-4733-3020-37481AD46FD2}"/>
              </a:ext>
            </a:extLst>
          </p:cNvPr>
          <p:cNvSpPr/>
          <p:nvPr/>
        </p:nvSpPr>
        <p:spPr>
          <a:xfrm>
            <a:off x="289086" y="3923232"/>
            <a:ext cx="389729" cy="343089"/>
          </a:xfrm>
          <a:prstGeom prst="ellipse">
            <a:avLst/>
          </a:pr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8" name="Speech Bubble: Rectangle 47">
            <a:extLst>
              <a:ext uri="{FF2B5EF4-FFF2-40B4-BE49-F238E27FC236}">
                <a16:creationId xmlns:a16="http://schemas.microsoft.com/office/drawing/2014/main" id="{8C647169-2AC8-F6C5-B401-081C564ED100}"/>
              </a:ext>
            </a:extLst>
          </p:cNvPr>
          <p:cNvSpPr/>
          <p:nvPr/>
        </p:nvSpPr>
        <p:spPr>
          <a:xfrm>
            <a:off x="629094" y="4629454"/>
            <a:ext cx="6337239" cy="1180699"/>
          </a:xfrm>
          <a:prstGeom prst="wedgeRectCallout">
            <a:avLst>
              <a:gd name="adj1" fmla="val -32525"/>
              <a:gd name="adj2" fmla="val -7278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AWS </a:t>
            </a:r>
            <a:r>
              <a:rPr lang="en-US" sz="1200" kern="0" dirty="0" err="1">
                <a:solidFill>
                  <a:prstClr val="white"/>
                </a:solidFill>
                <a:latin typeface="Consolas" panose="020B0609020204030204" pitchFamily="49" charset="0"/>
              </a:rPr>
              <a:t>sts</a:t>
            </a: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 get-caller-identity</a:t>
            </a: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	Account: 	'211125414460’</a:t>
            </a: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	</a:t>
            </a:r>
            <a:r>
              <a:rPr lang="en-US" sz="1200" kern="0" dirty="0" err="1">
                <a:solidFill>
                  <a:prstClr val="white"/>
                </a:solidFill>
                <a:latin typeface="Consolas" panose="020B0609020204030204" pitchFamily="49" charset="0"/>
              </a:rPr>
              <a:t>Arn</a:t>
            </a: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: 	</a:t>
            </a:r>
            <a:r>
              <a:rPr lang="en-US" sz="1200" kern="0" dirty="0" err="1">
                <a:solidFill>
                  <a:prstClr val="white"/>
                </a:solidFill>
                <a:latin typeface="Consolas" panose="020B0609020204030204" pitchFamily="49" charset="0"/>
              </a:rPr>
              <a:t>arn:aws:iam</a:t>
            </a: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::211125414460:user/efigueiredo@cegid.com</a:t>
            </a: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	</a:t>
            </a:r>
            <a:r>
              <a:rPr lang="en-US" sz="1200" kern="0" dirty="0" err="1">
                <a:solidFill>
                  <a:prstClr val="white"/>
                </a:solidFill>
                <a:latin typeface="Consolas" panose="020B0609020204030204" pitchFamily="49" charset="0"/>
              </a:rPr>
              <a:t>UserId</a:t>
            </a: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: 	AIDATCKAOFI6IOEYBWYK7</a:t>
            </a:r>
          </a:p>
          <a:p>
            <a:pPr lvl="0" defTabSz="914369">
              <a:defRPr/>
            </a:pPr>
            <a:endParaRPr lang="en-US" sz="1200" kern="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CDK bootstrap aws://211125414460/us-west-2</a:t>
            </a:r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EC67B77C-2F83-4168-DA8C-811AB3CC870F}"/>
              </a:ext>
            </a:extLst>
          </p:cNvPr>
          <p:cNvSpPr/>
          <p:nvPr/>
        </p:nvSpPr>
        <p:spPr>
          <a:xfrm>
            <a:off x="7284157" y="165587"/>
            <a:ext cx="365576" cy="5907410"/>
          </a:xfrm>
          <a:prstGeom prst="rightBrace">
            <a:avLst>
              <a:gd name="adj1" fmla="val 8333"/>
              <a:gd name="adj2" fmla="val 49903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6E29AC-1217-39D2-9BDC-EB1A0BD6C537}"/>
              </a:ext>
            </a:extLst>
          </p:cNvPr>
          <p:cNvGrpSpPr/>
          <p:nvPr/>
        </p:nvGrpSpPr>
        <p:grpSpPr>
          <a:xfrm>
            <a:off x="7691082" y="2938961"/>
            <a:ext cx="2508323" cy="299662"/>
            <a:chOff x="1643297" y="4045816"/>
            <a:chExt cx="2508323" cy="299662"/>
          </a:xfrm>
        </p:grpSpPr>
        <p:sp>
          <p:nvSpPr>
            <p:cNvPr id="62" name="CaixaDeTexto 17">
              <a:hlinkClick r:id="rId15" action="ppaction://program"/>
              <a:extLst>
                <a:ext uri="{FF2B5EF4-FFF2-40B4-BE49-F238E27FC236}">
                  <a16:creationId xmlns:a16="http://schemas.microsoft.com/office/drawing/2014/main" id="{41A4A7A2-F8E1-5804-6532-3EAF042C5BC7}"/>
                </a:ext>
              </a:extLst>
            </p:cNvPr>
            <p:cNvSpPr txBox="1"/>
            <p:nvPr/>
          </p:nvSpPr>
          <p:spPr>
            <a:xfrm>
              <a:off x="1980063" y="4103314"/>
              <a:ext cx="2171557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en-US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16" action="ppaction://hlinkfile"/>
                </a:rPr>
                <a:t>..\..\..\cdk open search\.commands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63" name="Imagem 18">
              <a:hlinkClick r:id="rId15" action="ppaction://program"/>
              <a:extLst>
                <a:ext uri="{FF2B5EF4-FFF2-40B4-BE49-F238E27FC236}">
                  <a16:creationId xmlns:a16="http://schemas.microsoft.com/office/drawing/2014/main" id="{F05B5AA1-E110-F09B-307A-5A964AEE8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347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24F67-9D1D-C196-D5FA-592CC95F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2BA5C1-30BB-C188-3000-F0A154C58F3C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F3368-5638-169C-DF16-52D61B0CA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5715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vsCode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6212E57-AEF4-CD84-9530-73170BEE1F9A}"/>
              </a:ext>
            </a:extLst>
          </p:cNvPr>
          <p:cNvGrpSpPr/>
          <p:nvPr/>
        </p:nvGrpSpPr>
        <p:grpSpPr>
          <a:xfrm>
            <a:off x="6628691" y="1350867"/>
            <a:ext cx="1166360" cy="289586"/>
            <a:chOff x="5881666" y="1590687"/>
            <a:chExt cx="1166360" cy="289586"/>
          </a:xfrm>
        </p:grpSpPr>
        <p:sp>
          <p:nvSpPr>
            <p:cNvPr id="27" name="Retângulo 5">
              <a:extLst>
                <a:ext uri="{FF2B5EF4-FFF2-40B4-BE49-F238E27FC236}">
                  <a16:creationId xmlns:a16="http://schemas.microsoft.com/office/drawing/2014/main" id="{934FC0AA-8B92-7576-F4B2-D86249C76A56}"/>
                </a:ext>
              </a:extLst>
            </p:cNvPr>
            <p:cNvSpPr/>
            <p:nvPr/>
          </p:nvSpPr>
          <p:spPr>
            <a:xfrm>
              <a:off x="6081095" y="1603274"/>
              <a:ext cx="96693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vsCode AWS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B417C9FA-2CEB-EFC1-610D-4969A2D95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DAF5CC5-68B1-D1A6-DE56-9648A602B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191" y="268474"/>
            <a:ext cx="6616635" cy="93187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7" name="Arrow: Right 5">
            <a:extLst>
              <a:ext uri="{FF2B5EF4-FFF2-40B4-BE49-F238E27FC236}">
                <a16:creationId xmlns:a16="http://schemas.microsoft.com/office/drawing/2014/main" id="{E0DA04E0-01B0-A99A-3E21-37A651C481F9}"/>
              </a:ext>
            </a:extLst>
          </p:cNvPr>
          <p:cNvSpPr/>
          <p:nvPr/>
        </p:nvSpPr>
        <p:spPr>
          <a:xfrm>
            <a:off x="288282" y="268474"/>
            <a:ext cx="844909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plugin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2F916B-0A89-5423-1863-09B8ABD13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49" y="1813459"/>
            <a:ext cx="3646566" cy="309655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Retângulo 20">
            <a:extLst>
              <a:ext uri="{FF2B5EF4-FFF2-40B4-BE49-F238E27FC236}">
                <a16:creationId xmlns:a16="http://schemas.microsoft.com/office/drawing/2014/main" id="{1789F8B3-5872-E160-000D-8DB104B9A660}"/>
              </a:ext>
            </a:extLst>
          </p:cNvPr>
          <p:cNvSpPr/>
          <p:nvPr/>
        </p:nvSpPr>
        <p:spPr>
          <a:xfrm>
            <a:off x="1021256" y="4062688"/>
            <a:ext cx="353219" cy="31953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45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0E65D-6E7F-21C7-8954-9582C769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F5442-D5B7-DE3C-0CEA-8D7D14B7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33" y="268474"/>
            <a:ext cx="3419952" cy="301984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20FBAF-5D4C-30BA-86BA-F6F22621FA3D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5A5DF-69A0-AC79-AE98-9F357747E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5311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python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A2592AE-FB47-483B-B419-0EEE99621B73}"/>
              </a:ext>
            </a:extLst>
          </p:cNvPr>
          <p:cNvGrpSpPr/>
          <p:nvPr/>
        </p:nvGrpSpPr>
        <p:grpSpPr>
          <a:xfrm>
            <a:off x="2850322" y="3361734"/>
            <a:ext cx="1775501" cy="289586"/>
            <a:chOff x="5881666" y="1590687"/>
            <a:chExt cx="1775501" cy="289586"/>
          </a:xfrm>
        </p:grpSpPr>
        <p:sp>
          <p:nvSpPr>
            <p:cNvPr id="27" name="Retângulo 5">
              <a:extLst>
                <a:ext uri="{FF2B5EF4-FFF2-40B4-BE49-F238E27FC236}">
                  <a16:creationId xmlns:a16="http://schemas.microsoft.com/office/drawing/2014/main" id="{1D9E8623-1B05-2A74-BBBF-DC54F29DD952}"/>
                </a:ext>
              </a:extLst>
            </p:cNvPr>
            <p:cNvSpPr/>
            <p:nvPr/>
          </p:nvSpPr>
          <p:spPr>
            <a:xfrm>
              <a:off x="6081095" y="1603274"/>
              <a:ext cx="157607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work-with-cdk-python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59B4E6F-5A64-31FA-216F-9E3E6D855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2C2508F2-BD86-21C6-ED49-5EEB917DD3EB}"/>
              </a:ext>
            </a:extLst>
          </p:cNvPr>
          <p:cNvSpPr/>
          <p:nvPr/>
        </p:nvSpPr>
        <p:spPr>
          <a:xfrm>
            <a:off x="288282" y="268474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9E47549-22EB-1B6F-9A73-502852106495}"/>
              </a:ext>
            </a:extLst>
          </p:cNvPr>
          <p:cNvGrpSpPr/>
          <p:nvPr/>
        </p:nvGrpSpPr>
        <p:grpSpPr>
          <a:xfrm>
            <a:off x="288282" y="3827116"/>
            <a:ext cx="1323455" cy="289586"/>
            <a:chOff x="5881666" y="1590687"/>
            <a:chExt cx="1323455" cy="289586"/>
          </a:xfrm>
        </p:grpSpPr>
        <p:sp>
          <p:nvSpPr>
            <p:cNvPr id="54" name="Retângulo 5">
              <a:extLst>
                <a:ext uri="{FF2B5EF4-FFF2-40B4-BE49-F238E27FC236}">
                  <a16:creationId xmlns:a16="http://schemas.microsoft.com/office/drawing/2014/main" id="{549FA1FE-BB16-54E6-84D7-2C9ACFAD46DF}"/>
                </a:ext>
              </a:extLst>
            </p:cNvPr>
            <p:cNvSpPr/>
            <p:nvPr/>
          </p:nvSpPr>
          <p:spPr>
            <a:xfrm>
              <a:off x="6081095" y="1603274"/>
              <a:ext cx="112402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python tutorial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5" name="Picture 54" descr="Icon&#10;&#10;Description automatically generated">
              <a:extLst>
                <a:ext uri="{FF2B5EF4-FFF2-40B4-BE49-F238E27FC236}">
                  <a16:creationId xmlns:a16="http://schemas.microsoft.com/office/drawing/2014/main" id="{A5FA6341-350D-B871-F4A9-63D5CBF5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74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0F5C1-F23C-BE6C-12EE-62C43154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F64619A-CC5C-8CDE-CAA5-857A45C9D2E2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3D509-44CC-49A2-D069-19FB5AD96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2442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reference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10F5562-302C-469E-CE11-B785C05117B8}"/>
              </a:ext>
            </a:extLst>
          </p:cNvPr>
          <p:cNvGrpSpPr/>
          <p:nvPr/>
        </p:nvGrpSpPr>
        <p:grpSpPr>
          <a:xfrm>
            <a:off x="2546703" y="2544794"/>
            <a:ext cx="1525433" cy="289586"/>
            <a:chOff x="5881666" y="1590687"/>
            <a:chExt cx="1525433" cy="289586"/>
          </a:xfrm>
        </p:grpSpPr>
        <p:sp>
          <p:nvSpPr>
            <p:cNvPr id="36" name="Retângulo 5">
              <a:extLst>
                <a:ext uri="{FF2B5EF4-FFF2-40B4-BE49-F238E27FC236}">
                  <a16:creationId xmlns:a16="http://schemas.microsoft.com/office/drawing/2014/main" id="{E6EC9F6F-E14F-51B2-813A-FC553FC1CA25}"/>
                </a:ext>
              </a:extLst>
            </p:cNvPr>
            <p:cNvSpPr/>
            <p:nvPr/>
          </p:nvSpPr>
          <p:spPr>
            <a:xfrm>
              <a:off x="6081095" y="1603274"/>
              <a:ext cx="132600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CDK API reference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7" name="Picture 36" descr="Icon&#10;&#10;Description automatically generated">
              <a:extLst>
                <a:ext uri="{FF2B5EF4-FFF2-40B4-BE49-F238E27FC236}">
                  <a16:creationId xmlns:a16="http://schemas.microsoft.com/office/drawing/2014/main" id="{EE7BBB0E-1621-A6D3-1834-E20C8BB45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534A006-8D70-D47C-83B0-90DE824431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02" y="236068"/>
            <a:ext cx="2829097" cy="215800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Arrow: Right 5">
            <a:extLst>
              <a:ext uri="{FF2B5EF4-FFF2-40B4-BE49-F238E27FC236}">
                <a16:creationId xmlns:a16="http://schemas.microsoft.com/office/drawing/2014/main" id="{0EDFD986-E6E0-7767-FC3B-F76039BD07D7}"/>
              </a:ext>
            </a:extLst>
          </p:cNvPr>
          <p:cNvSpPr/>
          <p:nvPr/>
        </p:nvSpPr>
        <p:spPr>
          <a:xfrm>
            <a:off x="265591" y="236068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384649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6198C-D4DC-562A-B1C3-50E7F964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24101F-F311-1651-B43B-66D8BBE34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82" y="225971"/>
            <a:ext cx="2122182" cy="196539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751403-8E38-9B06-9A86-05573957434A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8FAC4-D00A-BAC5-961F-327AB80A9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9052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examples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1324B1A-529C-BD34-606B-D287F836B383}"/>
              </a:ext>
            </a:extLst>
          </p:cNvPr>
          <p:cNvGrpSpPr/>
          <p:nvPr/>
        </p:nvGrpSpPr>
        <p:grpSpPr>
          <a:xfrm>
            <a:off x="2323713" y="2325545"/>
            <a:ext cx="978810" cy="289586"/>
            <a:chOff x="5881666" y="1590687"/>
            <a:chExt cx="978810" cy="289586"/>
          </a:xfrm>
        </p:grpSpPr>
        <p:sp>
          <p:nvSpPr>
            <p:cNvPr id="33" name="Retângulo 5">
              <a:extLst>
                <a:ext uri="{FF2B5EF4-FFF2-40B4-BE49-F238E27FC236}">
                  <a16:creationId xmlns:a16="http://schemas.microsoft.com/office/drawing/2014/main" id="{37870E76-8B7A-F7A7-51DA-D2F5B018ED43}"/>
                </a:ext>
              </a:extLst>
            </p:cNvPr>
            <p:cNvSpPr/>
            <p:nvPr/>
          </p:nvSpPr>
          <p:spPr>
            <a:xfrm>
              <a:off x="6081095" y="1603274"/>
              <a:ext cx="77938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examples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5AAAC9E4-6DA7-1E93-6050-0B6CF69F6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3" name="Arrow: Right 5">
            <a:extLst>
              <a:ext uri="{FF2B5EF4-FFF2-40B4-BE49-F238E27FC236}">
                <a16:creationId xmlns:a16="http://schemas.microsoft.com/office/drawing/2014/main" id="{0F502F7D-6AD4-DA38-7E26-BBF01C33A0A2}"/>
              </a:ext>
            </a:extLst>
          </p:cNvPr>
          <p:cNvSpPr/>
          <p:nvPr/>
        </p:nvSpPr>
        <p:spPr>
          <a:xfrm>
            <a:off x="280959" y="22597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420624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034B1-A246-4129-E7FC-FD216DC2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203F6A8-04C6-829D-7647-F4D8BBA7F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49" y="225971"/>
            <a:ext cx="2111375" cy="349575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5AF78A-51CE-F1E9-5D40-A59A28D52893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4B806-CFE2-4673-43D7-A99836F8E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5311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4.2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python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772A67-D16E-71AF-1222-AD9959A8D500}"/>
              </a:ext>
            </a:extLst>
          </p:cNvPr>
          <p:cNvGrpSpPr/>
          <p:nvPr/>
        </p:nvGrpSpPr>
        <p:grpSpPr>
          <a:xfrm>
            <a:off x="1347310" y="5908767"/>
            <a:ext cx="1174376" cy="289586"/>
            <a:chOff x="5881666" y="1590687"/>
            <a:chExt cx="1174376" cy="289586"/>
          </a:xfrm>
        </p:grpSpPr>
        <p:sp>
          <p:nvSpPr>
            <p:cNvPr id="45" name="Retângulo 5">
              <a:extLst>
                <a:ext uri="{FF2B5EF4-FFF2-40B4-BE49-F238E27FC236}">
                  <a16:creationId xmlns:a16="http://schemas.microsoft.com/office/drawing/2014/main" id="{F2F179EA-FFB8-B05B-0676-E53D1A47B58D}"/>
                </a:ext>
              </a:extLst>
            </p:cNvPr>
            <p:cNvSpPr/>
            <p:nvPr/>
          </p:nvSpPr>
          <p:spPr>
            <a:xfrm>
              <a:off x="6081095" y="1603274"/>
              <a:ext cx="9749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boto3 vs cdk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46" name="Picture 45" descr="Icon&#10;&#10;Description automatically generated">
              <a:extLst>
                <a:ext uri="{FF2B5EF4-FFF2-40B4-BE49-F238E27FC236}">
                  <a16:creationId xmlns:a16="http://schemas.microsoft.com/office/drawing/2014/main" id="{C92C6BE4-315C-1532-73D2-30AA40537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1B2C9B-4A5A-03A4-3321-4816C3EC346B}"/>
              </a:ext>
            </a:extLst>
          </p:cNvPr>
          <p:cNvGrpSpPr/>
          <p:nvPr/>
        </p:nvGrpSpPr>
        <p:grpSpPr>
          <a:xfrm>
            <a:off x="1670927" y="3829090"/>
            <a:ext cx="1616805" cy="289586"/>
            <a:chOff x="5881666" y="1590687"/>
            <a:chExt cx="1616805" cy="289586"/>
          </a:xfrm>
        </p:grpSpPr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60191FB2-88F0-4516-EADF-34A6E848404B}"/>
                </a:ext>
              </a:extLst>
            </p:cNvPr>
            <p:cNvSpPr/>
            <p:nvPr/>
          </p:nvSpPr>
          <p:spPr>
            <a:xfrm>
              <a:off x="6081095" y="1603274"/>
              <a:ext cx="141737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cdk/api/v2/python/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3420C39B-4E54-E57C-CD09-028BA759E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3" name="Arrow: Right 5">
            <a:extLst>
              <a:ext uri="{FF2B5EF4-FFF2-40B4-BE49-F238E27FC236}">
                <a16:creationId xmlns:a16="http://schemas.microsoft.com/office/drawing/2014/main" id="{77FFA676-E35D-70B0-56F6-AEC8EED49F24}"/>
              </a:ext>
            </a:extLst>
          </p:cNvPr>
          <p:cNvSpPr/>
          <p:nvPr/>
        </p:nvSpPr>
        <p:spPr>
          <a:xfrm>
            <a:off x="284823" y="22597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59B308-4F5D-7177-0E1A-85739C7E8F6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b="6268"/>
          <a:stretch/>
        </p:blipFill>
        <p:spPr>
          <a:xfrm>
            <a:off x="3781468" y="268875"/>
            <a:ext cx="2170288" cy="7560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6" name="Arrow: Right 5">
            <a:extLst>
              <a:ext uri="{FF2B5EF4-FFF2-40B4-BE49-F238E27FC236}">
                <a16:creationId xmlns:a16="http://schemas.microsoft.com/office/drawing/2014/main" id="{8CC95532-56DC-4B5A-A7DA-4B8D932D9A93}"/>
              </a:ext>
            </a:extLst>
          </p:cNvPr>
          <p:cNvSpPr/>
          <p:nvPr/>
        </p:nvSpPr>
        <p:spPr>
          <a:xfrm>
            <a:off x="2898086" y="484863"/>
            <a:ext cx="88338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search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999E90C-EE37-1B95-FA75-F7378BF216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2009" y="313994"/>
            <a:ext cx="1930956" cy="182535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8F39DD-488F-7664-36D0-9A18E2B55D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2356" y="335899"/>
            <a:ext cx="2785541" cy="109012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6D440A-CD9B-7544-038E-D5066AD197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1946" y="1842827"/>
            <a:ext cx="2696937" cy="330904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839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54F20-CC8A-C6D2-A1CA-776BE1F0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8B4763-A93C-FA15-6992-B45913D2E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34" y="225971"/>
            <a:ext cx="3287995" cy="196539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052782-F288-D44D-9534-D783762C53AE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0CCC5-C9BD-4CD1-2599-6A87BF365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2785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bucket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2748B5D-E923-96FE-6B3C-DE8AAB5B7CCB}"/>
              </a:ext>
            </a:extLst>
          </p:cNvPr>
          <p:cNvGrpSpPr/>
          <p:nvPr/>
        </p:nvGrpSpPr>
        <p:grpSpPr>
          <a:xfrm>
            <a:off x="2589690" y="2319315"/>
            <a:ext cx="1783517" cy="289586"/>
            <a:chOff x="5881666" y="1590687"/>
            <a:chExt cx="1783517" cy="289586"/>
          </a:xfrm>
        </p:grpSpPr>
        <p:sp>
          <p:nvSpPr>
            <p:cNvPr id="33" name="Retângulo 5">
              <a:extLst>
                <a:ext uri="{FF2B5EF4-FFF2-40B4-BE49-F238E27FC236}">
                  <a16:creationId xmlns:a16="http://schemas.microsoft.com/office/drawing/2014/main" id="{1B864168-D4DE-4ED0-A629-474B9EBE65AB}"/>
                </a:ext>
              </a:extLst>
            </p:cNvPr>
            <p:cNvSpPr/>
            <p:nvPr/>
          </p:nvSpPr>
          <p:spPr>
            <a:xfrm>
              <a:off x="6081095" y="1603274"/>
              <a:ext cx="158408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CDK reference: bucket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Picture 33" descr="Icon&#10;&#10;Description automatically generated">
              <a:extLst>
                <a:ext uri="{FF2B5EF4-FFF2-40B4-BE49-F238E27FC236}">
                  <a16:creationId xmlns:a16="http://schemas.microsoft.com/office/drawing/2014/main" id="{3B47F978-BA53-513F-B092-E11A3CF7A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3" name="Arrow: Right 5">
            <a:extLst>
              <a:ext uri="{FF2B5EF4-FFF2-40B4-BE49-F238E27FC236}">
                <a16:creationId xmlns:a16="http://schemas.microsoft.com/office/drawing/2014/main" id="{188A68A4-C6A4-5B95-6CAF-7B1D069BC843}"/>
              </a:ext>
            </a:extLst>
          </p:cNvPr>
          <p:cNvSpPr/>
          <p:nvPr/>
        </p:nvSpPr>
        <p:spPr>
          <a:xfrm>
            <a:off x="280959" y="22597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14673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463A3-8EBB-42B3-4E0B-06686AD70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7099-B7E0-F8A1-074D-30BE8E555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4854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run</a:t>
            </a:r>
          </a:p>
        </p:txBody>
      </p:sp>
    </p:spTree>
    <p:extLst>
      <p:ext uri="{BB962C8B-B14F-4D97-AF65-F5344CB8AC3E}">
        <p14:creationId xmlns:p14="http://schemas.microsoft.com/office/powerpoint/2010/main" val="966926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B266F-E834-52E4-0267-7A8ED71A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FCB85E-DDC8-9FA2-0152-46C78AC3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276424"/>
            <a:ext cx="11856720" cy="61614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321A62-E4F0-A8D5-6D38-E0C9DE44F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3190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5.1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 IAM statement</a:t>
            </a:r>
          </a:p>
        </p:txBody>
      </p:sp>
    </p:spTree>
    <p:extLst>
      <p:ext uri="{BB962C8B-B14F-4D97-AF65-F5344CB8AC3E}">
        <p14:creationId xmlns:p14="http://schemas.microsoft.com/office/powerpoint/2010/main" val="1264169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1BB57-6440-8DA6-1EED-2D82A4E8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AAD0-474A-92FD-DBA7-42293A9BB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8576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5.2 policy changes 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7E176-7A17-1C69-EBCF-D07D16291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52" y="178851"/>
            <a:ext cx="9875520" cy="27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2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FB477-0CFD-52B2-EC6E-B4EB91CB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E2A6-15F8-178A-3081-D62C43FAB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4843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tutorials</a:t>
            </a:r>
          </a:p>
        </p:txBody>
      </p:sp>
    </p:spTree>
    <p:extLst>
      <p:ext uri="{BB962C8B-B14F-4D97-AF65-F5344CB8AC3E}">
        <p14:creationId xmlns:p14="http://schemas.microsoft.com/office/powerpoint/2010/main" val="449461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CE420-ABE0-6E9E-B287-34F3F5DA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7B85BB-EBBA-7E07-0859-640938CEBFFD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9AC07-10A5-2729-7833-70D5B3220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9159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bucket (phyton)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0C3E67-3780-CE13-C6DD-3864B23BF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05" y="295699"/>
            <a:ext cx="5000626" cy="28146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640F090-56A4-151E-4A7B-5DD1B57D2A12}"/>
              </a:ext>
            </a:extLst>
          </p:cNvPr>
          <p:cNvGrpSpPr/>
          <p:nvPr/>
        </p:nvGrpSpPr>
        <p:grpSpPr>
          <a:xfrm>
            <a:off x="5116550" y="3216941"/>
            <a:ext cx="845760" cy="289586"/>
            <a:chOff x="5881666" y="1590687"/>
            <a:chExt cx="845760" cy="289586"/>
          </a:xfrm>
        </p:grpSpPr>
        <p:sp>
          <p:nvSpPr>
            <p:cNvPr id="4" name="Retângulo 5">
              <a:extLst>
                <a:ext uri="{FF2B5EF4-FFF2-40B4-BE49-F238E27FC236}">
                  <a16:creationId xmlns:a16="http://schemas.microsoft.com/office/drawing/2014/main" id="{FDD483C3-6B24-38AD-9779-BC41ED733414}"/>
                </a:ext>
              </a:extLst>
            </p:cNvPr>
            <p:cNvSpPr/>
            <p:nvPr/>
          </p:nvSpPr>
          <p:spPr>
            <a:xfrm>
              <a:off x="6081095" y="1603274"/>
              <a:ext cx="64633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tutorial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B4DA2617-6D38-212F-3848-92797DA93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4A851FAF-C886-B5E0-281A-FBED7698D1D5}"/>
              </a:ext>
            </a:extLst>
          </p:cNvPr>
          <p:cNvSpPr/>
          <p:nvPr/>
        </p:nvSpPr>
        <p:spPr>
          <a:xfrm>
            <a:off x="308994" y="295699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425980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2BFC89-789E-7324-2FF0-89D57F3C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A9D9FA-B71A-7C8D-7DC5-653CA2EAF413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AEE3F-570C-FD34-F68F-9C9976897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3840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6.2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open search (TS)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1F3A0A-484B-712A-0D09-FEC603D6B917}"/>
              </a:ext>
            </a:extLst>
          </p:cNvPr>
          <p:cNvGrpSpPr/>
          <p:nvPr/>
        </p:nvGrpSpPr>
        <p:grpSpPr>
          <a:xfrm>
            <a:off x="265591" y="156709"/>
            <a:ext cx="3384083" cy="289586"/>
            <a:chOff x="5881666" y="1590687"/>
            <a:chExt cx="3384083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AF6DD8C2-610C-BF5F-61AC-4CB4CD64BC9C}"/>
                </a:ext>
              </a:extLst>
            </p:cNvPr>
            <p:cNvSpPr/>
            <p:nvPr/>
          </p:nvSpPr>
          <p:spPr>
            <a:xfrm>
              <a:off x="6081095" y="1603274"/>
              <a:ext cx="31846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easy-rag-with-amazon-bedrock-knowledge-base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8B42CB1D-4FB8-E2C4-9C4B-47F452D56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E5E18B7-BD7C-F83C-9989-0C4F56BCB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" y="657387"/>
            <a:ext cx="5715000" cy="11559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6ED5FC-DF31-7748-F7E4-EC1B262EF9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713" r="21953" b="30338"/>
          <a:stretch/>
        </p:blipFill>
        <p:spPr>
          <a:xfrm>
            <a:off x="726440" y="3059430"/>
            <a:ext cx="4500000" cy="11520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96D7AC-5669-292B-575E-01C68A447A7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2" t="-4" r="21842" b="44778"/>
          <a:stretch/>
        </p:blipFill>
        <p:spPr>
          <a:xfrm>
            <a:off x="726440" y="4566139"/>
            <a:ext cx="3852000" cy="9720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E591BF2-FD85-BDF1-3C51-33191752344D}"/>
              </a:ext>
            </a:extLst>
          </p:cNvPr>
          <p:cNvGrpSpPr/>
          <p:nvPr/>
        </p:nvGrpSpPr>
        <p:grpSpPr>
          <a:xfrm>
            <a:off x="267660" y="2558433"/>
            <a:ext cx="956367" cy="289586"/>
            <a:chOff x="5881666" y="1590687"/>
            <a:chExt cx="956367" cy="289586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0E4E58DA-6532-7556-0B17-9C487D991F0D}"/>
                </a:ext>
              </a:extLst>
            </p:cNvPr>
            <p:cNvSpPr/>
            <p:nvPr/>
          </p:nvSpPr>
          <p:spPr>
            <a:xfrm>
              <a:off x="6081095" y="1603274"/>
              <a:ext cx="75693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/>
                </a:rPr>
                <a:t>diagrams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08792C4D-1073-A1D7-8286-4B80DC8A1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2394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BB94D-2100-A2D0-564D-BA8B3A72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C0CE730-1B55-F258-9ED7-718FE860E5EA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A59E8-57F3-6B06-4664-8EAE9BD7F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0376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6.3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kendra (TS)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EEB4493-A124-36E3-9804-880AFEC42030}"/>
              </a:ext>
            </a:extLst>
          </p:cNvPr>
          <p:cNvGrpSpPr/>
          <p:nvPr/>
        </p:nvGrpSpPr>
        <p:grpSpPr>
          <a:xfrm>
            <a:off x="265591" y="145797"/>
            <a:ext cx="818509" cy="289586"/>
            <a:chOff x="5881666" y="1590687"/>
            <a:chExt cx="818509" cy="289586"/>
          </a:xfrm>
        </p:grpSpPr>
        <p:sp>
          <p:nvSpPr>
            <p:cNvPr id="63" name="Retângulo 5">
              <a:extLst>
                <a:ext uri="{FF2B5EF4-FFF2-40B4-BE49-F238E27FC236}">
                  <a16:creationId xmlns:a16="http://schemas.microsoft.com/office/drawing/2014/main" id="{37E32ECE-C871-BE88-18DD-295800A07AF9}"/>
                </a:ext>
              </a:extLst>
            </p:cNvPr>
            <p:cNvSpPr/>
            <p:nvPr/>
          </p:nvSpPr>
          <p:spPr>
            <a:xfrm>
              <a:off x="6081095" y="1603274"/>
              <a:ext cx="6190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kendra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4" name="Picture 63" descr="Icon&#10;&#10;Description automatically generated">
              <a:extLst>
                <a:ext uri="{FF2B5EF4-FFF2-40B4-BE49-F238E27FC236}">
                  <a16:creationId xmlns:a16="http://schemas.microsoft.com/office/drawing/2014/main" id="{58E5AB8F-6CA4-7CA2-27FE-455FF1E85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4910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DF232-A665-E04C-CE77-D14D0564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22D81D-E4D8-CE18-BCEB-A38607EFB9CA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D5FBC1-A2A1-343B-282B-72D2ECD7B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302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6.4 docker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733D27C-11D6-F70A-22A5-888352F5A152}"/>
              </a:ext>
            </a:extLst>
          </p:cNvPr>
          <p:cNvGrpSpPr/>
          <p:nvPr/>
        </p:nvGrpSpPr>
        <p:grpSpPr>
          <a:xfrm>
            <a:off x="7504591" y="4529837"/>
            <a:ext cx="1174376" cy="289586"/>
            <a:chOff x="5881666" y="1590687"/>
            <a:chExt cx="1174376" cy="289586"/>
          </a:xfrm>
        </p:grpSpPr>
        <p:sp>
          <p:nvSpPr>
            <p:cNvPr id="63" name="Retângulo 5">
              <a:extLst>
                <a:ext uri="{FF2B5EF4-FFF2-40B4-BE49-F238E27FC236}">
                  <a16:creationId xmlns:a16="http://schemas.microsoft.com/office/drawing/2014/main" id="{9A261FE1-9140-0207-6665-0F1E5E5FBCA4}"/>
                </a:ext>
              </a:extLst>
            </p:cNvPr>
            <p:cNvSpPr/>
            <p:nvPr/>
          </p:nvSpPr>
          <p:spPr>
            <a:xfrm>
              <a:off x="6081095" y="1603274"/>
              <a:ext cx="9749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fargate + ecr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4" name="Picture 63" descr="Icon&#10;&#10;Description automatically generated">
              <a:extLst>
                <a:ext uri="{FF2B5EF4-FFF2-40B4-BE49-F238E27FC236}">
                  <a16:creationId xmlns:a16="http://schemas.microsoft.com/office/drawing/2014/main" id="{D5F22765-978C-AA04-6C06-357686DF2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7DCE7B9-B4AF-43A5-310B-E5461D9DC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60" y="223520"/>
            <a:ext cx="7563799" cy="4136127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sp>
        <p:nvSpPr>
          <p:cNvPr id="7" name="Arrow: Right 5">
            <a:extLst>
              <a:ext uri="{FF2B5EF4-FFF2-40B4-BE49-F238E27FC236}">
                <a16:creationId xmlns:a16="http://schemas.microsoft.com/office/drawing/2014/main" id="{8CA32B81-ACBC-B3D4-81CE-333F7094A30C}"/>
              </a:ext>
            </a:extLst>
          </p:cNvPr>
          <p:cNvSpPr/>
          <p:nvPr/>
        </p:nvSpPr>
        <p:spPr>
          <a:xfrm>
            <a:off x="312030" y="27269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51807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9F039-E02A-8589-D157-A599B6D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2BF9EB-4901-4B55-347D-59B84E260277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32562-05FD-E471-FBD9-FC711664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7886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6.4.1 ecs fargate task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DB2A01AD-2BBC-328A-0780-079F4B9DAFEC}"/>
              </a:ext>
            </a:extLst>
          </p:cNvPr>
          <p:cNvSpPr/>
          <p:nvPr/>
        </p:nvSpPr>
        <p:spPr>
          <a:xfrm>
            <a:off x="312030" y="27269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3BBE215B-8B00-0481-9581-F1BCF78215D1}"/>
              </a:ext>
            </a:extLst>
          </p:cNvPr>
          <p:cNvSpPr/>
          <p:nvPr/>
        </p:nvSpPr>
        <p:spPr>
          <a:xfrm>
            <a:off x="1051141" y="272692"/>
            <a:ext cx="3810906" cy="1180699"/>
          </a:xfrm>
          <a:prstGeom prst="wedgeRectCallout">
            <a:avLst>
              <a:gd name="adj1" fmla="val 16643"/>
              <a:gd name="adj2" fmla="val 1466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task_definition = ecs.FargateTaskDefinition(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self, 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TASK_NAME, 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memory_limit_mib=512, 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cpu=256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8813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1EE1F-98B1-0349-EAF5-8B56BFA7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0DDB1A-54B9-9943-7E8E-F350CB9D4834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BFDBD-703A-3063-E531-B719F04EE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52676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6.4.2 ecr docker asset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7F55EBD3-2591-AF51-29C9-246E53AB86BF}"/>
              </a:ext>
            </a:extLst>
          </p:cNvPr>
          <p:cNvSpPr/>
          <p:nvPr/>
        </p:nvSpPr>
        <p:spPr>
          <a:xfrm>
            <a:off x="312030" y="27269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2C025D84-EE89-3B0F-C1AF-0874F4147A37}"/>
              </a:ext>
            </a:extLst>
          </p:cNvPr>
          <p:cNvSpPr/>
          <p:nvPr/>
        </p:nvSpPr>
        <p:spPr>
          <a:xfrm>
            <a:off x="1051141" y="272692"/>
            <a:ext cx="6614559" cy="1365365"/>
          </a:xfrm>
          <a:prstGeom prst="wedgeRectCallout">
            <a:avLst>
              <a:gd name="adj1" fmla="val 19846"/>
              <a:gd name="adj2" fmla="val 1582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asset = ecr_assets.DockerImageAsset(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self,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ASSET_NAME,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asset_name=ASSET_NAME,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directory=os.path.join(os.path.dirname(__file__), "../rest_api"),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    file="Dockerfile"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37097301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A3BAB-56D3-06E0-4DA4-07264D207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343F97-3ECD-C57A-DBB8-692DAB85A265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8A4D5-751A-467F-2D85-D37D87680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76048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6.4.3 ecs container image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F8ADA084-92F1-A1D4-6263-2A1832FEC14D}"/>
              </a:ext>
            </a:extLst>
          </p:cNvPr>
          <p:cNvSpPr/>
          <p:nvPr/>
        </p:nvSpPr>
        <p:spPr>
          <a:xfrm>
            <a:off x="312030" y="27269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585BCE0-4D72-BAB4-1FE1-021D16028DCA}"/>
              </a:ext>
            </a:extLst>
          </p:cNvPr>
          <p:cNvSpPr/>
          <p:nvPr/>
        </p:nvSpPr>
        <p:spPr>
          <a:xfrm>
            <a:off x="1051141" y="228600"/>
            <a:ext cx="4915375" cy="1180699"/>
          </a:xfrm>
          <a:prstGeom prst="wedgeRectCallout">
            <a:avLst>
              <a:gd name="adj1" fmla="val 26168"/>
              <a:gd name="adj2" fmla="val 2102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image = ecs.ContainerImage.from_docker_image_asset(asset)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task_definition.add_container(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	        </a:t>
            </a: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CONTAINER_NAME,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	        image=image,</a:t>
            </a:r>
          </a:p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	     )</a:t>
            </a:r>
          </a:p>
        </p:txBody>
      </p:sp>
    </p:spTree>
    <p:extLst>
      <p:ext uri="{BB962C8B-B14F-4D97-AF65-F5344CB8AC3E}">
        <p14:creationId xmlns:p14="http://schemas.microsoft.com/office/powerpoint/2010/main" val="5853136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9A7DB-FAE6-FA0B-9292-C35AAA6A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16FB08-AC06-B4D4-5B9C-A28178C2E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" y="218441"/>
            <a:ext cx="5207605" cy="27686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E6AAD6-8608-C287-7D65-440442CB3B4C}"/>
              </a:ext>
            </a:extLst>
          </p:cNvPr>
          <p:cNvSpPr/>
          <p:nvPr/>
        </p:nvSpPr>
        <p:spPr>
          <a:xfrm>
            <a:off x="161745" y="91440"/>
            <a:ext cx="207692" cy="6540589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20274-8865-E1A8-1036-9B1B4E467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9103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6.5 ECS example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A05A6C-0922-01E1-5A9A-E0DC136412BB}"/>
              </a:ext>
            </a:extLst>
          </p:cNvPr>
          <p:cNvGrpSpPr/>
          <p:nvPr/>
        </p:nvGrpSpPr>
        <p:grpSpPr>
          <a:xfrm>
            <a:off x="3356954" y="3139414"/>
            <a:ext cx="2947297" cy="289586"/>
            <a:chOff x="5881666" y="1590687"/>
            <a:chExt cx="2947297" cy="289586"/>
          </a:xfrm>
        </p:grpSpPr>
        <p:sp>
          <p:nvSpPr>
            <p:cNvPr id="63" name="Retângulo 5">
              <a:extLst>
                <a:ext uri="{FF2B5EF4-FFF2-40B4-BE49-F238E27FC236}">
                  <a16:creationId xmlns:a16="http://schemas.microsoft.com/office/drawing/2014/main" id="{4D45EC56-9840-7D97-2728-146FAA4427D0}"/>
                </a:ext>
              </a:extLst>
            </p:cNvPr>
            <p:cNvSpPr/>
            <p:nvPr/>
          </p:nvSpPr>
          <p:spPr>
            <a:xfrm>
              <a:off x="6081095" y="1603274"/>
              <a:ext cx="274786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amazon.com/cdk/v2/guide/ecs example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4" name="Picture 63" descr="Icon&#10;&#10;Description automatically generated">
              <a:extLst>
                <a:ext uri="{FF2B5EF4-FFF2-40B4-BE49-F238E27FC236}">
                  <a16:creationId xmlns:a16="http://schemas.microsoft.com/office/drawing/2014/main" id="{C6FA0E83-1148-4059-F45C-769D3B7D8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1FC0331F-EDE6-F2CB-DD02-7BE5C818D77A}"/>
              </a:ext>
            </a:extLst>
          </p:cNvPr>
          <p:cNvSpPr/>
          <p:nvPr/>
        </p:nvSpPr>
        <p:spPr>
          <a:xfrm>
            <a:off x="312030" y="27269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D3C6702-D205-95F3-5887-33A62A56BF1B}"/>
              </a:ext>
            </a:extLst>
          </p:cNvPr>
          <p:cNvSpPr/>
          <p:nvPr/>
        </p:nvSpPr>
        <p:spPr>
          <a:xfrm>
            <a:off x="6684861" y="171092"/>
            <a:ext cx="3301151" cy="996033"/>
          </a:xfrm>
          <a:prstGeom prst="wedgeRectCallout">
            <a:avLst>
              <a:gd name="adj1" fmla="val 19846"/>
              <a:gd name="adj2" fmla="val 1582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vpc = ec2.Vpc(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self, 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"skunkworks-1436399-vpc", 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max_azs=3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) 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40D7BA3-30D6-F614-ADB2-75400F96D3FA}"/>
              </a:ext>
            </a:extLst>
          </p:cNvPr>
          <p:cNvSpPr/>
          <p:nvPr/>
        </p:nvSpPr>
        <p:spPr>
          <a:xfrm>
            <a:off x="6684861" y="1268372"/>
            <a:ext cx="4065784" cy="996033"/>
          </a:xfrm>
          <a:prstGeom prst="wedgeRectCallout">
            <a:avLst>
              <a:gd name="adj1" fmla="val 19846"/>
              <a:gd name="adj2" fmla="val 1582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cluster = ecs.Cluster(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self, 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"skunkworks-1436399-cluster", 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vpc=vpc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)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0DB6B639-9005-5652-BD56-4291661DFA2C}"/>
              </a:ext>
            </a:extLst>
          </p:cNvPr>
          <p:cNvSpPr/>
          <p:nvPr/>
        </p:nvSpPr>
        <p:spPr>
          <a:xfrm>
            <a:off x="6684861" y="2423151"/>
            <a:ext cx="4575539" cy="1734697"/>
          </a:xfrm>
          <a:prstGeom prst="wedgeRectCallout">
            <a:avLst>
              <a:gd name="adj1" fmla="val 19846"/>
              <a:gd name="adj2" fmla="val 1582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current_dir = os.path.dirname(__file__)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asset_path = os.path.join(current_dir, "../rest_api")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asset = ecr_assets.DockerImageAsset(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     self,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     ASSET_NAME,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     asset_name=ASSET_NAME,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     directory=,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             file="Dockerfile"</a:t>
            </a:r>
          </a:p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        )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475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97492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84" y="1017051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304221" y="2912310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70785</TotalTime>
  <Words>525</Words>
  <Application>Microsoft Office PowerPoint</Application>
  <PresentationFormat>Widescreen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cdk</vt:lpstr>
      <vt:lpstr>1.1 sources</vt:lpstr>
      <vt:lpstr>2. what</vt:lpstr>
      <vt:lpstr>3. install</vt:lpstr>
      <vt:lpstr>3.1 vsCode</vt:lpstr>
      <vt:lpstr>3.2 python</vt:lpstr>
      <vt:lpstr>4. reference</vt:lpstr>
      <vt:lpstr>4.1 examples</vt:lpstr>
      <vt:lpstr>4.2 python</vt:lpstr>
      <vt:lpstr>4.1 bucket</vt:lpstr>
      <vt:lpstr>5. run</vt:lpstr>
      <vt:lpstr>5.1 IAM statement</vt:lpstr>
      <vt:lpstr>5.2 policy changes </vt:lpstr>
      <vt:lpstr>6. tutorials</vt:lpstr>
      <vt:lpstr>6.1 bucket (phyton)</vt:lpstr>
      <vt:lpstr>6.2 open search (TS)</vt:lpstr>
      <vt:lpstr>6.3 kendra (TS)</vt:lpstr>
      <vt:lpstr>6.4 docker</vt:lpstr>
      <vt:lpstr>6.4.1 ecs fargate task</vt:lpstr>
      <vt:lpstr>6.4.2 ecr docker asset</vt:lpstr>
      <vt:lpstr>6.4.3 ecs container image</vt:lpstr>
      <vt:lpstr>6.5 ECS example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 Figueiredo</cp:lastModifiedBy>
  <cp:revision>1163</cp:revision>
  <dcterms:created xsi:type="dcterms:W3CDTF">2019-03-25T09:18:39Z</dcterms:created>
  <dcterms:modified xsi:type="dcterms:W3CDTF">2024-04-01T07:06:40Z</dcterms:modified>
</cp:coreProperties>
</file>