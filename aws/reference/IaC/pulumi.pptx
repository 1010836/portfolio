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9" r:id="rId3"/>
    <p:sldId id="383" r:id="rId4"/>
    <p:sldId id="384" r:id="rId5"/>
    <p:sldId id="382" r:id="rId6"/>
    <p:sldId id="387" r:id="rId7"/>
    <p:sldId id="386" r:id="rId8"/>
    <p:sldId id="385" r:id="rId9"/>
    <p:sldId id="388" r:id="rId10"/>
    <p:sldId id="377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01/04/2024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lumi.com/why-pulumi/" TargetMode="External"/><Relationship Id="rId7" Type="http://schemas.openxmlformats.org/officeDocument/2006/relationships/hyperlink" Target="../IaC.pptx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../skunk.pptx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../lexicon/infrastructure.pptx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hyperlink" Target="https://www.pulumi.com/docs/cli/commands/pulumi_up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1OtfZhJwvYI&amp;list=PLGNdWBFrIUJc2vqu7kaBpZZHppzqScYPp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ulumi.com/blog/introducing-pulumi-crosswalk-for-aws-the-easiest-way-to-aw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ulumi.com/efigueiredo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lumi.com/docs/install/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hyperlink" Target="../../../../primaveranonsigned/pulumi-3.108.1-windows-x64.msi" TargetMode="External"/><Relationship Id="rId5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lumi.com/docs/clouds/aws/get-started/begin/#configure-pulumi-to-access-your-aws-account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leo.com/blog/knowledge-base-cloud-infrastructure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pinecone/architecture.pptx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2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9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2.png"/><Relationship Id="rId15" Type="http://schemas.openxmlformats.org/officeDocument/2006/relationships/image" Target="../media/image13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11.svg"/><Relationship Id="rId1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0BBCAC-FC0C-6D7B-BE6E-7D56D2AF8F6E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6495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pulumi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B1FAAFBB-5789-12B2-3DC0-9E3EE376B29D}"/>
              </a:ext>
            </a:extLst>
          </p:cNvPr>
          <p:cNvSpPr/>
          <p:nvPr/>
        </p:nvSpPr>
        <p:spPr>
          <a:xfrm>
            <a:off x="940158" y="211732"/>
            <a:ext cx="2719261" cy="1550031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is a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Infrastructure as Code (IaC) tool 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allows to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define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manage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  <a:hlinkClick r:id="rId2" action="ppaction://hlinksldjump"/>
              </a:rPr>
              <a:t>infrastructure</a:t>
            </a: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using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code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1C2567F4-0910-D4C2-DC23-C657FE7D0245}"/>
              </a:ext>
            </a:extLst>
          </p:cNvPr>
          <p:cNvSpPr/>
          <p:nvPr/>
        </p:nvSpPr>
        <p:spPr>
          <a:xfrm>
            <a:off x="201047" y="21173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690D9AA-679D-CCF5-B15F-DEB208B709E0}"/>
              </a:ext>
            </a:extLst>
          </p:cNvPr>
          <p:cNvGrpSpPr/>
          <p:nvPr/>
        </p:nvGrpSpPr>
        <p:grpSpPr>
          <a:xfrm>
            <a:off x="2945141" y="1821028"/>
            <a:ext cx="783073" cy="215444"/>
            <a:chOff x="5881666" y="1569745"/>
            <a:chExt cx="783073" cy="215444"/>
          </a:xfrm>
        </p:grpSpPr>
        <p:sp>
          <p:nvSpPr>
            <p:cNvPr id="56" name="Retângulo 5">
              <a:extLst>
                <a:ext uri="{FF2B5EF4-FFF2-40B4-BE49-F238E27FC236}">
                  <a16:creationId xmlns:a16="http://schemas.microsoft.com/office/drawing/2014/main" id="{AFB7455E-A71C-7172-FC82-05C2A07FEE75}"/>
                </a:ext>
              </a:extLst>
            </p:cNvPr>
            <p:cNvSpPr/>
            <p:nvPr/>
          </p:nvSpPr>
          <p:spPr>
            <a:xfrm>
              <a:off x="5981539" y="1569745"/>
              <a:ext cx="68320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pulumi.com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57" name="Picture 56" descr="Icon&#10;&#10;Description automatically generated">
              <a:extLst>
                <a:ext uri="{FF2B5EF4-FFF2-40B4-BE49-F238E27FC236}">
                  <a16:creationId xmlns:a16="http://schemas.microsoft.com/office/drawing/2014/main" id="{44A37B35-2897-4239-08E5-54E09E215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9CF5FF5-170C-85DB-E4BF-356999893333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46E425C8-8504-99BF-EB87-0CE46537C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162EF09E-C3B6-4554-B35D-D59642F597DA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A9D33E0-93C3-AAE3-0E9C-807118424C9E}"/>
              </a:ext>
            </a:extLst>
          </p:cNvPr>
          <p:cNvGrpSpPr/>
          <p:nvPr/>
        </p:nvGrpSpPr>
        <p:grpSpPr>
          <a:xfrm>
            <a:off x="10548188" y="402396"/>
            <a:ext cx="874404" cy="283293"/>
            <a:chOff x="5611636" y="5954426"/>
            <a:chExt cx="874405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024A0E7C-BB14-FD0C-3859-6952963EE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50E3AFA1-9280-594E-B7D7-2219CCEAD4FC}"/>
                </a:ext>
              </a:extLst>
            </p:cNvPr>
            <p:cNvSpPr/>
            <p:nvPr/>
          </p:nvSpPr>
          <p:spPr>
            <a:xfrm>
              <a:off x="6107411" y="5954426"/>
              <a:ext cx="3786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7" action="ppaction://hlinkpres?slideindex=1&amp;slidetitle="/>
                </a:rPr>
                <a:t>IaC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36289-1C40-F097-5F4E-52532715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C199BC-1293-6CA6-6995-1A812A4919C7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23039-CCDB-04A5-0DB4-D76F79C7F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6652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index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1FC5557-3C20-9F56-E2EA-CF063A62DCC5}"/>
              </a:ext>
            </a:extLst>
          </p:cNvPr>
          <p:cNvGrpSpPr/>
          <p:nvPr/>
        </p:nvGrpSpPr>
        <p:grpSpPr>
          <a:xfrm>
            <a:off x="175867" y="159149"/>
            <a:ext cx="2060623" cy="283293"/>
            <a:chOff x="5611636" y="5954426"/>
            <a:chExt cx="2060623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E6930B26-7181-E490-0F64-19B7268F7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788E053-A1EB-FAED-1954-C662AE488E50}"/>
                </a:ext>
              </a:extLst>
            </p:cNvPr>
            <p:cNvSpPr/>
            <p:nvPr/>
          </p:nvSpPr>
          <p:spPr>
            <a:xfrm>
              <a:off x="6107407" y="5954426"/>
              <a:ext cx="156485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lexicon: infrastructure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8ABEAFF-2891-DFB4-1B8B-241AF3EFA448}"/>
              </a:ext>
            </a:extLst>
          </p:cNvPr>
          <p:cNvGrpSpPr/>
          <p:nvPr/>
        </p:nvGrpSpPr>
        <p:grpSpPr>
          <a:xfrm>
            <a:off x="220802" y="599662"/>
            <a:ext cx="1274082" cy="289586"/>
            <a:chOff x="5881666" y="1590687"/>
            <a:chExt cx="1274082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48143735-B570-F298-5A60-82FA50EE3C0D}"/>
                </a:ext>
              </a:extLst>
            </p:cNvPr>
            <p:cNvSpPr/>
            <p:nvPr/>
          </p:nvSpPr>
          <p:spPr>
            <a:xfrm>
              <a:off x="6081095" y="1603274"/>
              <a:ext cx="107465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command line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077458FE-769D-2C3D-453B-5076DA415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553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01C81-E1CC-9902-C3EB-0D1DA822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634958-4A5C-9B19-9199-EAE9EB85B3C6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67133-061E-FB2E-345F-3C02D9B60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0599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1.2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sources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57831FF-DEEC-6B2A-1BD6-B8621E19ECD9}"/>
              </a:ext>
            </a:extLst>
          </p:cNvPr>
          <p:cNvGrpSpPr/>
          <p:nvPr/>
        </p:nvGrpSpPr>
        <p:grpSpPr>
          <a:xfrm>
            <a:off x="251327" y="220828"/>
            <a:ext cx="563461" cy="215444"/>
            <a:chOff x="5881666" y="1569745"/>
            <a:chExt cx="563461" cy="215444"/>
          </a:xfrm>
        </p:grpSpPr>
        <p:sp>
          <p:nvSpPr>
            <p:cNvPr id="56" name="Retângulo 5">
              <a:extLst>
                <a:ext uri="{FF2B5EF4-FFF2-40B4-BE49-F238E27FC236}">
                  <a16:creationId xmlns:a16="http://schemas.microsoft.com/office/drawing/2014/main" id="{4E6D0A35-2805-9AA0-532A-B98D84201714}"/>
                </a:ext>
              </a:extLst>
            </p:cNvPr>
            <p:cNvSpPr/>
            <p:nvPr/>
          </p:nvSpPr>
          <p:spPr>
            <a:xfrm>
              <a:off x="5981539" y="1569745"/>
              <a:ext cx="46358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course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57" name="Picture 56" descr="Icon&#10;&#10;Description automatically generated">
              <a:extLst>
                <a:ext uri="{FF2B5EF4-FFF2-40B4-BE49-F238E27FC236}">
                  <a16:creationId xmlns:a16="http://schemas.microsoft.com/office/drawing/2014/main" id="{016455A1-7900-CEBB-88A3-1E3C203F9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6632A592-5B73-DD72-4D1D-A0CD9AFAB2AF}"/>
              </a:ext>
            </a:extLst>
          </p:cNvPr>
          <p:cNvSpPr/>
          <p:nvPr/>
        </p:nvSpPr>
        <p:spPr>
          <a:xfrm>
            <a:off x="732553" y="220828"/>
            <a:ext cx="1877969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CC9DE5-3427-C105-DDE2-924E86B75772}"/>
              </a:ext>
            </a:extLst>
          </p:cNvPr>
          <p:cNvGrpSpPr/>
          <p:nvPr/>
        </p:nvGrpSpPr>
        <p:grpSpPr>
          <a:xfrm>
            <a:off x="246927" y="2321200"/>
            <a:ext cx="2891022" cy="215444"/>
            <a:chOff x="5881666" y="1569745"/>
            <a:chExt cx="2891022" cy="21544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BAAF9E9D-C687-3361-26D9-2F98128083D3}"/>
                </a:ext>
              </a:extLst>
            </p:cNvPr>
            <p:cNvSpPr/>
            <p:nvPr/>
          </p:nvSpPr>
          <p:spPr>
            <a:xfrm>
              <a:off x="5981539" y="1569745"/>
              <a:ext cx="279114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introducing-pulumi-crosswalk-for-aws-the-easiest-way-to-aws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D0469BF7-9052-0F75-9535-69BDA83AC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626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D1BF9-CBB5-DAEF-6FF5-84F09179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7097B6-AD43-6511-8444-0DAA2C878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09" y="291589"/>
            <a:ext cx="5455472" cy="265711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064D9-4A10-7F14-8429-CCC08C44D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0265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register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D9194-6D9E-AD4F-D715-3FA578AD2031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81268F94-38D2-B5E2-A5EB-430711B00C6B}"/>
              </a:ext>
            </a:extLst>
          </p:cNvPr>
          <p:cNvSpPr/>
          <p:nvPr/>
        </p:nvSpPr>
        <p:spPr>
          <a:xfrm>
            <a:off x="279713" y="255213"/>
            <a:ext cx="58361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299A2BC-791A-F1BE-A40D-70786D843DFE}"/>
              </a:ext>
            </a:extLst>
          </p:cNvPr>
          <p:cNvGrpSpPr/>
          <p:nvPr/>
        </p:nvGrpSpPr>
        <p:grpSpPr>
          <a:xfrm>
            <a:off x="5708526" y="3074393"/>
            <a:ext cx="577889" cy="215444"/>
            <a:chOff x="5881666" y="1569745"/>
            <a:chExt cx="577889" cy="215444"/>
          </a:xfrm>
        </p:grpSpPr>
        <p:sp>
          <p:nvSpPr>
            <p:cNvPr id="48" name="Retângulo 5">
              <a:extLst>
                <a:ext uri="{FF2B5EF4-FFF2-40B4-BE49-F238E27FC236}">
                  <a16:creationId xmlns:a16="http://schemas.microsoft.com/office/drawing/2014/main" id="{C9A1609F-C1BD-42DE-0994-C13C95975676}"/>
                </a:ext>
              </a:extLst>
            </p:cNvPr>
            <p:cNvSpPr/>
            <p:nvPr/>
          </p:nvSpPr>
          <p:spPr>
            <a:xfrm>
              <a:off x="5981539" y="1569745"/>
              <a:ext cx="47801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pulumi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13F68A61-E053-E379-BFCC-FB111F827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063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D5ED5-69D1-0F5F-0A16-B35F3321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E597E8-0A78-0A13-D353-27E96A2EC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73" y="255213"/>
            <a:ext cx="2451187" cy="192665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7FD569-386A-C5A6-D929-63640E616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951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install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8D3C5-F8F7-8FC6-D816-7FD6105B39BE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118F1601-FD35-D841-34CA-F45DBEC1955B}"/>
              </a:ext>
            </a:extLst>
          </p:cNvPr>
          <p:cNvSpPr/>
          <p:nvPr/>
        </p:nvSpPr>
        <p:spPr>
          <a:xfrm>
            <a:off x="279713" y="255213"/>
            <a:ext cx="58361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E1A5C9D-30C0-B9DF-816C-3C9ACCD3D385}"/>
              </a:ext>
            </a:extLst>
          </p:cNvPr>
          <p:cNvGrpSpPr/>
          <p:nvPr/>
        </p:nvGrpSpPr>
        <p:grpSpPr>
          <a:xfrm>
            <a:off x="2040766" y="2321973"/>
            <a:ext cx="1345727" cy="215444"/>
            <a:chOff x="5881666" y="1569745"/>
            <a:chExt cx="1345727" cy="215444"/>
          </a:xfrm>
        </p:grpSpPr>
        <p:sp>
          <p:nvSpPr>
            <p:cNvPr id="48" name="Retângulo 5">
              <a:extLst>
                <a:ext uri="{FF2B5EF4-FFF2-40B4-BE49-F238E27FC236}">
                  <a16:creationId xmlns:a16="http://schemas.microsoft.com/office/drawing/2014/main" id="{9CFD502E-51C2-1D86-B6D6-15F84F8514B9}"/>
                </a:ext>
              </a:extLst>
            </p:cNvPr>
            <p:cNvSpPr/>
            <p:nvPr/>
          </p:nvSpPr>
          <p:spPr>
            <a:xfrm>
              <a:off x="5981539" y="1569745"/>
              <a:ext cx="124585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pulumi.com/docs/install/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21A8D0BC-F16C-AF77-826F-29879D006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5E621-9930-26A1-1851-2DC3EE0226F6}"/>
              </a:ext>
            </a:extLst>
          </p:cNvPr>
          <p:cNvGrpSpPr/>
          <p:nvPr/>
        </p:nvGrpSpPr>
        <p:grpSpPr>
          <a:xfrm>
            <a:off x="958187" y="2653370"/>
            <a:ext cx="4229114" cy="299662"/>
            <a:chOff x="1643297" y="4045816"/>
            <a:chExt cx="4229114" cy="299662"/>
          </a:xfrm>
        </p:grpSpPr>
        <p:sp>
          <p:nvSpPr>
            <p:cNvPr id="14" name="CaixaDeTexto 17">
              <a:hlinkClick r:id="rId5" action="ppaction://program"/>
              <a:extLst>
                <a:ext uri="{FF2B5EF4-FFF2-40B4-BE49-F238E27FC236}">
                  <a16:creationId xmlns:a16="http://schemas.microsoft.com/office/drawing/2014/main" id="{4EBB7110-3C2B-A0BA-3DA5-EF329D91467E}"/>
                </a:ext>
              </a:extLst>
            </p:cNvPr>
            <p:cNvSpPr txBox="1"/>
            <p:nvPr/>
          </p:nvSpPr>
          <p:spPr>
            <a:xfrm>
              <a:off x="1980063" y="4103314"/>
              <a:ext cx="3892348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1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6" action="ppaction://hlinkfile"/>
                </a:rPr>
                <a:t>..\..\..\..\primaveranonsigned\pulumi-3.108.1-windows-x64.msi</a:t>
              </a:r>
              <a:endParaRPr kumimoji="0" lang="en-US" sz="1200" b="0" i="0" u="sng" strike="noStrike" kern="1200" cap="none" spc="0" normalizeH="0" baseline="0" noProof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16" name="Imagem 18">
              <a:hlinkClick r:id="rId5" action="ppaction://program"/>
              <a:extLst>
                <a:ext uri="{FF2B5EF4-FFF2-40B4-BE49-F238E27FC236}">
                  <a16:creationId xmlns:a16="http://schemas.microsoft.com/office/drawing/2014/main" id="{D8D43BF1-9F1A-81FE-AF72-85E61DA34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18" name="Arrow: Right 5">
            <a:extLst>
              <a:ext uri="{FF2B5EF4-FFF2-40B4-BE49-F238E27FC236}">
                <a16:creationId xmlns:a16="http://schemas.microsoft.com/office/drawing/2014/main" id="{71617EE1-8999-5B8F-88E0-EB70F92FEFDA}"/>
              </a:ext>
            </a:extLst>
          </p:cNvPr>
          <p:cNvSpPr/>
          <p:nvPr/>
        </p:nvSpPr>
        <p:spPr>
          <a:xfrm>
            <a:off x="255634" y="2710868"/>
            <a:ext cx="66376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where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3722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0F987-FC97-9E4F-66A4-130641D3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BA8A2E-7B2D-9F73-3757-05886DECB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32" y="255213"/>
            <a:ext cx="5051427" cy="413004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91F02-47DB-B629-8585-C06AFD0A5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3289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A31358-78BE-1CA7-ED8E-C009F25D5569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A0D7DB6D-0FAA-33D3-5AA6-49BDA89E610E}"/>
              </a:ext>
            </a:extLst>
          </p:cNvPr>
          <p:cNvSpPr/>
          <p:nvPr/>
        </p:nvSpPr>
        <p:spPr>
          <a:xfrm>
            <a:off x="279713" y="255213"/>
            <a:ext cx="58361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22E32F3-35F0-45A8-4A36-A78C533BE141}"/>
              </a:ext>
            </a:extLst>
          </p:cNvPr>
          <p:cNvGrpSpPr/>
          <p:nvPr/>
        </p:nvGrpSpPr>
        <p:grpSpPr>
          <a:xfrm>
            <a:off x="3752574" y="4552093"/>
            <a:ext cx="2211348" cy="215444"/>
            <a:chOff x="5881666" y="1569745"/>
            <a:chExt cx="2211348" cy="215444"/>
          </a:xfrm>
        </p:grpSpPr>
        <p:sp>
          <p:nvSpPr>
            <p:cNvPr id="48" name="Retângulo 5">
              <a:extLst>
                <a:ext uri="{FF2B5EF4-FFF2-40B4-BE49-F238E27FC236}">
                  <a16:creationId xmlns:a16="http://schemas.microsoft.com/office/drawing/2014/main" id="{DDAD1854-3DCD-79C6-7E7C-6B62C3D206AF}"/>
                </a:ext>
              </a:extLst>
            </p:cNvPr>
            <p:cNvSpPr/>
            <p:nvPr/>
          </p:nvSpPr>
          <p:spPr>
            <a:xfrm>
              <a:off x="5981539" y="1569745"/>
              <a:ext cx="211147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configure-pulumi-to-access-your-aws-account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831A247F-EDD3-B709-0919-8245ABA59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078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96FB7-C8D5-4735-1964-B1045BD7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EAC45D16-1B5B-C03E-555F-753FB4C4CFE5}"/>
              </a:ext>
            </a:extLst>
          </p:cNvPr>
          <p:cNvSpPr/>
          <p:nvPr/>
        </p:nvSpPr>
        <p:spPr>
          <a:xfrm>
            <a:off x="1626644" y="1573352"/>
            <a:ext cx="2403469" cy="534368"/>
          </a:xfrm>
          <a:prstGeom prst="wedgeRectCallout">
            <a:avLst>
              <a:gd name="adj1" fmla="val -48063"/>
              <a:gd name="adj2" fmla="val -2128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pinecone integration with Pulumi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offers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 native way to manage Pinecone indexes, 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5A66D75B-13BB-39A7-3850-DDA72DD9963A}"/>
              </a:ext>
            </a:extLst>
          </p:cNvPr>
          <p:cNvSpPr/>
          <p:nvPr/>
        </p:nvSpPr>
        <p:spPr>
          <a:xfrm>
            <a:off x="1870693" y="255213"/>
            <a:ext cx="2384233" cy="688256"/>
          </a:xfrm>
          <a:prstGeom prst="wedgeRectCallout">
            <a:avLst>
              <a:gd name="adj1" fmla="val -48063"/>
              <a:gd name="adj2" fmla="val -2128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pulumi allows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to define infrastructure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using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familiar programming languages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27F53-8886-6259-ECAB-D51A4BFCA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3980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pine cone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D4ADE-0A2D-2A66-DF78-8D5ADEFA5A37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9280F686-EA11-9CB7-F1A1-B49F4C8440D9}"/>
              </a:ext>
            </a:extLst>
          </p:cNvPr>
          <p:cNvSpPr/>
          <p:nvPr/>
        </p:nvSpPr>
        <p:spPr>
          <a:xfrm>
            <a:off x="2165171" y="3061559"/>
            <a:ext cx="2305687" cy="1149921"/>
          </a:xfrm>
          <a:prstGeom prst="wedgeRectCallout">
            <a:avLst>
              <a:gd name="adj1" fmla="val -45926"/>
              <a:gd name="adj2" fmla="val 1895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apply IaC principles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work more efficiently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Pulumi's wide range of providers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gives diverse and powerful set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of tools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to enhance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development work</a:t>
            </a: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5F4424FD-55F3-96FE-DADE-82DE350441B1}"/>
              </a:ext>
            </a:extLst>
          </p:cNvPr>
          <p:cNvSpPr/>
          <p:nvPr/>
        </p:nvSpPr>
        <p:spPr>
          <a:xfrm>
            <a:off x="279713" y="255213"/>
            <a:ext cx="1630381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infrastructure as code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9FFEDBB-B7E1-5676-1110-44382EE52F64}"/>
              </a:ext>
            </a:extLst>
          </p:cNvPr>
          <p:cNvGrpSpPr/>
          <p:nvPr/>
        </p:nvGrpSpPr>
        <p:grpSpPr>
          <a:xfrm>
            <a:off x="2538550" y="2200053"/>
            <a:ext cx="1558927" cy="215444"/>
            <a:chOff x="5881666" y="1569745"/>
            <a:chExt cx="1558927" cy="215444"/>
          </a:xfrm>
        </p:grpSpPr>
        <p:sp>
          <p:nvSpPr>
            <p:cNvPr id="48" name="Retângulo 5">
              <a:extLst>
                <a:ext uri="{FF2B5EF4-FFF2-40B4-BE49-F238E27FC236}">
                  <a16:creationId xmlns:a16="http://schemas.microsoft.com/office/drawing/2014/main" id="{4CDAD1E7-FD43-31E9-2EC8-398EFF9B012F}"/>
                </a:ext>
              </a:extLst>
            </p:cNvPr>
            <p:cNvSpPr/>
            <p:nvPr/>
          </p:nvSpPr>
          <p:spPr>
            <a:xfrm>
              <a:off x="5981539" y="1569745"/>
              <a:ext cx="145905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types, requirements, 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beneficts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7B9A7410-06E9-CE63-441B-DEDF73338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77076CD9-E084-0F88-D439-CC42D9269CD0}"/>
              </a:ext>
            </a:extLst>
          </p:cNvPr>
          <p:cNvSpPr/>
          <p:nvPr/>
        </p:nvSpPr>
        <p:spPr>
          <a:xfrm>
            <a:off x="4334846" y="255213"/>
            <a:ext cx="1180379" cy="688256"/>
          </a:xfrm>
          <a:prstGeom prst="wedgeRectCallout">
            <a:avLst>
              <a:gd name="adj1" fmla="val -61314"/>
              <a:gd name="adj2" fmla="val -31772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makes it easier to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 manage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update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 infrastructure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EF9B3C57-63E2-3236-10A8-675CC5BCC170}"/>
              </a:ext>
            </a:extLst>
          </p:cNvPr>
          <p:cNvSpPr/>
          <p:nvPr/>
        </p:nvSpPr>
        <p:spPr>
          <a:xfrm>
            <a:off x="5665537" y="255213"/>
            <a:ext cx="1869670" cy="842145"/>
          </a:xfrm>
          <a:prstGeom prst="wedgeRectCallout">
            <a:avLst>
              <a:gd name="adj1" fmla="val -59615"/>
              <a:gd name="adj2" fmla="val -2186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changes to the code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will automatically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be reflected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in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your cloud resources</a:t>
            </a:r>
          </a:p>
        </p:txBody>
      </p:sp>
      <p:sp>
        <p:nvSpPr>
          <p:cNvPr id="11" name="Arrow: Right 5">
            <a:extLst>
              <a:ext uri="{FF2B5EF4-FFF2-40B4-BE49-F238E27FC236}">
                <a16:creationId xmlns:a16="http://schemas.microsoft.com/office/drawing/2014/main" id="{C00FC174-2843-3DBD-22CF-48D90E33A686}"/>
              </a:ext>
            </a:extLst>
          </p:cNvPr>
          <p:cNvSpPr/>
          <p:nvPr/>
        </p:nvSpPr>
        <p:spPr>
          <a:xfrm>
            <a:off x="257471" y="1573352"/>
            <a:ext cx="1401151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pinecone provider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688273E9-1134-FF5B-351D-A66A06FBB8BB}"/>
              </a:ext>
            </a:extLst>
          </p:cNvPr>
          <p:cNvSpPr/>
          <p:nvPr/>
        </p:nvSpPr>
        <p:spPr>
          <a:xfrm>
            <a:off x="4158674" y="1565536"/>
            <a:ext cx="1646852" cy="380480"/>
          </a:xfrm>
          <a:prstGeom prst="wedgeRectCallout">
            <a:avLst>
              <a:gd name="adj1" fmla="val -48063"/>
              <a:gd name="adj2" fmla="val -2128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including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serverless indexes</a:t>
            </a: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FFFF0E20-27E2-566C-8861-C611012C0A12}"/>
              </a:ext>
            </a:extLst>
          </p:cNvPr>
          <p:cNvSpPr/>
          <p:nvPr/>
        </p:nvSpPr>
        <p:spPr>
          <a:xfrm>
            <a:off x="5934087" y="1573352"/>
            <a:ext cx="1582732" cy="842145"/>
          </a:xfrm>
          <a:prstGeom prst="wedgeRectCallout">
            <a:avLst>
              <a:gd name="adj1" fmla="val -60733"/>
              <a:gd name="adj2" fmla="val -3223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use Pulumi to effortlessly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create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update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remove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Pinecone indexes</a:t>
            </a:r>
          </a:p>
        </p:txBody>
      </p:sp>
      <p:sp>
        <p:nvSpPr>
          <p:cNvPr id="50" name="Arrow: Right 5">
            <a:extLst>
              <a:ext uri="{FF2B5EF4-FFF2-40B4-BE49-F238E27FC236}">
                <a16:creationId xmlns:a16="http://schemas.microsoft.com/office/drawing/2014/main" id="{C12EE06B-2E97-8CB6-D0C3-54EE9B773178}"/>
              </a:ext>
            </a:extLst>
          </p:cNvPr>
          <p:cNvSpPr/>
          <p:nvPr/>
        </p:nvSpPr>
        <p:spPr>
          <a:xfrm>
            <a:off x="257471" y="3109712"/>
            <a:ext cx="1909303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efficiency and productivity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51" name="Arrow: Right 5">
            <a:extLst>
              <a:ext uri="{FF2B5EF4-FFF2-40B4-BE49-F238E27FC236}">
                <a16:creationId xmlns:a16="http://schemas.microsoft.com/office/drawing/2014/main" id="{AECB3C41-B51B-CEB4-4603-9F31F64D4FA3}"/>
              </a:ext>
            </a:extLst>
          </p:cNvPr>
          <p:cNvSpPr/>
          <p:nvPr/>
        </p:nvSpPr>
        <p:spPr>
          <a:xfrm>
            <a:off x="257653" y="4796637"/>
            <a:ext cx="1938157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aws reference architecture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52" name="Speech Bubble: Rectangle 51">
            <a:extLst>
              <a:ext uri="{FF2B5EF4-FFF2-40B4-BE49-F238E27FC236}">
                <a16:creationId xmlns:a16="http://schemas.microsoft.com/office/drawing/2014/main" id="{D85B7065-EBD7-0213-44FD-1D5DA51D9276}"/>
              </a:ext>
            </a:extLst>
          </p:cNvPr>
          <p:cNvSpPr/>
          <p:nvPr/>
        </p:nvSpPr>
        <p:spPr>
          <a:xfrm>
            <a:off x="2242760" y="4775674"/>
            <a:ext cx="1784710" cy="688256"/>
          </a:xfrm>
          <a:prstGeom prst="wedgeRectCallout">
            <a:avLst>
              <a:gd name="adj1" fmla="val -48444"/>
              <a:gd name="adj2" fmla="val 11652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fully open-source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 distributed system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defined in Pulumi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written in TypeScript</a:t>
            </a:r>
          </a:p>
        </p:txBody>
      </p:sp>
      <p:sp>
        <p:nvSpPr>
          <p:cNvPr id="53" name="Speech Bubble: Rectangle 52">
            <a:extLst>
              <a:ext uri="{FF2B5EF4-FFF2-40B4-BE49-F238E27FC236}">
                <a16:creationId xmlns:a16="http://schemas.microsoft.com/office/drawing/2014/main" id="{842D1091-4EC4-9E78-4145-AB478E6B0A2C}"/>
              </a:ext>
            </a:extLst>
          </p:cNvPr>
          <p:cNvSpPr/>
          <p:nvPr/>
        </p:nvSpPr>
        <p:spPr>
          <a:xfrm>
            <a:off x="4142039" y="4775674"/>
            <a:ext cx="3148866" cy="1149921"/>
          </a:xfrm>
          <a:prstGeom prst="wedgeRectCallout">
            <a:avLst>
              <a:gd name="adj1" fmla="val -57094"/>
              <a:gd name="adj2" fmla="val -27458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can run the system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to understand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best practices and recommendations,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modify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the code to your needs,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re-deploy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 custom system</a:t>
            </a:r>
          </a:p>
        </p:txBody>
      </p:sp>
      <p:sp>
        <p:nvSpPr>
          <p:cNvPr id="54" name="Speech Bubble: Rectangle 53">
            <a:extLst>
              <a:ext uri="{FF2B5EF4-FFF2-40B4-BE49-F238E27FC236}">
                <a16:creationId xmlns:a16="http://schemas.microsoft.com/office/drawing/2014/main" id="{CB5AEB61-9F80-0F1F-7346-84114FB85DA4}"/>
              </a:ext>
            </a:extLst>
          </p:cNvPr>
          <p:cNvSpPr/>
          <p:nvPr/>
        </p:nvSpPr>
        <p:spPr>
          <a:xfrm>
            <a:off x="7375313" y="4772851"/>
            <a:ext cx="1544260" cy="534368"/>
          </a:xfrm>
          <a:prstGeom prst="wedgeRectCallout">
            <a:avLst>
              <a:gd name="adj1" fmla="val -57094"/>
              <a:gd name="adj2" fmla="val -27458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get your applications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into production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more quickly</a:t>
            </a:r>
          </a:p>
        </p:txBody>
      </p:sp>
    </p:spTree>
    <p:extLst>
      <p:ext uri="{BB962C8B-B14F-4D97-AF65-F5344CB8AC3E}">
        <p14:creationId xmlns:p14="http://schemas.microsoft.com/office/powerpoint/2010/main" val="2952937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AE65C-B291-3C7F-90EA-7DCF5962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6CA588-7A09-FA58-3A01-691545EC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" y="165686"/>
            <a:ext cx="5537200" cy="191672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4E9346-0095-F64E-19F2-E5EBAE97F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8287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7. token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354152-52EE-3179-B262-0CE85EE91B97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DC93D36E-1279-2FB1-CD9F-EC53E71FCDD5}"/>
              </a:ext>
            </a:extLst>
          </p:cNvPr>
          <p:cNvSpPr/>
          <p:nvPr/>
        </p:nvSpPr>
        <p:spPr>
          <a:xfrm>
            <a:off x="279713" y="255213"/>
            <a:ext cx="58361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17F0FB82-41CC-6468-0186-9BF4CA0DD80E}"/>
              </a:ext>
            </a:extLst>
          </p:cNvPr>
          <p:cNvSpPr/>
          <p:nvPr/>
        </p:nvSpPr>
        <p:spPr>
          <a:xfrm>
            <a:off x="1326527" y="2426792"/>
            <a:ext cx="2871546" cy="226591"/>
          </a:xfrm>
          <a:prstGeom prst="wedgeRectCallout">
            <a:avLst>
              <a:gd name="adj1" fmla="val -33807"/>
              <a:gd name="adj2" fmla="val 3635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000" kern="0">
                <a:solidFill>
                  <a:prstClr val="white"/>
                </a:solidFill>
                <a:latin typeface="Calibri Light" panose="020F0302020204030204"/>
              </a:rPr>
              <a:t>pul-63adf054bcc650162b091c582603788529c601a6</a:t>
            </a:r>
            <a:endParaRPr lang="en-US" sz="1000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B4404C-0B4E-9B6F-4D85-FA58EEB17D92}"/>
              </a:ext>
            </a:extLst>
          </p:cNvPr>
          <p:cNvGrpSpPr/>
          <p:nvPr/>
        </p:nvGrpSpPr>
        <p:grpSpPr>
          <a:xfrm>
            <a:off x="175867" y="2909237"/>
            <a:ext cx="1452384" cy="283293"/>
            <a:chOff x="5611636" y="5954426"/>
            <a:chExt cx="1452385" cy="283293"/>
          </a:xfrm>
        </p:grpSpPr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904B563D-FC63-8D2A-0400-1F1052428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7" name="Retângulo 5">
              <a:extLst>
                <a:ext uri="{FF2B5EF4-FFF2-40B4-BE49-F238E27FC236}">
                  <a16:creationId xmlns:a16="http://schemas.microsoft.com/office/drawing/2014/main" id="{FAFE520F-A49D-3E6D-E820-280E69AF8528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architecture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90267310-E6BB-54AD-A01E-7C15AEA3FDED}"/>
              </a:ext>
            </a:extLst>
          </p:cNvPr>
          <p:cNvSpPr txBox="1">
            <a:spLocks/>
          </p:cNvSpPr>
          <p:nvPr/>
        </p:nvSpPr>
        <p:spPr>
          <a:xfrm>
            <a:off x="1596212" y="2930851"/>
            <a:ext cx="1166088" cy="258532"/>
          </a:xfrm>
          <a:prstGeom prst="rect">
            <a:avLst/>
          </a:prstGeo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rgbClr val="4472C4">
                <a:lumMod val="60000"/>
                <a:lumOff val="40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pt-PT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defRPr>
            </a:lvl1pPr>
          </a:lstStyle>
          <a:p>
            <a:r>
              <a:rPr lang="en-US" sz="1200" dirty="0">
                <a:sym typeface="Wingdings" panose="05000000000000000000" pitchFamily="2" charset="2"/>
              </a:rPr>
              <a:t>2.3.1 access key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464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69009</TotalTime>
  <Words>266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pulumi</vt:lpstr>
      <vt:lpstr>1.1 index</vt:lpstr>
      <vt:lpstr>1.2 sources</vt:lpstr>
      <vt:lpstr>2. register</vt:lpstr>
      <vt:lpstr>3. install</vt:lpstr>
      <vt:lpstr>4. access</vt:lpstr>
      <vt:lpstr>5. pine cone</vt:lpstr>
      <vt:lpstr>7. token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1138</cp:revision>
  <dcterms:created xsi:type="dcterms:W3CDTF">2019-03-25T09:18:39Z</dcterms:created>
  <dcterms:modified xsi:type="dcterms:W3CDTF">2024-04-01T02:53:25Z</dcterms:modified>
</cp:coreProperties>
</file>