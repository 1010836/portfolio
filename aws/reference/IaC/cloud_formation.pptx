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9" r:id="rId3"/>
    <p:sldId id="380" r:id="rId4"/>
    <p:sldId id="381" r:id="rId5"/>
    <p:sldId id="384" r:id="rId6"/>
    <p:sldId id="385" r:id="rId7"/>
    <p:sldId id="386" r:id="rId8"/>
    <p:sldId id="382" r:id="rId9"/>
    <p:sldId id="387" r:id="rId10"/>
    <p:sldId id="388" r:id="rId11"/>
    <p:sldId id="390" r:id="rId12"/>
    <p:sldId id="389" r:id="rId13"/>
    <p:sldId id="37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IaC.pptx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0Sh9OySCyb4?si=-BYvnKWedBh_M36B&amp;t=835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hyperlink" Target="https://www.youtube.com/watch?v=0Sh9OySCyb4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hyperlink" Target="https://www.terraform.io/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www.serverless.com/" TargetMode="External"/><Relationship Id="rId4" Type="http://schemas.openxmlformats.org/officeDocument/2006/relationships/hyperlink" Target="https://youtu.be/0Sh9OySCyb4?si=cr-ecGzproVNAJqa&amp;t=737" TargetMode="External"/><Relationship Id="rId9" Type="http://schemas.openxmlformats.org/officeDocument/2006/relationships/hyperlink" Target="https://docs.aws.amazon.com/serverless-application-model/latest/developerguide/serverless-getting-started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zure-resource-manager/templates/overview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tackoverflow.com/questions/53694491/does-azure-have-an-iac-tool-just-like-cloudformation-of-aws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aws.amazon.com/AWSCloudFormation/latest/UserGuide/cfn-console-login.html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CloudFormation/latest/UserGuide/cfn-console-create-stack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CloudFormation/latest/UserGuide/cfn-using-console-create-stack-template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aws.amazon.com/AWSCloudFormation/latest/UserGuide/template-anatomy.html" TargetMode="External"/><Relationship Id="rId5" Type="http://schemas.openxmlformats.org/officeDocument/2006/relationships/hyperlink" Target="https://docs.aws.amazon.com/AWSCloudFormation/latest/UserGuide/template-guide.html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us-west-2.console.aws.amazon.com/codesuite/codestar/home?region=us-west-2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explorer.exe%20F:\ides\AZ_vStudio2017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../../../pinecone_cloud_forma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aws.amazon.com/AWSCloudFormation/latest/UserGuide/working-with-templates-cfn-designer.html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9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4.png"/><Relationship Id="rId2" Type="http://schemas.openxmlformats.org/officeDocument/2006/relationships/image" Target="../media/image16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20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8.svg"/><Relationship Id="rId1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2395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cloud formation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4FBCC91-1CFB-D09C-FF71-279EC7F25C48}"/>
              </a:ext>
            </a:extLst>
          </p:cNvPr>
          <p:cNvGrpSpPr/>
          <p:nvPr/>
        </p:nvGrpSpPr>
        <p:grpSpPr>
          <a:xfrm>
            <a:off x="10525306" y="506397"/>
            <a:ext cx="874404" cy="283293"/>
            <a:chOff x="5611636" y="5954426"/>
            <a:chExt cx="874405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DA1F30CE-5653-79A6-B405-406D3381C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E0AC7525-3778-B2AF-2E19-565133465EE2}"/>
                </a:ext>
              </a:extLst>
            </p:cNvPr>
            <p:cNvSpPr/>
            <p:nvPr/>
          </p:nvSpPr>
          <p:spPr>
            <a:xfrm>
              <a:off x="6107411" y="5954426"/>
              <a:ext cx="378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IaC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F682-7328-3021-E312-D1728ED7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B37C-9FA8-2682-AAB7-A4297765B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4485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what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92E8A-9D79-0DA2-D94E-31507356715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C3C085-1554-7B81-4DB5-5F1FF1FC4A94}"/>
              </a:ext>
            </a:extLst>
          </p:cNvPr>
          <p:cNvGrpSpPr/>
          <p:nvPr/>
        </p:nvGrpSpPr>
        <p:grpSpPr>
          <a:xfrm>
            <a:off x="163991" y="237646"/>
            <a:ext cx="3306370" cy="289586"/>
            <a:chOff x="5881666" y="1590687"/>
            <a:chExt cx="3306370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DCFAC448-0612-9C66-6DE7-4CD0177EC5E2}"/>
                </a:ext>
              </a:extLst>
            </p:cNvPr>
            <p:cNvSpPr/>
            <p:nvPr/>
          </p:nvSpPr>
          <p:spPr>
            <a:xfrm>
              <a:off x="6081095" y="1603274"/>
              <a:ext cx="310694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What is AWS Cloud formation? Pros and Cons?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70B01E1C-A513-34B6-4DE6-4F89FBA51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9FF9FD7-3454-362B-AFF7-F1CA46014D8E}"/>
              </a:ext>
            </a:extLst>
          </p:cNvPr>
          <p:cNvGrpSpPr/>
          <p:nvPr/>
        </p:nvGrpSpPr>
        <p:grpSpPr>
          <a:xfrm>
            <a:off x="2983204" y="2210662"/>
            <a:ext cx="1039406" cy="246221"/>
            <a:chOff x="5881666" y="1557576"/>
            <a:chExt cx="1039406" cy="246221"/>
          </a:xfrm>
        </p:grpSpPr>
        <p:sp>
          <p:nvSpPr>
            <p:cNvPr id="14" name="Retângulo 5">
              <a:extLst>
                <a:ext uri="{FF2B5EF4-FFF2-40B4-BE49-F238E27FC236}">
                  <a16:creationId xmlns:a16="http://schemas.microsoft.com/office/drawing/2014/main" id="{2D40F31F-656C-73D3-3F58-8AE1E5B99FE0}"/>
                </a:ext>
              </a:extLst>
            </p:cNvPr>
            <p:cNvSpPr/>
            <p:nvPr/>
          </p:nvSpPr>
          <p:spPr>
            <a:xfrm>
              <a:off x="6015055" y="1557576"/>
              <a:ext cx="90601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kern="0" dirty="0">
                  <a:solidFill>
                    <a:prstClr val="black"/>
                  </a:solidFill>
                  <a:hlinkClick r:id="rId4"/>
                </a:rPr>
                <a:t>p</a:t>
              </a:r>
              <a:r>
                <a:rPr kumimoji="0" lang="en-US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ros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 and cons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D1D24989-D06F-B0CA-B235-0218FE906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2F2A5F2-CA59-7ABF-D71E-0804EE18B7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57" y="665480"/>
            <a:ext cx="3297092" cy="14173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D703FA-5281-9481-028A-CBE171E8F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848" y="644099"/>
            <a:ext cx="2868385" cy="14173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81E0A6C-A2F3-CB9F-C0F5-77A6F651D805}"/>
              </a:ext>
            </a:extLst>
          </p:cNvPr>
          <p:cNvGrpSpPr/>
          <p:nvPr/>
        </p:nvGrpSpPr>
        <p:grpSpPr>
          <a:xfrm>
            <a:off x="6437604" y="2210661"/>
            <a:ext cx="779720" cy="246221"/>
            <a:chOff x="5881666" y="1557576"/>
            <a:chExt cx="779720" cy="246221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B8505D4F-2A28-F892-8A47-1D39578836DD}"/>
                </a:ext>
              </a:extLst>
            </p:cNvPr>
            <p:cNvSpPr/>
            <p:nvPr/>
          </p:nvSpPr>
          <p:spPr>
            <a:xfrm>
              <a:off x="6015055" y="1557576"/>
              <a:ext cx="64633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8"/>
                </a:rPr>
                <a:t>compare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1A107189-D9CE-6760-77E7-F3A7D0FB3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E6651D-C9D1-A788-68A0-E89AED805AB4}"/>
              </a:ext>
            </a:extLst>
          </p:cNvPr>
          <p:cNvGrpSpPr/>
          <p:nvPr/>
        </p:nvGrpSpPr>
        <p:grpSpPr>
          <a:xfrm>
            <a:off x="6437604" y="2423772"/>
            <a:ext cx="779720" cy="246221"/>
            <a:chOff x="5881666" y="1557576"/>
            <a:chExt cx="779720" cy="246221"/>
          </a:xfrm>
        </p:grpSpPr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BF43FC1D-EDBF-3501-2A3F-B5D03F4E6217}"/>
                </a:ext>
              </a:extLst>
            </p:cNvPr>
            <p:cNvSpPr/>
            <p:nvPr/>
          </p:nvSpPr>
          <p:spPr>
            <a:xfrm>
              <a:off x="6015055" y="1557576"/>
              <a:ext cx="64633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9"/>
                </a:rPr>
                <a:t>aws sam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6ED9FA15-3937-F76E-0F98-73B0002F7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4661C6-55A2-7157-0A40-FB8A0217775B}"/>
              </a:ext>
            </a:extLst>
          </p:cNvPr>
          <p:cNvGrpSpPr/>
          <p:nvPr/>
        </p:nvGrpSpPr>
        <p:grpSpPr>
          <a:xfrm>
            <a:off x="6449008" y="2636883"/>
            <a:ext cx="1066658" cy="246221"/>
            <a:chOff x="5881666" y="1557576"/>
            <a:chExt cx="1066658" cy="246221"/>
          </a:xfrm>
        </p:grpSpPr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DE74B219-46B8-821A-A562-B4D9452E8444}"/>
                </a:ext>
              </a:extLst>
            </p:cNvPr>
            <p:cNvSpPr/>
            <p:nvPr/>
          </p:nvSpPr>
          <p:spPr>
            <a:xfrm>
              <a:off x="6015055" y="1557576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0"/>
                </a:rPr>
                <a:t>aws serverless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2D356512-F2E1-09EB-7C0A-16525613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C35D59-073F-A59A-7B32-7BB1AC389D8A}"/>
              </a:ext>
            </a:extLst>
          </p:cNvPr>
          <p:cNvGrpSpPr/>
          <p:nvPr/>
        </p:nvGrpSpPr>
        <p:grpSpPr>
          <a:xfrm>
            <a:off x="6437604" y="2849994"/>
            <a:ext cx="829413" cy="246221"/>
            <a:chOff x="5881666" y="1557576"/>
            <a:chExt cx="829413" cy="246221"/>
          </a:xfrm>
        </p:grpSpPr>
        <p:sp>
          <p:nvSpPr>
            <p:cNvPr id="18" name="Retângulo 5">
              <a:extLst>
                <a:ext uri="{FF2B5EF4-FFF2-40B4-BE49-F238E27FC236}">
                  <a16:creationId xmlns:a16="http://schemas.microsoft.com/office/drawing/2014/main" id="{AB2731B5-D44D-B04D-7C0A-8F01DD1D925F}"/>
                </a:ext>
              </a:extLst>
            </p:cNvPr>
            <p:cNvSpPr/>
            <p:nvPr/>
          </p:nvSpPr>
          <p:spPr>
            <a:xfrm>
              <a:off x="6015055" y="1557576"/>
              <a:ext cx="69602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1"/>
                </a:rPr>
                <a:t>terraform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Picture 18" descr="Icon&#10;&#10;Description automatically generated">
              <a:extLst>
                <a:ext uri="{FF2B5EF4-FFF2-40B4-BE49-F238E27FC236}">
                  <a16:creationId xmlns:a16="http://schemas.microsoft.com/office/drawing/2014/main" id="{12AE2731-A20A-0719-612A-26484FD5A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413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6E3C1-4FC3-EA14-6629-CCF393C7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06706F-93B2-E69D-5F16-3B6B31CBBD38}"/>
              </a:ext>
            </a:extLst>
          </p:cNvPr>
          <p:cNvSpPr/>
          <p:nvPr/>
        </p:nvSpPr>
        <p:spPr>
          <a:xfrm>
            <a:off x="697538" y="343749"/>
            <a:ext cx="251307" cy="3081938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741D7E-77AB-9F73-5BCC-39E6CC863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577" y="764960"/>
            <a:ext cx="9354856" cy="110505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7E32F7-6FF1-87BE-8824-29B67AE83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5232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azure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F25BC-3396-5813-D95D-40DCEBBDDCF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5533E4-F766-1D6B-500D-20F5BFD446D2}"/>
              </a:ext>
            </a:extLst>
          </p:cNvPr>
          <p:cNvGrpSpPr/>
          <p:nvPr/>
        </p:nvGrpSpPr>
        <p:grpSpPr>
          <a:xfrm>
            <a:off x="2502306" y="2727406"/>
            <a:ext cx="3243852" cy="289586"/>
            <a:chOff x="5881666" y="1590687"/>
            <a:chExt cx="3243852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7ED71B3C-8D5C-B2E7-5237-B91D69418DD8}"/>
                </a:ext>
              </a:extLst>
            </p:cNvPr>
            <p:cNvSpPr/>
            <p:nvPr/>
          </p:nvSpPr>
          <p:spPr>
            <a:xfrm>
              <a:off x="6081095" y="1603274"/>
              <a:ext cx="304442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azure-resource-manager/templates/overview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7061096E-6276-7A1C-F3EB-8FE8CD27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5F792B9-0580-3401-D276-678F11A33C51}"/>
              </a:ext>
            </a:extLst>
          </p:cNvPr>
          <p:cNvGrpSpPr/>
          <p:nvPr/>
        </p:nvGrpSpPr>
        <p:grpSpPr>
          <a:xfrm>
            <a:off x="6874445" y="1962949"/>
            <a:ext cx="4162373" cy="289586"/>
            <a:chOff x="5881666" y="1590687"/>
            <a:chExt cx="4162373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F8E7C9B4-EFAF-A8F8-5CF4-7A268E36DBC0}"/>
                </a:ext>
              </a:extLst>
            </p:cNvPr>
            <p:cNvSpPr/>
            <p:nvPr/>
          </p:nvSpPr>
          <p:spPr>
            <a:xfrm>
              <a:off x="6081095" y="1603274"/>
              <a:ext cx="396294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does-azure-have-an-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iac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-tool-just-like-cloud formation-of-aws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F2CF6DA1-F22E-74FF-9A11-BDB004CA9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1" name="Arrow: Right 5">
            <a:extLst>
              <a:ext uri="{FF2B5EF4-FFF2-40B4-BE49-F238E27FC236}">
                <a16:creationId xmlns:a16="http://schemas.microsoft.com/office/drawing/2014/main" id="{F8A7E2D8-B27E-3C61-3F35-C823B3B57F92}"/>
              </a:ext>
            </a:extLst>
          </p:cNvPr>
          <p:cNvSpPr/>
          <p:nvPr/>
        </p:nvSpPr>
        <p:spPr>
          <a:xfrm>
            <a:off x="163991" y="250233"/>
            <a:ext cx="253287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azure resource manager</a:t>
            </a:r>
          </a:p>
        </p:txBody>
      </p:sp>
      <p:sp>
        <p:nvSpPr>
          <p:cNvPr id="12" name="Arrow: Right 5">
            <a:extLst>
              <a:ext uri="{FF2B5EF4-FFF2-40B4-BE49-F238E27FC236}">
                <a16:creationId xmlns:a16="http://schemas.microsoft.com/office/drawing/2014/main" id="{47C6969E-72B8-F3BD-0A24-CB069082A49B}"/>
              </a:ext>
            </a:extLst>
          </p:cNvPr>
          <p:cNvSpPr/>
          <p:nvPr/>
        </p:nvSpPr>
        <p:spPr>
          <a:xfrm>
            <a:off x="832557" y="2739993"/>
            <a:ext cx="1628777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arm templates</a:t>
            </a:r>
          </a:p>
        </p:txBody>
      </p:sp>
      <p:sp>
        <p:nvSpPr>
          <p:cNvPr id="14" name="Arrow: Right 5">
            <a:extLst>
              <a:ext uri="{FF2B5EF4-FFF2-40B4-BE49-F238E27FC236}">
                <a16:creationId xmlns:a16="http://schemas.microsoft.com/office/drawing/2014/main" id="{85721CB7-C85A-3BA5-4480-7532888A25C0}"/>
              </a:ext>
            </a:extLst>
          </p:cNvPr>
          <p:cNvSpPr/>
          <p:nvPr/>
        </p:nvSpPr>
        <p:spPr>
          <a:xfrm>
            <a:off x="815466" y="764960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63914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A041C-82D7-942A-0F01-639BD98C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3B58-B3EF-295F-BA1B-021B399E9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0228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how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BB958A-38D5-E243-A3A9-78CB65DEB90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F9D095F-A91F-1B08-9DD1-64C253970801}"/>
              </a:ext>
            </a:extLst>
          </p:cNvPr>
          <p:cNvGrpSpPr/>
          <p:nvPr/>
        </p:nvGrpSpPr>
        <p:grpSpPr>
          <a:xfrm>
            <a:off x="163991" y="143107"/>
            <a:ext cx="1079798" cy="289586"/>
            <a:chOff x="5881666" y="1590687"/>
            <a:chExt cx="1079798" cy="289586"/>
          </a:xfrm>
        </p:grpSpPr>
        <p:sp>
          <p:nvSpPr>
            <p:cNvPr id="28" name="Retângulo 5">
              <a:extLst>
                <a:ext uri="{FF2B5EF4-FFF2-40B4-BE49-F238E27FC236}">
                  <a16:creationId xmlns:a16="http://schemas.microsoft.com/office/drawing/2014/main" id="{8207E846-0CC5-A691-61E3-617B711D40EC}"/>
                </a:ext>
              </a:extLst>
            </p:cNvPr>
            <p:cNvSpPr/>
            <p:nvPr/>
          </p:nvSpPr>
          <p:spPr>
            <a:xfrm>
              <a:off x="6081095" y="1603274"/>
              <a:ext cx="88036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User Guide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9" name="Picture 28" descr="Icon&#10;&#10;Description automatically generated">
              <a:extLst>
                <a:ext uri="{FF2B5EF4-FFF2-40B4-BE49-F238E27FC236}">
                  <a16:creationId xmlns:a16="http://schemas.microsoft.com/office/drawing/2014/main" id="{15494229-AE05-99F8-993D-7EB091771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0912CF0D-BB1E-8619-3561-CA089D833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1" y="542787"/>
            <a:ext cx="2051245" cy="542036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525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A3219-8085-FE5C-399F-FE188901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D359-0E8E-A396-D9DA-586B759D6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4839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create stack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9F8D2-1400-96B3-FAB9-28E862D0F96F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93825A-4C60-194A-AF97-F711B66F7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2" y="277606"/>
            <a:ext cx="9453105" cy="77244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33F44BD-FD7C-CDE6-4003-D01B048EDC8C}"/>
              </a:ext>
            </a:extLst>
          </p:cNvPr>
          <p:cNvSpPr/>
          <p:nvPr/>
        </p:nvSpPr>
        <p:spPr>
          <a:xfrm>
            <a:off x="156672" y="277606"/>
            <a:ext cx="495300" cy="465224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1</a:t>
            </a:r>
          </a:p>
        </p:txBody>
      </p:sp>
      <p:sp>
        <p:nvSpPr>
          <p:cNvPr id="19" name="Retângulo 20">
            <a:extLst>
              <a:ext uri="{FF2B5EF4-FFF2-40B4-BE49-F238E27FC236}">
                <a16:creationId xmlns:a16="http://schemas.microsoft.com/office/drawing/2014/main" id="{B801C36A-98E3-E1BA-33CA-D936BB7E41FE}"/>
              </a:ext>
            </a:extLst>
          </p:cNvPr>
          <p:cNvSpPr/>
          <p:nvPr/>
        </p:nvSpPr>
        <p:spPr>
          <a:xfrm>
            <a:off x="9286225" y="510219"/>
            <a:ext cx="731536" cy="23261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68E632-8C7D-67C6-D900-C8CBA746941D}"/>
              </a:ext>
            </a:extLst>
          </p:cNvPr>
          <p:cNvGrpSpPr/>
          <p:nvPr/>
        </p:nvGrpSpPr>
        <p:grpSpPr>
          <a:xfrm>
            <a:off x="8572703" y="1224659"/>
            <a:ext cx="1669319" cy="289586"/>
            <a:chOff x="5881666" y="1590687"/>
            <a:chExt cx="1669319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B63BA8DA-0D80-3FB9-E2DA-B606CE733B78}"/>
                </a:ext>
              </a:extLst>
            </p:cNvPr>
            <p:cNvSpPr/>
            <p:nvPr/>
          </p:nvSpPr>
          <p:spPr>
            <a:xfrm>
              <a:off x="6081095" y="1603274"/>
              <a:ext cx="146989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console-create-stack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307F2ACF-BF22-5169-D427-CB4D64EB9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02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82DA3-A0DF-1AA7-22E4-163D3DE8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9DD26C7-B114-56FA-E03F-41041255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91" y="153842"/>
            <a:ext cx="8483600" cy="296965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6CB753-16C8-5A21-0A97-67B0F33B3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1747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3.2 stack template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9760CF-4DFB-84DE-3DE1-4AA89A8DACB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7D944F-8B7E-36F2-BCE7-4FAD203D981D}"/>
              </a:ext>
            </a:extLst>
          </p:cNvPr>
          <p:cNvSpPr/>
          <p:nvPr/>
        </p:nvSpPr>
        <p:spPr>
          <a:xfrm>
            <a:off x="163991" y="107373"/>
            <a:ext cx="495300" cy="465224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2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960C3D-B80B-794A-F84C-4ECE4AE70DA4}"/>
              </a:ext>
            </a:extLst>
          </p:cNvPr>
          <p:cNvGrpSpPr/>
          <p:nvPr/>
        </p:nvGrpSpPr>
        <p:grpSpPr>
          <a:xfrm>
            <a:off x="7842251" y="3218035"/>
            <a:ext cx="1222091" cy="246221"/>
            <a:chOff x="5881666" y="1557576"/>
            <a:chExt cx="1222091" cy="246221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25EBBD3E-710D-D90D-16F5-D153C23FF753}"/>
                </a:ext>
              </a:extLst>
            </p:cNvPr>
            <p:cNvSpPr/>
            <p:nvPr/>
          </p:nvSpPr>
          <p:spPr>
            <a:xfrm>
              <a:off x="6021409" y="1557576"/>
              <a:ext cx="108234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select a template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56FBDBCD-2485-E12F-9C54-B5F0CB684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78C32322-7549-CF10-01E3-CEC43E31A5DA}"/>
              </a:ext>
            </a:extLst>
          </p:cNvPr>
          <p:cNvSpPr/>
          <p:nvPr/>
        </p:nvSpPr>
        <p:spPr>
          <a:xfrm>
            <a:off x="958748" y="4193669"/>
            <a:ext cx="1579526" cy="996033"/>
          </a:xfrm>
          <a:prstGeom prst="wedgeRectCallout">
            <a:avLst>
              <a:gd name="adj1" fmla="val -39726"/>
              <a:gd name="adj2" fmla="val -1651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formatted text files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JSON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or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YAML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19D3902A-DC9C-E6B9-5C24-8C56E8B8E7ED}"/>
              </a:ext>
            </a:extLst>
          </p:cNvPr>
          <p:cNvSpPr/>
          <p:nvPr/>
        </p:nvSpPr>
        <p:spPr>
          <a:xfrm>
            <a:off x="2648573" y="4203503"/>
            <a:ext cx="1643646" cy="811367"/>
          </a:xfrm>
          <a:prstGeom prst="wedgeRectCallout">
            <a:avLst>
              <a:gd name="adj1" fmla="val -63528"/>
              <a:gd name="adj2" fmla="val -2722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+mj-lt"/>
              <a:buAutoNum type="arabicPeriod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describe </a:t>
            </a:r>
          </a:p>
          <a:p>
            <a:pPr marL="685792" lvl="1" indent="-228592" defTabSz="914369">
              <a:buFont typeface="+mj-lt"/>
              <a:buAutoNum type="arabicPeriod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the resources </a:t>
            </a:r>
          </a:p>
          <a:p>
            <a:pPr marL="228592" indent="-228592" defTabSz="914369">
              <a:buFont typeface="+mj-lt"/>
              <a:buAutoNum type="arabicPeriod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to provision </a:t>
            </a:r>
          </a:p>
          <a:p>
            <a:pPr marL="685792" lvl="1" indent="-228592" defTabSz="914369">
              <a:buFont typeface="+mj-lt"/>
              <a:buAutoNum type="arabicPeriod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in stacks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AFAB757-99A8-5159-A454-824950A38C37}"/>
              </a:ext>
            </a:extLst>
          </p:cNvPr>
          <p:cNvSpPr/>
          <p:nvPr/>
        </p:nvSpPr>
        <p:spPr>
          <a:xfrm>
            <a:off x="5125907" y="4213628"/>
            <a:ext cx="2241567" cy="626701"/>
          </a:xfrm>
          <a:prstGeom prst="wedgeRectCallout">
            <a:avLst>
              <a:gd name="adj1" fmla="val -44616"/>
              <a:gd name="adj2" fmla="val -35268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AWS CloudFormation Designer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or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text editor</a:t>
            </a:r>
          </a:p>
        </p:txBody>
      </p:sp>
      <p:sp>
        <p:nvSpPr>
          <p:cNvPr id="9" name="Arrow: Right 5">
            <a:extLst>
              <a:ext uri="{FF2B5EF4-FFF2-40B4-BE49-F238E27FC236}">
                <a16:creationId xmlns:a16="http://schemas.microsoft.com/office/drawing/2014/main" id="{5D80B8FE-E99B-F2BB-9B80-15EE9A35683B}"/>
              </a:ext>
            </a:extLst>
          </p:cNvPr>
          <p:cNvSpPr/>
          <p:nvPr/>
        </p:nvSpPr>
        <p:spPr>
          <a:xfrm>
            <a:off x="219637" y="4203503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14" name="Arrow: Right 5">
            <a:extLst>
              <a:ext uri="{FF2B5EF4-FFF2-40B4-BE49-F238E27FC236}">
                <a16:creationId xmlns:a16="http://schemas.microsoft.com/office/drawing/2014/main" id="{C73DD442-7F7C-F0C8-814B-E4C8466F5A74}"/>
              </a:ext>
            </a:extLst>
          </p:cNvPr>
          <p:cNvSpPr/>
          <p:nvPr/>
        </p:nvSpPr>
        <p:spPr>
          <a:xfrm>
            <a:off x="4292219" y="4231292"/>
            <a:ext cx="833688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editor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03590E8-410A-31AD-7A09-2E7AAE12C57E}"/>
              </a:ext>
            </a:extLst>
          </p:cNvPr>
          <p:cNvGrpSpPr/>
          <p:nvPr/>
        </p:nvGrpSpPr>
        <p:grpSpPr>
          <a:xfrm>
            <a:off x="1525198" y="5258713"/>
            <a:ext cx="1076167" cy="246221"/>
            <a:chOff x="5881666" y="1557576"/>
            <a:chExt cx="1076167" cy="246221"/>
          </a:xfrm>
        </p:grpSpPr>
        <p:sp>
          <p:nvSpPr>
            <p:cNvPr id="18" name="Retângulo 5">
              <a:extLst>
                <a:ext uri="{FF2B5EF4-FFF2-40B4-BE49-F238E27FC236}">
                  <a16:creationId xmlns:a16="http://schemas.microsoft.com/office/drawing/2014/main" id="{729BB6C4-1A75-B71C-03CF-83A6F335CD3D}"/>
                </a:ext>
              </a:extLst>
            </p:cNvPr>
            <p:cNvSpPr/>
            <p:nvPr/>
          </p:nvSpPr>
          <p:spPr>
            <a:xfrm>
              <a:off x="5971666" y="1557576"/>
              <a:ext cx="98616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template-guide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1" name="Picture 20" descr="Icon&#10;&#10;Description automatically generated">
              <a:extLst>
                <a:ext uri="{FF2B5EF4-FFF2-40B4-BE49-F238E27FC236}">
                  <a16:creationId xmlns:a16="http://schemas.microsoft.com/office/drawing/2014/main" id="{DC4B30AF-7D75-8E6A-E0F2-BB6B6400D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34BDE7-91ED-AD37-DB2B-9480187A1028}"/>
              </a:ext>
            </a:extLst>
          </p:cNvPr>
          <p:cNvGrpSpPr/>
          <p:nvPr/>
        </p:nvGrpSpPr>
        <p:grpSpPr>
          <a:xfrm>
            <a:off x="1525198" y="5476065"/>
            <a:ext cx="1247689" cy="246221"/>
            <a:chOff x="5881666" y="1557576"/>
            <a:chExt cx="1247689" cy="246221"/>
          </a:xfrm>
        </p:grpSpPr>
        <p:sp>
          <p:nvSpPr>
            <p:cNvPr id="23" name="Retângulo 5">
              <a:extLst>
                <a:ext uri="{FF2B5EF4-FFF2-40B4-BE49-F238E27FC236}">
                  <a16:creationId xmlns:a16="http://schemas.microsoft.com/office/drawing/2014/main" id="{19B509BC-494A-C79A-9286-81096CAB8503}"/>
                </a:ext>
              </a:extLst>
            </p:cNvPr>
            <p:cNvSpPr/>
            <p:nvPr/>
          </p:nvSpPr>
          <p:spPr>
            <a:xfrm>
              <a:off x="5971666" y="1557576"/>
              <a:ext cx="11576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template-anatomy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4" name="Picture 23" descr="Icon&#10;&#10;Description automatically generated">
              <a:extLst>
                <a:ext uri="{FF2B5EF4-FFF2-40B4-BE49-F238E27FC236}">
                  <a16:creationId xmlns:a16="http://schemas.microsoft.com/office/drawing/2014/main" id="{113EF485-3A68-96DD-0E12-3C9C33462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051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EA771-4645-6C29-F37C-2D90FE0D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C648-0775-96FC-AE5B-6DA64340E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3289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3.2.1. github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525AE-5AA6-1D5C-12CA-045EC4E4D36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6C72FD-CD93-6A03-A891-19FFA2DC79B0}"/>
              </a:ext>
            </a:extLst>
          </p:cNvPr>
          <p:cNvGrpSpPr/>
          <p:nvPr/>
        </p:nvGrpSpPr>
        <p:grpSpPr>
          <a:xfrm>
            <a:off x="163991" y="237646"/>
            <a:ext cx="962780" cy="289586"/>
            <a:chOff x="5881666" y="1590687"/>
            <a:chExt cx="962780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60A428F8-37AA-674C-8420-AD2309237644}"/>
                </a:ext>
              </a:extLst>
            </p:cNvPr>
            <p:cNvSpPr/>
            <p:nvPr/>
          </p:nvSpPr>
          <p:spPr>
            <a:xfrm>
              <a:off x="6081095" y="1603274"/>
              <a:ext cx="76335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code star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A0F05BB0-A17B-6B59-4C21-76C0D19BA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5612A71-C9C9-EE54-CBAA-F4C4BC29F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718493"/>
            <a:ext cx="7152640" cy="153246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0" name="Retângulo 20">
            <a:extLst>
              <a:ext uri="{FF2B5EF4-FFF2-40B4-BE49-F238E27FC236}">
                <a16:creationId xmlns:a16="http://schemas.microsoft.com/office/drawing/2014/main" id="{20A56EF7-80FF-2A0F-1C09-C3B1252B0BBC}"/>
              </a:ext>
            </a:extLst>
          </p:cNvPr>
          <p:cNvSpPr/>
          <p:nvPr/>
        </p:nvSpPr>
        <p:spPr>
          <a:xfrm>
            <a:off x="6019785" y="1672883"/>
            <a:ext cx="833136" cy="33879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6271B-31D3-790C-D164-610138811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2565400"/>
            <a:ext cx="2840823" cy="267207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630C84-2D5F-CBBD-FBDF-77A186F42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5551920"/>
            <a:ext cx="6175507" cy="4566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3EE7B134-47E6-F2AA-EC4A-A31932202648}"/>
              </a:ext>
            </a:extLst>
          </p:cNvPr>
          <p:cNvSpPr/>
          <p:nvPr/>
        </p:nvSpPr>
        <p:spPr>
          <a:xfrm>
            <a:off x="4080424" y="3361886"/>
            <a:ext cx="2494062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be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deprecated</a:t>
            </a:r>
          </a:p>
        </p:txBody>
      </p:sp>
      <p:sp>
        <p:nvSpPr>
          <p:cNvPr id="11" name="Retângulo 20">
            <a:extLst>
              <a:ext uri="{FF2B5EF4-FFF2-40B4-BE49-F238E27FC236}">
                <a16:creationId xmlns:a16="http://schemas.microsoft.com/office/drawing/2014/main" id="{586DFE3C-0AC8-E1E2-C719-DE4581373A67}"/>
              </a:ext>
            </a:extLst>
          </p:cNvPr>
          <p:cNvSpPr/>
          <p:nvPr/>
        </p:nvSpPr>
        <p:spPr>
          <a:xfrm>
            <a:off x="1381671" y="2892083"/>
            <a:ext cx="497929" cy="13559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928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717A8-2B96-14E6-B5A2-65588B51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55BD20-432A-59EE-EEC9-B95B10A4E8A4}"/>
              </a:ext>
            </a:extLst>
          </p:cNvPr>
          <p:cNvSpPr/>
          <p:nvPr/>
        </p:nvSpPr>
        <p:spPr>
          <a:xfrm>
            <a:off x="607567" y="140402"/>
            <a:ext cx="251307" cy="6408291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ED679-B09B-79A3-D39E-DDDFD5F3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678" y="1039012"/>
            <a:ext cx="6069703" cy="22480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17BBB1-2316-E9AA-00F7-519F6A7FD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9333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3.3 create template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6CF9E0-95C0-75C2-4C08-D78AB7D97C8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2EDAC0-4698-7224-26F9-2347E0453EF1}"/>
              </a:ext>
            </a:extLst>
          </p:cNvPr>
          <p:cNvSpPr/>
          <p:nvPr/>
        </p:nvSpPr>
        <p:spPr>
          <a:xfrm>
            <a:off x="163991" y="107373"/>
            <a:ext cx="495300" cy="465224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kern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 Light" panose="020F0302020204030204"/>
              </a:rPr>
              <a:t>3</a:t>
            </a:r>
            <a:endParaRPr kumimoji="0" lang="pt-PT" sz="1800" b="0" i="0" u="none" strike="noStrike" kern="0" cap="none" spc="0" normalizeH="0" baseline="0" noProof="0" dirty="0">
              <a:ln w="0"/>
              <a:solidFill>
                <a:prstClr val="white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2A562B-8843-C217-1128-D09108A2DD98}"/>
              </a:ext>
            </a:extLst>
          </p:cNvPr>
          <p:cNvGrpSpPr/>
          <p:nvPr/>
        </p:nvGrpSpPr>
        <p:grpSpPr>
          <a:xfrm>
            <a:off x="6143570" y="3407806"/>
            <a:ext cx="2319360" cy="299662"/>
            <a:chOff x="1643297" y="4045816"/>
            <a:chExt cx="2319360" cy="299662"/>
          </a:xfrm>
        </p:grpSpPr>
        <p:sp>
          <p:nvSpPr>
            <p:cNvPr id="17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B3861F31-1B2F-113F-7334-824ED994D7A7}"/>
                </a:ext>
              </a:extLst>
            </p:cNvPr>
            <p:cNvSpPr txBox="1"/>
            <p:nvPr/>
          </p:nvSpPr>
          <p:spPr>
            <a:xfrm>
              <a:off x="1980063" y="4103314"/>
              <a:ext cx="1982594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4" action="ppaction://hlinkfile"/>
                </a:rPr>
                <a:t>..\..\..\pinecone cloud formation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9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A613644B-8E6B-2D79-CD22-21CD457CA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935BB737-AF04-D265-DABB-1E7B5FEB07BD}"/>
              </a:ext>
            </a:extLst>
          </p:cNvPr>
          <p:cNvSpPr/>
          <p:nvPr/>
        </p:nvSpPr>
        <p:spPr>
          <a:xfrm>
            <a:off x="999021" y="140403"/>
            <a:ext cx="1236483" cy="626701"/>
          </a:xfrm>
          <a:prstGeom prst="wedgeRectCallout">
            <a:avLst>
              <a:gd name="adj1" fmla="val -68097"/>
              <a:gd name="adj2" fmla="val -24772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 aws console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create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resources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2358D37F-D0FE-77D0-E7C8-62F40FB00F43}"/>
              </a:ext>
            </a:extLst>
          </p:cNvPr>
          <p:cNvSpPr/>
          <p:nvPr/>
        </p:nvSpPr>
        <p:spPr>
          <a:xfrm>
            <a:off x="999021" y="960950"/>
            <a:ext cx="1130685" cy="626701"/>
          </a:xfrm>
          <a:prstGeom prst="wedgeRectCallout">
            <a:avLst>
              <a:gd name="adj1" fmla="val -67268"/>
              <a:gd name="adj2" fmla="val -3303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use aws cli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to get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properties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EAE2E1-0C0A-EBAF-6C5D-571FA3342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3391" y="3931156"/>
            <a:ext cx="2165605" cy="249673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E481EE89-28E2-6B4B-9D79-CB707DCF637B}"/>
              </a:ext>
            </a:extLst>
          </p:cNvPr>
          <p:cNvSpPr/>
          <p:nvPr/>
        </p:nvSpPr>
        <p:spPr>
          <a:xfrm>
            <a:off x="1003159" y="3879210"/>
            <a:ext cx="1779902" cy="1180699"/>
          </a:xfrm>
          <a:prstGeom prst="wedgeRectCallout">
            <a:avLst>
              <a:gd name="adj1" fmla="val -67268"/>
              <a:gd name="adj2" fmla="val -3303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create yaml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file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using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the previous</a:t>
            </a:r>
          </a:p>
          <a:p>
            <a:pPr marL="1142992" lvl="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obtained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properties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7713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C9A449-A470-F32F-F962-A01AD0FC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5FDBCD-7009-189E-FBB3-AEEF9296DBAC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64C274D6-2EF3-563B-5A9C-88C2D1D778FF}"/>
              </a:ext>
            </a:extLst>
          </p:cNvPr>
          <p:cNvSpPr/>
          <p:nvPr/>
        </p:nvSpPr>
        <p:spPr>
          <a:xfrm>
            <a:off x="411811" y="190594"/>
            <a:ext cx="2013940" cy="442035"/>
          </a:xfrm>
          <a:prstGeom prst="wedgeRectCallout">
            <a:avLst>
              <a:gd name="adj1" fmla="val -60324"/>
              <a:gd name="adj2" fmla="val -2496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need prints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noProof="0" dirty="0">
                <a:solidFill>
                  <a:prstClr val="white"/>
                </a:solidFill>
                <a:latin typeface="Calibri Light" panose="020F0302020204030204"/>
              </a:rPr>
              <a:t>how to use designer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74626-F54A-72D7-33BC-4ADD0D5DF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2362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3.4 designer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Explosion: 14 Points 5">
            <a:extLst>
              <a:ext uri="{FF2B5EF4-FFF2-40B4-BE49-F238E27FC236}">
                <a16:creationId xmlns:a16="http://schemas.microsoft.com/office/drawing/2014/main" id="{79ECA62E-692F-A1D4-A0B0-35F263E85292}"/>
              </a:ext>
            </a:extLst>
          </p:cNvPr>
          <p:cNvSpPr/>
          <p:nvPr/>
        </p:nvSpPr>
        <p:spPr>
          <a:xfrm>
            <a:off x="1498504" y="865019"/>
            <a:ext cx="1131979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70BB552-C086-BCEE-66EF-2430E50F5BF3}"/>
              </a:ext>
            </a:extLst>
          </p:cNvPr>
          <p:cNvGrpSpPr/>
          <p:nvPr/>
        </p:nvGrpSpPr>
        <p:grpSpPr>
          <a:xfrm>
            <a:off x="202275" y="2110175"/>
            <a:ext cx="919498" cy="289586"/>
            <a:chOff x="5881666" y="1590687"/>
            <a:chExt cx="919498" cy="289586"/>
          </a:xfrm>
        </p:grpSpPr>
        <p:sp>
          <p:nvSpPr>
            <p:cNvPr id="66" name="Retângulo 5">
              <a:extLst>
                <a:ext uri="{FF2B5EF4-FFF2-40B4-BE49-F238E27FC236}">
                  <a16:creationId xmlns:a16="http://schemas.microsoft.com/office/drawing/2014/main" id="{51D0014C-2A64-CD72-5D6A-061C4AE2BD9E}"/>
                </a:ext>
              </a:extLst>
            </p:cNvPr>
            <p:cNvSpPr/>
            <p:nvPr/>
          </p:nvSpPr>
          <p:spPr>
            <a:xfrm>
              <a:off x="6081095" y="1603274"/>
              <a:ext cx="72006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designer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7" name="Picture 66" descr="Icon&#10;&#10;Description automatically generated">
              <a:extLst>
                <a:ext uri="{FF2B5EF4-FFF2-40B4-BE49-F238E27FC236}">
                  <a16:creationId xmlns:a16="http://schemas.microsoft.com/office/drawing/2014/main" id="{BEEE9AAB-602B-8B0C-AFC5-E0FAAD4E4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204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07686-2593-4DBA-1800-E783F883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F58D-2A96-0376-FB69-E3822E479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2709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3.5 run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D492BE-95C2-1B41-F709-29AF568B4D3B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33971027-4FF0-6CE6-3A5B-D21F95F131E8}"/>
              </a:ext>
            </a:extLst>
          </p:cNvPr>
          <p:cNvSpPr/>
          <p:nvPr/>
        </p:nvSpPr>
        <p:spPr>
          <a:xfrm>
            <a:off x="411811" y="190594"/>
            <a:ext cx="1888906" cy="626701"/>
          </a:xfrm>
          <a:prstGeom prst="wedgeRectCallout">
            <a:avLst>
              <a:gd name="adj1" fmla="val -66378"/>
              <a:gd name="adj2" fmla="val -2496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need prints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noProof="0" dirty="0">
                <a:solidFill>
                  <a:prstClr val="white"/>
                </a:solidFill>
                <a:latin typeface="Calibri Light" panose="020F0302020204030204"/>
              </a:rPr>
              <a:t>how to run stack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how</a:t>
            </a:r>
            <a:r>
              <a:rPr kumimoji="0" lang="en-US" sz="1200" b="0" i="0" u="none" strike="noStrike" kern="0" cap="none" spc="0" normalizeH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 to see events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5" name="Explosion: 14 Points 4">
            <a:extLst>
              <a:ext uri="{FF2B5EF4-FFF2-40B4-BE49-F238E27FC236}">
                <a16:creationId xmlns:a16="http://schemas.microsoft.com/office/drawing/2014/main" id="{BC6EFACC-9391-2872-9A08-4DA5DC74B772}"/>
              </a:ext>
            </a:extLst>
          </p:cNvPr>
          <p:cNvSpPr/>
          <p:nvPr/>
        </p:nvSpPr>
        <p:spPr>
          <a:xfrm>
            <a:off x="1708384" y="897098"/>
            <a:ext cx="1131979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28553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7E943-D6D7-4E97-7E7C-E17AC0C9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D268-F970-946B-0DC0-6B27D4F29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2362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3.6 results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6F777-BC2E-F679-D059-DCBD1DA3647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0313719F-7A2B-6820-80BC-74AAB00DF176}"/>
              </a:ext>
            </a:extLst>
          </p:cNvPr>
          <p:cNvSpPr/>
          <p:nvPr/>
        </p:nvSpPr>
        <p:spPr>
          <a:xfrm>
            <a:off x="411811" y="190594"/>
            <a:ext cx="2462781" cy="3396690"/>
          </a:xfrm>
          <a:prstGeom prst="wedgeRectCallout">
            <a:avLst>
              <a:gd name="adj1" fmla="val -66378"/>
              <a:gd name="adj2" fmla="val -2496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is very complex </a:t>
            </a:r>
          </a:p>
          <a:p>
            <a:pPr marL="685776" marR="0" lvl="1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JSON</a:t>
            </a:r>
          </a:p>
          <a:p>
            <a:pPr marL="685776" marR="0" lvl="1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YAML</a:t>
            </a:r>
          </a:p>
          <a:p>
            <a:pPr marL="228576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the documentation</a:t>
            </a:r>
          </a:p>
          <a:p>
            <a:pPr marL="1142976" lvl="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 is </a:t>
            </a:r>
          </a:p>
          <a:p>
            <a:pPr marL="685776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sparse</a:t>
            </a:r>
          </a:p>
          <a:p>
            <a:pPr marL="228576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designer</a:t>
            </a:r>
          </a:p>
          <a:p>
            <a:pPr marL="685776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requires </a:t>
            </a:r>
          </a:p>
          <a:p>
            <a:pPr marL="1142976" lvl="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the definition</a:t>
            </a:r>
          </a:p>
          <a:p>
            <a:pPr marL="685776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of components</a:t>
            </a:r>
          </a:p>
          <a:p>
            <a:pPr marL="1142976" lvl="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properties</a:t>
            </a:r>
          </a:p>
          <a:p>
            <a:pPr marL="685776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in YAML/JSON</a:t>
            </a:r>
          </a:p>
          <a:p>
            <a:pPr marL="228576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when using cdk</a:t>
            </a:r>
          </a:p>
          <a:p>
            <a:pPr marL="685776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it creates IAM roles</a:t>
            </a:r>
          </a:p>
          <a:p>
            <a:pPr marL="1600176" lvl="3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and </a:t>
            </a:r>
          </a:p>
          <a:p>
            <a:pPr marL="1142976" lvl="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other dependencies</a:t>
            </a:r>
          </a:p>
          <a:p>
            <a:pPr marL="685776" lvl="1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require for correct </a:t>
            </a:r>
          </a:p>
          <a:p>
            <a:pPr marL="1142976" lvl="2" indent="-228592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deployment</a:t>
            </a:r>
          </a:p>
        </p:txBody>
      </p:sp>
      <p:sp>
        <p:nvSpPr>
          <p:cNvPr id="5" name="Explosion: 14 Points 4">
            <a:extLst>
              <a:ext uri="{FF2B5EF4-FFF2-40B4-BE49-F238E27FC236}">
                <a16:creationId xmlns:a16="http://schemas.microsoft.com/office/drawing/2014/main" id="{91F44BF7-206C-1129-5033-5773B4C0541D}"/>
              </a:ext>
            </a:extLst>
          </p:cNvPr>
          <p:cNvSpPr/>
          <p:nvPr/>
        </p:nvSpPr>
        <p:spPr>
          <a:xfrm>
            <a:off x="2490077" y="2162919"/>
            <a:ext cx="1610748" cy="622578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sdk</a:t>
            </a:r>
          </a:p>
        </p:txBody>
      </p:sp>
    </p:spTree>
    <p:extLst>
      <p:ext uri="{BB962C8B-B14F-4D97-AF65-F5344CB8AC3E}">
        <p14:creationId xmlns:p14="http://schemas.microsoft.com/office/powerpoint/2010/main" val="2909479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97492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70350</TotalTime>
  <Words>238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cloud formation</vt:lpstr>
      <vt:lpstr>2. what</vt:lpstr>
      <vt:lpstr>2.1 azure</vt:lpstr>
      <vt:lpstr>3. how</vt:lpstr>
      <vt:lpstr>3.1 create stack</vt:lpstr>
      <vt:lpstr>3.2 stack template</vt:lpstr>
      <vt:lpstr>3.2.1. github</vt:lpstr>
      <vt:lpstr>3.3 create template</vt:lpstr>
      <vt:lpstr>3.4 designer</vt:lpstr>
      <vt:lpstr>3.5 run</vt:lpstr>
      <vt:lpstr>3.6 results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 Figueiredo</cp:lastModifiedBy>
  <cp:revision>1156</cp:revision>
  <dcterms:created xsi:type="dcterms:W3CDTF">2019-03-25T09:18:39Z</dcterms:created>
  <dcterms:modified xsi:type="dcterms:W3CDTF">2024-04-01T07:41:34Z</dcterms:modified>
</cp:coreProperties>
</file>